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100627e-9239-06ce-d799-ebbfe01ffd7c}">
          <p14:sldIdLst>
            <p14:sldId id="256"/>
            <p14:sldId id="257"/>
            <p14:sldId id="258"/>
          </p14:sldIdLst>
        </p14:section>
        <p14:section name="How it works" id="{0d9d51f3-27a2-8d8a-ce86-6639306614b7}">
          <p14:sldIdLst>
            <p14:sldId id="259"/>
            <p14:sldId id="260"/>
            <p14:sldId id="261"/>
            <p14:sldId id="262"/>
            <p14:sldId id="263"/>
          </p14:sldIdLst>
        </p14:section>
        <p14:section name="How we built it" id="{762efca2-e07b-4c81-597a-82d584c6b110}">
          <p14:sldIdLst>
            <p14:sldId id="264"/>
            <p14:sldId id="265"/>
          </p14:sldIdLst>
        </p14:section>
        <p14:section name="Use and impact" id="{0038d264-e5de-7125-e964-17a5ef2b2cba}">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We built one assistant that answers student questions about rules, attendance, results and eligibility, from official documents and each student's own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information exists, but it is scattered across PDFs, notices, websites and portals. Rules also change by circular, so students are never sure which version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S1002 from our test data: 31 of 40 classes is 77.5 percent, below the 80 percent rule, so the answer is not eligible, with the exact circular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also reads the question to work out what kind it is. Everything that must be right, who you are, which rule applies, the numbers, is plain tested code. The AI turns the result into a clear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the attack directly: logged in as S1001 while claiming to be S1002. The system still uses S1001, because only the signed login decides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called retrieval: search first, then answer. Every number in the answer is checked against the cited passage before it reaches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S1001 is exactly at the limit and is eligible; S1002 is one class short and is not. The percentage is calculated by code, never by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two equal documents still disagree, for example two circulars with the same date, the system does not pick one. It shows both and tells the student to contact the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packaged with Docker, and automated tests run in GitHub Actions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evaluation set is 30 questions we wrote ourselves, so it is small; seven were kept aside and not used while building, and those scored 7 out of 7 too. One test document contains a hidden 'ignore your rules' line, and the assistant ignores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log in as S1002, ask about CS201 eligibility, then show the source and the 'why this answer'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under 'Today' works in the current build. Everything under 'Next' is future work,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show the live demo or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E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Student Services Assistant  ·  HCLTech Future Ready AI Engineer Hackathon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E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3.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3.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p:cNvSpPr txBox="1"/>
          <p:nvPr/>
        </p:nvSpPr>
        <p:spPr>
          <a:xfrm>
            <a:off x="731520" y="822960"/>
            <a:ext cx="6583680" cy="365760"/>
          </a:xfrm>
          <a:prstGeom prst="rect">
            <a:avLst/>
          </a:prstGeom>
          <a:noFill/>
          <a:ln/>
        </p:spPr>
        <p:txBody>
          <a:bodyPr wrap="square" lIns="0" tIns="0" rIns="0" bIns="0" rtlCol="0" anchor="t"/>
          <a:lstStyle/>
          <a:p>
            <a:pPr algn="l" indent="0" marL="0">
              <a:buNone/>
            </a:pPr>
            <a:r>
              <a:rPr lang="en-US" sz="1300" b="1" dirty="0">
                <a:solidFill>
                  <a:srgbClr val="B8BEE0"/>
                </a:solidFill>
              </a:rPr>
              <a:t>HCLTECH FUTURE READY AI ENGINEER HACKATHON  ·  NSUT DELHI</a:t>
            </a:r>
            <a:endParaRPr lang="en-US" sz="1300" dirty="0"/>
          </a:p>
        </p:txBody>
      </p:sp>
      <p:sp>
        <p:nvSpPr>
          <p:cNvPr id="3" name="title"/>
          <p:cNvSpPr txBox="1"/>
          <p:nvPr/>
        </p:nvSpPr>
        <p:spPr>
          <a:xfrm>
            <a:off x="731520" y="1325880"/>
            <a:ext cx="6309360" cy="2011680"/>
          </a:xfrm>
          <a:prstGeom prst="rect">
            <a:avLst/>
          </a:prstGeom>
          <a:noFill/>
          <a:ln/>
        </p:spPr>
        <p:txBody>
          <a:bodyPr wrap="square" lIns="0" tIns="0" rIns="0" bIns="0" rtlCol="0" anchor="t"/>
          <a:lstStyle/>
          <a:p>
            <a:pPr algn="l" indent="0" marL="0">
              <a:lnSpc>
                <a:spcPct val="95000"/>
              </a:lnSpc>
              <a:buNone/>
            </a:pPr>
            <a:r>
              <a:rPr lang="en-US" sz="4000" b="1" dirty="0">
                <a:solidFill>
                  <a:schemeClr val="bg1"/>
                </a:solidFill>
              </a:rPr>
              <a:t>AI-Powered University Student Services Assistant</a:t>
            </a:r>
            <a:endParaRPr lang="en-US" sz="4000" dirty="0"/>
          </a:p>
        </p:txBody>
      </p:sp>
      <p:sp>
        <p:nvSpPr>
          <p:cNvPr id="4" name="subtitle"/>
          <p:cNvSpPr txBox="1"/>
          <p:nvPr/>
        </p:nvSpPr>
        <p:spPr>
          <a:xfrm>
            <a:off x="731520" y="3429000"/>
            <a:ext cx="6309360" cy="548640"/>
          </a:xfrm>
          <a:prstGeom prst="rect">
            <a:avLst/>
          </a:prstGeom>
          <a:noFill/>
          <a:ln/>
        </p:spPr>
        <p:txBody>
          <a:bodyPr wrap="square" lIns="0" tIns="0" rIns="0" bIns="0" rtlCol="0" anchor="t"/>
          <a:lstStyle/>
          <a:p>
            <a:pPr algn="l" indent="0" marL="0">
              <a:buNone/>
            </a:pPr>
            <a:r>
              <a:rPr lang="en-US" sz="2000" i="1" dirty="0">
                <a:solidFill>
                  <a:srgbClr val="CADCFC"/>
                </a:solidFill>
              </a:rPr>
              <a:t>One smart assistant for all student-related queries</a:t>
            </a:r>
            <a:endParaRPr lang="en-US" sz="2000" dirty="0"/>
          </a:p>
        </p:txBody>
      </p:sp>
      <p:sp>
        <p:nvSpPr>
          <p:cNvPr id="5" name="team"/>
          <p:cNvSpPr txBox="1"/>
          <p:nvPr/>
        </p:nvSpPr>
        <p:spPr>
          <a:xfrm>
            <a:off x="731520" y="4892040"/>
            <a:ext cx="6400800" cy="822960"/>
          </a:xfrm>
          <a:prstGeom prst="rect">
            <a:avLst/>
          </a:prstGeom>
          <a:noFill/>
          <a:ln/>
        </p:spPr>
        <p:txBody>
          <a:bodyPr wrap="square" lIns="0" tIns="0" rIns="0" bIns="0" rtlCol="0" anchor="t"/>
          <a:lstStyle/>
          <a:p>
            <a:pPr algn="l" indent="0" marL="0">
              <a:spcAft>
                <a:spcPts val="600"/>
              </a:spcAft>
              <a:buNone/>
            </a:pPr>
            <a:r>
              <a:rPr lang="en-US" sz="1500" b="1" dirty="0">
                <a:solidFill>
                  <a:schemeClr val="bg1"/>
                </a:solidFill>
              </a:rPr>
              <a:t>Team: </a:t>
            </a:r>
            <a:pPr algn="l" indent="0" marL="0">
              <a:spcAft>
                <a:spcPts val="600"/>
              </a:spcAft>
              <a:buNone/>
            </a:pPr>
            <a:r>
              <a:rPr lang="en-US" sz="1500" dirty="0">
                <a:solidFill>
                  <a:srgbClr val="CADCFC"/>
                </a:solidFill>
              </a:rPr>
              <a:t>[Team Name]</a:t>
            </a:r>
            <a:endParaRPr lang="en-US" sz="1500" dirty="0"/>
          </a:p>
          <a:p>
            <a:pPr algn="l" indent="0" marL="0">
              <a:spcAft>
                <a:spcPts val="600"/>
              </a:spcAft>
              <a:buNone/>
            </a:pPr>
            <a:r>
              <a:rPr lang="en-US" sz="1500" b="1" dirty="0">
                <a:solidFill>
                  <a:schemeClr val="bg1"/>
                </a:solidFill>
              </a:rPr>
              <a:t>Members: </a:t>
            </a:r>
            <a:pPr algn="l" indent="0" marL="0">
              <a:spcAft>
                <a:spcPts val="600"/>
              </a:spcAft>
              <a:buNone/>
            </a:pPr>
            <a:r>
              <a:rPr lang="en-US" sz="1500" dirty="0">
                <a:solidFill>
                  <a:srgbClr val="CADCFC"/>
                </a:solidFill>
              </a:rPr>
              <a:t>[Member 1]  ·  [Member 2]  ·  [Member 3]  ·  [Member 4]</a:t>
            </a:r>
            <a:endParaRPr lang="en-US" sz="1500" dirty="0"/>
          </a:p>
        </p:txBody>
      </p:sp>
      <p:sp>
        <p:nvSpPr>
          <p:cNvPr id="6" name="Shape 4"/>
          <p:cNvSpPr/>
          <p:nvPr/>
        </p:nvSpPr>
        <p:spPr>
          <a:xfrm>
            <a:off x="7863840" y="1234440"/>
            <a:ext cx="3566160" cy="1234440"/>
          </a:xfrm>
          <a:prstGeom prst="roundRect">
            <a:avLst>
              <a:gd name="adj" fmla="val 13333"/>
            </a:avLst>
          </a:prstGeom>
          <a:solidFill>
            <a:srgbClr val="2A3470"/>
          </a:solidFill>
          <a:ln/>
        </p:spPr>
      </p:sp>
      <p:sp>
        <p:nvSpPr>
          <p:cNvPr id="7" name="Shape 5"/>
          <p:cNvSpPr/>
          <p:nvPr/>
        </p:nvSpPr>
        <p:spPr>
          <a:xfrm>
            <a:off x="8092440" y="1435608"/>
            <a:ext cx="822960" cy="822960"/>
          </a:xfrm>
          <a:prstGeom prst="ellipse">
            <a:avLst/>
          </a:prstGeom>
          <a:solidFill>
            <a:srgbClr val="3A4790"/>
          </a:solidFill>
          <a:ln/>
        </p:spPr>
      </p:sp>
      <p:pic>
        <p:nvPicPr>
          <p:cNvPr id="8" name="Image 0" descr="preencoded.png">    </p:cNvPr>
          <p:cNvPicPr>
            <a:picLocks noChangeAspect="1"/>
          </p:cNvPicPr>
          <p:nvPr/>
        </p:nvPicPr>
        <p:blipFill>
          <a:blip r:embed="rId1"/>
          <a:stretch>
            <a:fillRect/>
          </a:stretch>
        </p:blipFill>
        <p:spPr>
          <a:xfrm>
            <a:off x="8314639" y="1657807"/>
            <a:ext cx="378562" cy="378562"/>
          </a:xfrm>
          <a:prstGeom prst="rect">
            <a:avLst/>
          </a:prstGeom>
        </p:spPr>
      </p:pic>
      <p:sp>
        <p:nvSpPr>
          <p:cNvPr id="9" name="Text 6"/>
          <p:cNvSpPr txBox="1"/>
          <p:nvPr/>
        </p:nvSpPr>
        <p:spPr>
          <a:xfrm>
            <a:off x="9098280" y="1234440"/>
            <a:ext cx="2194560" cy="1234440"/>
          </a:xfrm>
          <a:prstGeom prst="rect">
            <a:avLst/>
          </a:prstGeom>
          <a:noFill/>
          <a:ln/>
        </p:spPr>
        <p:txBody>
          <a:bodyPr wrap="square" lIns="0" tIns="0" rIns="0" bIns="0" rtlCol="0" anchor="ctr"/>
          <a:lstStyle/>
          <a:p>
            <a:pPr algn="l" indent="0" marL="0">
              <a:buNone/>
            </a:pPr>
            <a:r>
              <a:rPr lang="en-US" sz="2000" b="1" dirty="0">
                <a:solidFill>
                  <a:schemeClr val="bg1"/>
                </a:solidFill>
              </a:rPr>
              <a:t>Student</a:t>
            </a:r>
            <a:endParaRPr lang="en-US" sz="2000" dirty="0"/>
          </a:p>
        </p:txBody>
      </p:sp>
      <p:sp>
        <p:nvSpPr>
          <p:cNvPr id="10" name="Shape 7"/>
          <p:cNvSpPr/>
          <p:nvPr/>
        </p:nvSpPr>
        <p:spPr>
          <a:xfrm>
            <a:off x="9646920" y="2532888"/>
            <a:ext cx="0" cy="438912"/>
          </a:xfrm>
          <a:prstGeom prst="line">
            <a:avLst/>
          </a:prstGeom>
          <a:noFill/>
          <a:ln w="28575">
            <a:solidFill>
              <a:srgbClr val="B8BEE0"/>
            </a:solidFill>
            <a:prstDash val="solid"/>
            <a:tailEnd type="triangle"/>
          </a:ln>
        </p:spPr>
      </p:sp>
      <p:sp>
        <p:nvSpPr>
          <p:cNvPr id="11" name="Shape 8"/>
          <p:cNvSpPr/>
          <p:nvPr/>
        </p:nvSpPr>
        <p:spPr>
          <a:xfrm>
            <a:off x="7863840" y="3017520"/>
            <a:ext cx="3566160" cy="1234440"/>
          </a:xfrm>
          <a:prstGeom prst="roundRect">
            <a:avLst>
              <a:gd name="adj" fmla="val 13333"/>
            </a:avLst>
          </a:prstGeom>
          <a:solidFill>
            <a:srgbClr val="2A3470"/>
          </a:solidFill>
          <a:ln/>
        </p:spPr>
      </p:sp>
      <p:sp>
        <p:nvSpPr>
          <p:cNvPr id="12" name="Shape 9"/>
          <p:cNvSpPr/>
          <p:nvPr/>
        </p:nvSpPr>
        <p:spPr>
          <a:xfrm>
            <a:off x="8092440" y="3218688"/>
            <a:ext cx="822960" cy="822960"/>
          </a:xfrm>
          <a:prstGeom prst="ellipse">
            <a:avLst/>
          </a:prstGeom>
          <a:solidFill>
            <a:srgbClr val="5B4FE0"/>
          </a:solidFill>
          <a:ln/>
        </p:spPr>
      </p:sp>
      <p:pic>
        <p:nvPicPr>
          <p:cNvPr id="13" name="Image 1" descr="preencoded.png">    </p:cNvPr>
          <p:cNvPicPr>
            <a:picLocks noChangeAspect="1"/>
          </p:cNvPicPr>
          <p:nvPr/>
        </p:nvPicPr>
        <p:blipFill>
          <a:blip r:embed="rId2"/>
          <a:stretch>
            <a:fillRect/>
          </a:stretch>
        </p:blipFill>
        <p:spPr>
          <a:xfrm>
            <a:off x="8314639" y="3440887"/>
            <a:ext cx="378562" cy="378562"/>
          </a:xfrm>
          <a:prstGeom prst="rect">
            <a:avLst/>
          </a:prstGeom>
        </p:spPr>
      </p:pic>
      <p:sp>
        <p:nvSpPr>
          <p:cNvPr id="14" name="Text 10"/>
          <p:cNvSpPr txBox="1"/>
          <p:nvPr/>
        </p:nvSpPr>
        <p:spPr>
          <a:xfrm>
            <a:off x="9098280" y="3017520"/>
            <a:ext cx="2194560" cy="1234440"/>
          </a:xfrm>
          <a:prstGeom prst="rect">
            <a:avLst/>
          </a:prstGeom>
          <a:noFill/>
          <a:ln/>
        </p:spPr>
        <p:txBody>
          <a:bodyPr wrap="square" lIns="0" tIns="0" rIns="0" bIns="0" rtlCol="0" anchor="ctr"/>
          <a:lstStyle/>
          <a:p>
            <a:pPr algn="l" indent="0" marL="0">
              <a:buNone/>
            </a:pPr>
            <a:r>
              <a:rPr lang="en-US" sz="2000" b="1" dirty="0">
                <a:solidFill>
                  <a:schemeClr val="bg1"/>
                </a:solidFill>
              </a:rPr>
              <a:t>AI Assistant</a:t>
            </a:r>
            <a:endParaRPr lang="en-US" sz="2000" dirty="0"/>
          </a:p>
        </p:txBody>
      </p:sp>
      <p:sp>
        <p:nvSpPr>
          <p:cNvPr id="15" name="Shape 11"/>
          <p:cNvSpPr/>
          <p:nvPr/>
        </p:nvSpPr>
        <p:spPr>
          <a:xfrm>
            <a:off x="9646920" y="4315968"/>
            <a:ext cx="0" cy="438912"/>
          </a:xfrm>
          <a:prstGeom prst="line">
            <a:avLst/>
          </a:prstGeom>
          <a:noFill/>
          <a:ln w="28575">
            <a:solidFill>
              <a:srgbClr val="B8BEE0"/>
            </a:solidFill>
            <a:prstDash val="solid"/>
            <a:tailEnd type="triangle"/>
          </a:ln>
        </p:spPr>
      </p:sp>
      <p:sp>
        <p:nvSpPr>
          <p:cNvPr id="16" name="Shape 12"/>
          <p:cNvSpPr/>
          <p:nvPr/>
        </p:nvSpPr>
        <p:spPr>
          <a:xfrm>
            <a:off x="7863840" y="4800600"/>
            <a:ext cx="3566160" cy="1234440"/>
          </a:xfrm>
          <a:prstGeom prst="roundRect">
            <a:avLst>
              <a:gd name="adj" fmla="val 13333"/>
            </a:avLst>
          </a:prstGeom>
          <a:solidFill>
            <a:srgbClr val="2A3470"/>
          </a:solidFill>
          <a:ln/>
        </p:spPr>
      </p:sp>
      <p:sp>
        <p:nvSpPr>
          <p:cNvPr id="17" name="Shape 13"/>
          <p:cNvSpPr/>
          <p:nvPr/>
        </p:nvSpPr>
        <p:spPr>
          <a:xfrm>
            <a:off x="8092440" y="5001768"/>
            <a:ext cx="822960" cy="822960"/>
          </a:xfrm>
          <a:prstGeom prst="ellipse">
            <a:avLst/>
          </a:prstGeom>
          <a:solidFill>
            <a:srgbClr val="3A4790"/>
          </a:solidFill>
          <a:ln/>
        </p:spPr>
      </p:sp>
      <p:pic>
        <p:nvPicPr>
          <p:cNvPr id="18" name="Image 2" descr="preencoded.png">    </p:cNvPr>
          <p:cNvPicPr>
            <a:picLocks noChangeAspect="1"/>
          </p:cNvPicPr>
          <p:nvPr/>
        </p:nvPicPr>
        <p:blipFill>
          <a:blip r:embed="rId3"/>
          <a:stretch>
            <a:fillRect/>
          </a:stretch>
        </p:blipFill>
        <p:spPr>
          <a:xfrm>
            <a:off x="8314639" y="5223967"/>
            <a:ext cx="378562" cy="378562"/>
          </a:xfrm>
          <a:prstGeom prst="rect">
            <a:avLst/>
          </a:prstGeom>
        </p:spPr>
      </p:pic>
      <p:sp>
        <p:nvSpPr>
          <p:cNvPr id="19" name="Text 14"/>
          <p:cNvSpPr txBox="1"/>
          <p:nvPr/>
        </p:nvSpPr>
        <p:spPr>
          <a:xfrm>
            <a:off x="9098280" y="4800600"/>
            <a:ext cx="2194560" cy="1234440"/>
          </a:xfrm>
          <a:prstGeom prst="rect">
            <a:avLst/>
          </a:prstGeom>
          <a:noFill/>
          <a:ln/>
        </p:spPr>
        <p:txBody>
          <a:bodyPr wrap="square" lIns="0" tIns="0" rIns="0" bIns="0" rtlCol="0" anchor="ctr"/>
          <a:lstStyle/>
          <a:p>
            <a:pPr algn="l" indent="0" marL="0">
              <a:buNone/>
            </a:pPr>
            <a:r>
              <a:rPr lang="en-US" sz="2000" b="1" dirty="0">
                <a:solidFill>
                  <a:schemeClr val="bg1"/>
                </a:solidFill>
              </a:rPr>
              <a:t>University services</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E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The Problem Students Face</a:t>
            </a:r>
            <a:endParaRPr lang="en-US" sz="3400" dirty="0"/>
          </a:p>
        </p:txBody>
      </p:sp>
      <p:sp>
        <p:nvSpPr>
          <p:cNvPr id="3" name="Text 1"/>
          <p:cNvSpPr txBox="1"/>
          <p:nvPr/>
        </p:nvSpPr>
        <p:spPr>
          <a:xfrm>
            <a:off x="548640" y="1234440"/>
            <a:ext cx="5486400" cy="365760"/>
          </a:xfrm>
          <a:prstGeom prst="rect">
            <a:avLst/>
          </a:prstGeom>
          <a:noFill/>
          <a:ln/>
        </p:spPr>
        <p:txBody>
          <a:bodyPr wrap="square" lIns="0" tIns="0" rIns="0" bIns="0" rtlCol="0" anchor="t"/>
          <a:lstStyle/>
          <a:p>
            <a:pPr algn="l" indent="0" marL="0">
              <a:buNone/>
            </a:pPr>
            <a:r>
              <a:rPr lang="en-US" sz="1600" dirty="0">
                <a:solidFill>
                  <a:schemeClr val="accent6"/>
                </a:solidFill>
              </a:rPr>
              <a:t>Students need quick answers about:</a:t>
            </a:r>
            <a:endParaRPr lang="en-US" sz="1600" dirty="0"/>
          </a:p>
        </p:txBody>
      </p:sp>
      <p:sp>
        <p:nvSpPr>
          <p:cNvPr id="4" name="Shape 2"/>
          <p:cNvSpPr/>
          <p:nvPr/>
        </p:nvSpPr>
        <p:spPr>
          <a:xfrm>
            <a:off x="548640" y="1691640"/>
            <a:ext cx="1691640" cy="384048"/>
          </a:xfrm>
          <a:prstGeom prst="roundRect">
            <a:avLst>
              <a:gd name="adj" fmla="val 50000"/>
            </a:avLst>
          </a:prstGeom>
          <a:solidFill>
            <a:schemeClr val="bg2"/>
          </a:solidFill>
          <a:ln/>
        </p:spPr>
      </p:sp>
      <p:sp>
        <p:nvSpPr>
          <p:cNvPr id="5" name="Text 3"/>
          <p:cNvSpPr txBox="1"/>
          <p:nvPr/>
        </p:nvSpPr>
        <p:spPr>
          <a:xfrm>
            <a:off x="548640" y="1691640"/>
            <a:ext cx="1691640" cy="384048"/>
          </a:xfrm>
          <a:prstGeom prst="rect">
            <a:avLst/>
          </a:prstGeom>
          <a:noFill/>
          <a:ln/>
        </p:spPr>
        <p:txBody>
          <a:bodyPr wrap="square" lIns="0" tIns="0" rIns="0" bIns="0" rtlCol="0" anchor="ctr"/>
          <a:lstStyle/>
          <a:p>
            <a:pPr algn="ctr" indent="0" marL="0">
              <a:buNone/>
            </a:pPr>
            <a:r>
              <a:rPr lang="en-US" sz="1400" b="1" dirty="0">
                <a:solidFill>
                  <a:schemeClr val="tx2"/>
                </a:solidFill>
              </a:rPr>
              <a:t>Attendance</a:t>
            </a:r>
            <a:endParaRPr lang="en-US" sz="1400" dirty="0"/>
          </a:p>
        </p:txBody>
      </p:sp>
      <p:sp>
        <p:nvSpPr>
          <p:cNvPr id="6" name="Shape 4"/>
          <p:cNvSpPr/>
          <p:nvPr/>
        </p:nvSpPr>
        <p:spPr>
          <a:xfrm>
            <a:off x="2423160" y="1691640"/>
            <a:ext cx="1691640" cy="384048"/>
          </a:xfrm>
          <a:prstGeom prst="roundRect">
            <a:avLst>
              <a:gd name="adj" fmla="val 50000"/>
            </a:avLst>
          </a:prstGeom>
          <a:solidFill>
            <a:schemeClr val="bg2"/>
          </a:solidFill>
          <a:ln/>
        </p:spPr>
      </p:sp>
      <p:sp>
        <p:nvSpPr>
          <p:cNvPr id="7" name="Text 5"/>
          <p:cNvSpPr txBox="1"/>
          <p:nvPr/>
        </p:nvSpPr>
        <p:spPr>
          <a:xfrm>
            <a:off x="2423160" y="1691640"/>
            <a:ext cx="1691640" cy="384048"/>
          </a:xfrm>
          <a:prstGeom prst="rect">
            <a:avLst/>
          </a:prstGeom>
          <a:noFill/>
          <a:ln/>
        </p:spPr>
        <p:txBody>
          <a:bodyPr wrap="square" lIns="0" tIns="0" rIns="0" bIns="0" rtlCol="0" anchor="ctr"/>
          <a:lstStyle/>
          <a:p>
            <a:pPr algn="ctr" indent="0" marL="0">
              <a:buNone/>
            </a:pPr>
            <a:r>
              <a:rPr lang="en-US" sz="1400" b="1" dirty="0">
                <a:solidFill>
                  <a:schemeClr val="tx2"/>
                </a:solidFill>
              </a:rPr>
              <a:t>Exam eligibility</a:t>
            </a:r>
            <a:endParaRPr lang="en-US" sz="1400" dirty="0"/>
          </a:p>
        </p:txBody>
      </p:sp>
      <p:sp>
        <p:nvSpPr>
          <p:cNvPr id="8" name="Shape 6"/>
          <p:cNvSpPr/>
          <p:nvPr/>
        </p:nvSpPr>
        <p:spPr>
          <a:xfrm>
            <a:off x="4297680" y="1691640"/>
            <a:ext cx="1691640" cy="384048"/>
          </a:xfrm>
          <a:prstGeom prst="roundRect">
            <a:avLst>
              <a:gd name="adj" fmla="val 50000"/>
            </a:avLst>
          </a:prstGeom>
          <a:solidFill>
            <a:schemeClr val="bg2"/>
          </a:solidFill>
          <a:ln/>
        </p:spPr>
      </p:sp>
      <p:sp>
        <p:nvSpPr>
          <p:cNvPr id="9" name="Text 7"/>
          <p:cNvSpPr txBox="1"/>
          <p:nvPr/>
        </p:nvSpPr>
        <p:spPr>
          <a:xfrm>
            <a:off x="4297680" y="1691640"/>
            <a:ext cx="1691640" cy="384048"/>
          </a:xfrm>
          <a:prstGeom prst="rect">
            <a:avLst/>
          </a:prstGeom>
          <a:noFill/>
          <a:ln/>
        </p:spPr>
        <p:txBody>
          <a:bodyPr wrap="square" lIns="0" tIns="0" rIns="0" bIns="0" rtlCol="0" anchor="ctr"/>
          <a:lstStyle/>
          <a:p>
            <a:pPr algn="ctr" indent="0" marL="0">
              <a:buNone/>
            </a:pPr>
            <a:r>
              <a:rPr lang="en-US" sz="1400" b="1" dirty="0">
                <a:solidFill>
                  <a:schemeClr val="tx2"/>
                </a:solidFill>
              </a:rPr>
              <a:t>Policies</a:t>
            </a:r>
            <a:endParaRPr lang="en-US" sz="1400" dirty="0"/>
          </a:p>
        </p:txBody>
      </p:sp>
      <p:sp>
        <p:nvSpPr>
          <p:cNvPr id="10" name="Shape 8"/>
          <p:cNvSpPr/>
          <p:nvPr/>
        </p:nvSpPr>
        <p:spPr>
          <a:xfrm>
            <a:off x="6172200" y="1691640"/>
            <a:ext cx="1691640" cy="384048"/>
          </a:xfrm>
          <a:prstGeom prst="roundRect">
            <a:avLst>
              <a:gd name="adj" fmla="val 50000"/>
            </a:avLst>
          </a:prstGeom>
          <a:solidFill>
            <a:schemeClr val="bg2"/>
          </a:solidFill>
          <a:ln/>
        </p:spPr>
      </p:sp>
      <p:sp>
        <p:nvSpPr>
          <p:cNvPr id="11" name="Text 9"/>
          <p:cNvSpPr txBox="1"/>
          <p:nvPr/>
        </p:nvSpPr>
        <p:spPr>
          <a:xfrm>
            <a:off x="6172200" y="1691640"/>
            <a:ext cx="1691640" cy="384048"/>
          </a:xfrm>
          <a:prstGeom prst="rect">
            <a:avLst/>
          </a:prstGeom>
          <a:noFill/>
          <a:ln/>
        </p:spPr>
        <p:txBody>
          <a:bodyPr wrap="square" lIns="0" tIns="0" rIns="0" bIns="0" rtlCol="0" anchor="ctr"/>
          <a:lstStyle/>
          <a:p>
            <a:pPr algn="ctr" indent="0" marL="0">
              <a:buNone/>
            </a:pPr>
            <a:r>
              <a:rPr lang="en-US" sz="1400" b="1" dirty="0">
                <a:solidFill>
                  <a:schemeClr val="tx2"/>
                </a:solidFill>
              </a:rPr>
              <a:t>Results</a:t>
            </a:r>
            <a:endParaRPr lang="en-US" sz="1400" dirty="0"/>
          </a:p>
        </p:txBody>
      </p:sp>
      <p:sp>
        <p:nvSpPr>
          <p:cNvPr id="12" name="Shape 10"/>
          <p:cNvSpPr/>
          <p:nvPr/>
        </p:nvSpPr>
        <p:spPr>
          <a:xfrm>
            <a:off x="8046720" y="1691640"/>
            <a:ext cx="1691640" cy="384048"/>
          </a:xfrm>
          <a:prstGeom prst="roundRect">
            <a:avLst>
              <a:gd name="adj" fmla="val 50000"/>
            </a:avLst>
          </a:prstGeom>
          <a:solidFill>
            <a:schemeClr val="bg2"/>
          </a:solidFill>
          <a:ln/>
        </p:spPr>
      </p:sp>
      <p:sp>
        <p:nvSpPr>
          <p:cNvPr id="13" name="Text 11"/>
          <p:cNvSpPr txBox="1"/>
          <p:nvPr/>
        </p:nvSpPr>
        <p:spPr>
          <a:xfrm>
            <a:off x="8046720" y="1691640"/>
            <a:ext cx="1691640" cy="384048"/>
          </a:xfrm>
          <a:prstGeom prst="rect">
            <a:avLst/>
          </a:prstGeom>
          <a:noFill/>
          <a:ln/>
        </p:spPr>
        <p:txBody>
          <a:bodyPr wrap="square" lIns="0" tIns="0" rIns="0" bIns="0" rtlCol="0" anchor="ctr"/>
          <a:lstStyle/>
          <a:p>
            <a:pPr algn="ctr" indent="0" marL="0">
              <a:buNone/>
            </a:pPr>
            <a:r>
              <a:rPr lang="en-US" sz="1400" b="1" dirty="0">
                <a:solidFill>
                  <a:schemeClr val="tx2"/>
                </a:solidFill>
              </a:rPr>
              <a:t>Deadlines</a:t>
            </a:r>
            <a:endParaRPr lang="en-US" sz="1400" dirty="0"/>
          </a:p>
        </p:txBody>
      </p:sp>
      <p:sp>
        <p:nvSpPr>
          <p:cNvPr id="14" name="Shape 12"/>
          <p:cNvSpPr/>
          <p:nvPr/>
        </p:nvSpPr>
        <p:spPr>
          <a:xfrm>
            <a:off x="9921240" y="1691640"/>
            <a:ext cx="1691640" cy="384048"/>
          </a:xfrm>
          <a:prstGeom prst="roundRect">
            <a:avLst>
              <a:gd name="adj" fmla="val 50000"/>
            </a:avLst>
          </a:prstGeom>
          <a:solidFill>
            <a:schemeClr val="bg2"/>
          </a:solidFill>
          <a:ln/>
        </p:spPr>
      </p:sp>
      <p:sp>
        <p:nvSpPr>
          <p:cNvPr id="15" name="Text 13"/>
          <p:cNvSpPr txBox="1"/>
          <p:nvPr/>
        </p:nvSpPr>
        <p:spPr>
          <a:xfrm>
            <a:off x="9921240" y="1691640"/>
            <a:ext cx="1691640" cy="384048"/>
          </a:xfrm>
          <a:prstGeom prst="rect">
            <a:avLst/>
          </a:prstGeom>
          <a:noFill/>
          <a:ln/>
        </p:spPr>
        <p:txBody>
          <a:bodyPr wrap="square" lIns="0" tIns="0" rIns="0" bIns="0" rtlCol="0" anchor="ctr"/>
          <a:lstStyle/>
          <a:p>
            <a:pPr algn="ctr" indent="0" marL="0">
              <a:buNone/>
            </a:pPr>
            <a:r>
              <a:rPr lang="en-US" sz="1400" b="1" dirty="0">
                <a:solidFill>
                  <a:schemeClr val="tx2"/>
                </a:solidFill>
              </a:rPr>
              <a:t>Rules</a:t>
            </a:r>
            <a:endParaRPr lang="en-US" sz="1400" dirty="0"/>
          </a:p>
        </p:txBody>
      </p:sp>
      <p:sp>
        <p:nvSpPr>
          <p:cNvPr id="16" name="Shape 14"/>
          <p:cNvSpPr/>
          <p:nvPr/>
        </p:nvSpPr>
        <p:spPr>
          <a:xfrm>
            <a:off x="548640" y="2743200"/>
            <a:ext cx="2377440" cy="2651760"/>
          </a:xfrm>
          <a:prstGeom prst="roundRect">
            <a:avLst>
              <a:gd name="adj" fmla="val 4615"/>
            </a:avLst>
          </a:prstGeom>
          <a:solidFill>
            <a:schemeClr val="bg2"/>
          </a:solidFill>
          <a:ln/>
        </p:spPr>
      </p:sp>
      <p:sp>
        <p:nvSpPr>
          <p:cNvPr id="17" name="Shape 15"/>
          <p:cNvSpPr/>
          <p:nvPr/>
        </p:nvSpPr>
        <p:spPr>
          <a:xfrm>
            <a:off x="1234440" y="3063240"/>
            <a:ext cx="1005840" cy="1005840"/>
          </a:xfrm>
          <a:prstGeom prst="ellipse">
            <a:avLst/>
          </a:prstGeom>
          <a:solidFill>
            <a:srgbClr val="1C2457"/>
          </a:solidFill>
          <a:ln/>
        </p:spPr>
      </p:sp>
      <p:pic>
        <p:nvPicPr>
          <p:cNvPr id="18" name="Image 0" descr="preencoded.png">    </p:cNvPr>
          <p:cNvPicPr>
            <a:picLocks noChangeAspect="1"/>
          </p:cNvPicPr>
          <p:nvPr/>
        </p:nvPicPr>
        <p:blipFill>
          <a:blip r:embed="rId1"/>
          <a:stretch>
            <a:fillRect/>
          </a:stretch>
        </p:blipFill>
        <p:spPr>
          <a:xfrm>
            <a:off x="1506017" y="3334817"/>
            <a:ext cx="462686" cy="462686"/>
          </a:xfrm>
          <a:prstGeom prst="rect">
            <a:avLst/>
          </a:prstGeom>
        </p:spPr>
      </p:pic>
      <p:sp>
        <p:nvSpPr>
          <p:cNvPr id="19" name="Text 16"/>
          <p:cNvSpPr txBox="1"/>
          <p:nvPr/>
        </p:nvSpPr>
        <p:spPr>
          <a:xfrm>
            <a:off x="731520" y="4251960"/>
            <a:ext cx="2011680" cy="914400"/>
          </a:xfrm>
          <a:prstGeom prst="rect">
            <a:avLst/>
          </a:prstGeom>
          <a:noFill/>
          <a:ln/>
        </p:spPr>
        <p:txBody>
          <a:bodyPr wrap="square" lIns="0" tIns="0" rIns="0" bIns="0" rtlCol="0" anchor="t"/>
          <a:lstStyle/>
          <a:p>
            <a:pPr algn="ctr" indent="0" marL="0">
              <a:buNone/>
            </a:pPr>
            <a:r>
              <a:rPr lang="en-US" sz="1500" b="1" dirty="0">
                <a:solidFill>
                  <a:schemeClr val="tx2"/>
                </a:solidFill>
              </a:rPr>
              <a:t>A student with a simple question</a:t>
            </a:r>
            <a:endParaRPr lang="en-US" sz="1500" dirty="0"/>
          </a:p>
        </p:txBody>
      </p:sp>
      <p:sp>
        <p:nvSpPr>
          <p:cNvPr id="20" name="Shape 17"/>
          <p:cNvSpPr/>
          <p:nvPr/>
        </p:nvSpPr>
        <p:spPr>
          <a:xfrm>
            <a:off x="3063240" y="4069080"/>
            <a:ext cx="731520" cy="0"/>
          </a:xfrm>
          <a:prstGeom prst="line">
            <a:avLst/>
          </a:prstGeom>
          <a:noFill/>
          <a:ln w="25400">
            <a:solidFill>
              <a:schemeClr val="accent6"/>
            </a:solidFill>
            <a:prstDash val="solid"/>
            <a:tailEnd type="triangle"/>
          </a:ln>
        </p:spPr>
      </p:sp>
      <p:sp>
        <p:nvSpPr>
          <p:cNvPr id="21" name="Shape 18"/>
          <p:cNvSpPr/>
          <p:nvPr/>
        </p:nvSpPr>
        <p:spPr>
          <a:xfrm>
            <a:off x="3931920" y="2743200"/>
            <a:ext cx="1600200" cy="731520"/>
          </a:xfrm>
          <a:prstGeom prst="roundRect">
            <a:avLst>
              <a:gd name="adj" fmla="val 15000"/>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pic>
        <p:nvPicPr>
          <p:cNvPr id="22" name="Image 1" descr="preencoded.png">    </p:cNvPr>
          <p:cNvPicPr>
            <a:picLocks noChangeAspect="1"/>
          </p:cNvPicPr>
          <p:nvPr/>
        </p:nvPicPr>
        <p:blipFill>
          <a:blip r:embed="rId2"/>
          <a:stretch>
            <a:fillRect/>
          </a:stretch>
        </p:blipFill>
        <p:spPr>
          <a:xfrm>
            <a:off x="4096512" y="2926080"/>
            <a:ext cx="365760" cy="365760"/>
          </a:xfrm>
          <a:prstGeom prst="rect">
            <a:avLst/>
          </a:prstGeom>
        </p:spPr>
      </p:pic>
      <p:sp>
        <p:nvSpPr>
          <p:cNvPr id="23" name="Text 19"/>
          <p:cNvSpPr txBox="1"/>
          <p:nvPr/>
        </p:nvSpPr>
        <p:spPr>
          <a:xfrm>
            <a:off x="4553712" y="2743200"/>
            <a:ext cx="914400" cy="731520"/>
          </a:xfrm>
          <a:prstGeom prst="rect">
            <a:avLst/>
          </a:prstGeom>
          <a:noFill/>
          <a:ln/>
        </p:spPr>
        <p:txBody>
          <a:bodyPr wrap="square" lIns="0" tIns="0" rIns="0" bIns="0" rtlCol="0" anchor="ctr"/>
          <a:lstStyle/>
          <a:p>
            <a:pPr algn="l" indent="0" marL="0">
              <a:buNone/>
            </a:pPr>
            <a:r>
              <a:rPr lang="en-US" sz="1500" b="1" dirty="0">
                <a:solidFill>
                  <a:schemeClr val="tx1"/>
                </a:solidFill>
              </a:rPr>
              <a:t>PDFs</a:t>
            </a:r>
            <a:endParaRPr lang="en-US" sz="1500" dirty="0"/>
          </a:p>
        </p:txBody>
      </p:sp>
      <p:sp>
        <p:nvSpPr>
          <p:cNvPr id="24" name="Shape 20"/>
          <p:cNvSpPr/>
          <p:nvPr/>
        </p:nvSpPr>
        <p:spPr>
          <a:xfrm>
            <a:off x="5669280" y="2743200"/>
            <a:ext cx="1600200" cy="731520"/>
          </a:xfrm>
          <a:prstGeom prst="roundRect">
            <a:avLst>
              <a:gd name="adj" fmla="val 15000"/>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pic>
        <p:nvPicPr>
          <p:cNvPr id="25" name="Image 2" descr="preencoded.png">    </p:cNvPr>
          <p:cNvPicPr>
            <a:picLocks noChangeAspect="1"/>
          </p:cNvPicPr>
          <p:nvPr/>
        </p:nvPicPr>
        <p:blipFill>
          <a:blip r:embed="rId3"/>
          <a:stretch>
            <a:fillRect/>
          </a:stretch>
        </p:blipFill>
        <p:spPr>
          <a:xfrm>
            <a:off x="5833872" y="2926080"/>
            <a:ext cx="365760" cy="365760"/>
          </a:xfrm>
          <a:prstGeom prst="rect">
            <a:avLst/>
          </a:prstGeom>
        </p:spPr>
      </p:pic>
      <p:sp>
        <p:nvSpPr>
          <p:cNvPr id="26" name="Text 21"/>
          <p:cNvSpPr txBox="1"/>
          <p:nvPr/>
        </p:nvSpPr>
        <p:spPr>
          <a:xfrm>
            <a:off x="6291072" y="2743200"/>
            <a:ext cx="914400" cy="731520"/>
          </a:xfrm>
          <a:prstGeom prst="rect">
            <a:avLst/>
          </a:prstGeom>
          <a:noFill/>
          <a:ln/>
        </p:spPr>
        <p:txBody>
          <a:bodyPr wrap="square" lIns="0" tIns="0" rIns="0" bIns="0" rtlCol="0" anchor="ctr"/>
          <a:lstStyle/>
          <a:p>
            <a:pPr algn="l" indent="0" marL="0">
              <a:buNone/>
            </a:pPr>
            <a:r>
              <a:rPr lang="en-US" sz="1500" b="1" dirty="0">
                <a:solidFill>
                  <a:schemeClr val="tx1"/>
                </a:solidFill>
              </a:rPr>
              <a:t>Notices</a:t>
            </a:r>
            <a:endParaRPr lang="en-US" sz="1500" dirty="0"/>
          </a:p>
        </p:txBody>
      </p:sp>
      <p:sp>
        <p:nvSpPr>
          <p:cNvPr id="27" name="Shape 22"/>
          <p:cNvSpPr/>
          <p:nvPr/>
        </p:nvSpPr>
        <p:spPr>
          <a:xfrm>
            <a:off x="3931920" y="3703320"/>
            <a:ext cx="1600200" cy="731520"/>
          </a:xfrm>
          <a:prstGeom prst="roundRect">
            <a:avLst>
              <a:gd name="adj" fmla="val 15000"/>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pic>
        <p:nvPicPr>
          <p:cNvPr id="28" name="Image 3" descr="preencoded.png">    </p:cNvPr>
          <p:cNvPicPr>
            <a:picLocks noChangeAspect="1"/>
          </p:cNvPicPr>
          <p:nvPr/>
        </p:nvPicPr>
        <p:blipFill>
          <a:blip r:embed="rId4"/>
          <a:stretch>
            <a:fillRect/>
          </a:stretch>
        </p:blipFill>
        <p:spPr>
          <a:xfrm>
            <a:off x="4096512" y="3886200"/>
            <a:ext cx="365760" cy="365760"/>
          </a:xfrm>
          <a:prstGeom prst="rect">
            <a:avLst/>
          </a:prstGeom>
        </p:spPr>
      </p:pic>
      <p:sp>
        <p:nvSpPr>
          <p:cNvPr id="29" name="Text 23"/>
          <p:cNvSpPr txBox="1"/>
          <p:nvPr/>
        </p:nvSpPr>
        <p:spPr>
          <a:xfrm>
            <a:off x="4553712" y="3703320"/>
            <a:ext cx="914400" cy="731520"/>
          </a:xfrm>
          <a:prstGeom prst="rect">
            <a:avLst/>
          </a:prstGeom>
          <a:noFill/>
          <a:ln/>
        </p:spPr>
        <p:txBody>
          <a:bodyPr wrap="square" lIns="0" tIns="0" rIns="0" bIns="0" rtlCol="0" anchor="ctr"/>
          <a:lstStyle/>
          <a:p>
            <a:pPr algn="l" indent="0" marL="0">
              <a:buNone/>
            </a:pPr>
            <a:r>
              <a:rPr lang="en-US" sz="1500" b="1" dirty="0">
                <a:solidFill>
                  <a:schemeClr val="tx1"/>
                </a:solidFill>
              </a:rPr>
              <a:t>Websites</a:t>
            </a:r>
            <a:endParaRPr lang="en-US" sz="1500" dirty="0"/>
          </a:p>
        </p:txBody>
      </p:sp>
      <p:sp>
        <p:nvSpPr>
          <p:cNvPr id="30" name="Shape 24"/>
          <p:cNvSpPr/>
          <p:nvPr/>
        </p:nvSpPr>
        <p:spPr>
          <a:xfrm>
            <a:off x="5669280" y="3703320"/>
            <a:ext cx="1600200" cy="731520"/>
          </a:xfrm>
          <a:prstGeom prst="roundRect">
            <a:avLst>
              <a:gd name="adj" fmla="val 15000"/>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pic>
        <p:nvPicPr>
          <p:cNvPr id="31" name="Image 4" descr="preencoded.png">    </p:cNvPr>
          <p:cNvPicPr>
            <a:picLocks noChangeAspect="1"/>
          </p:cNvPicPr>
          <p:nvPr/>
        </p:nvPicPr>
        <p:blipFill>
          <a:blip r:embed="rId5"/>
          <a:stretch>
            <a:fillRect/>
          </a:stretch>
        </p:blipFill>
        <p:spPr>
          <a:xfrm>
            <a:off x="5833872" y="3886200"/>
            <a:ext cx="365760" cy="365760"/>
          </a:xfrm>
          <a:prstGeom prst="rect">
            <a:avLst/>
          </a:prstGeom>
        </p:spPr>
      </p:pic>
      <p:sp>
        <p:nvSpPr>
          <p:cNvPr id="32" name="Text 25"/>
          <p:cNvSpPr txBox="1"/>
          <p:nvPr/>
        </p:nvSpPr>
        <p:spPr>
          <a:xfrm>
            <a:off x="6291072" y="3703320"/>
            <a:ext cx="914400" cy="731520"/>
          </a:xfrm>
          <a:prstGeom prst="rect">
            <a:avLst/>
          </a:prstGeom>
          <a:noFill/>
          <a:ln/>
        </p:spPr>
        <p:txBody>
          <a:bodyPr wrap="square" lIns="0" tIns="0" rIns="0" bIns="0" rtlCol="0" anchor="ctr"/>
          <a:lstStyle/>
          <a:p>
            <a:pPr algn="l" indent="0" marL="0">
              <a:buNone/>
            </a:pPr>
            <a:r>
              <a:rPr lang="en-US" sz="1500" b="1" dirty="0">
                <a:solidFill>
                  <a:schemeClr val="tx1"/>
                </a:solidFill>
              </a:rPr>
              <a:t>Portals</a:t>
            </a:r>
            <a:endParaRPr lang="en-US" sz="1500" dirty="0"/>
          </a:p>
        </p:txBody>
      </p:sp>
      <p:sp>
        <p:nvSpPr>
          <p:cNvPr id="33" name="Shape 26"/>
          <p:cNvSpPr/>
          <p:nvPr/>
        </p:nvSpPr>
        <p:spPr>
          <a:xfrm>
            <a:off x="4800600" y="4663440"/>
            <a:ext cx="1600200" cy="731520"/>
          </a:xfrm>
          <a:prstGeom prst="roundRect">
            <a:avLst>
              <a:gd name="adj" fmla="val 15000"/>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pic>
        <p:nvPicPr>
          <p:cNvPr id="34" name="Image 5" descr="preencoded.png">    </p:cNvPr>
          <p:cNvPicPr>
            <a:picLocks noChangeAspect="1"/>
          </p:cNvPicPr>
          <p:nvPr/>
        </p:nvPicPr>
        <p:blipFill>
          <a:blip r:embed="rId6"/>
          <a:stretch>
            <a:fillRect/>
          </a:stretch>
        </p:blipFill>
        <p:spPr>
          <a:xfrm>
            <a:off x="4965192" y="4846320"/>
            <a:ext cx="365760" cy="365760"/>
          </a:xfrm>
          <a:prstGeom prst="rect">
            <a:avLst/>
          </a:prstGeom>
        </p:spPr>
      </p:pic>
      <p:sp>
        <p:nvSpPr>
          <p:cNvPr id="35" name="Text 27"/>
          <p:cNvSpPr txBox="1"/>
          <p:nvPr/>
        </p:nvSpPr>
        <p:spPr>
          <a:xfrm>
            <a:off x="5422392" y="4663440"/>
            <a:ext cx="914400" cy="731520"/>
          </a:xfrm>
          <a:prstGeom prst="rect">
            <a:avLst/>
          </a:prstGeom>
          <a:noFill/>
          <a:ln/>
        </p:spPr>
        <p:txBody>
          <a:bodyPr wrap="square" lIns="0" tIns="0" rIns="0" bIns="0" rtlCol="0" anchor="ctr"/>
          <a:lstStyle/>
          <a:p>
            <a:pPr algn="l" indent="0" marL="0">
              <a:buNone/>
            </a:pPr>
            <a:r>
              <a:rPr lang="en-US" sz="1500" b="1" dirty="0">
                <a:solidFill>
                  <a:schemeClr val="tx1"/>
                </a:solidFill>
              </a:rPr>
              <a:t>Databases</a:t>
            </a:r>
            <a:endParaRPr lang="en-US" sz="1500" dirty="0"/>
          </a:p>
        </p:txBody>
      </p:sp>
      <p:sp>
        <p:nvSpPr>
          <p:cNvPr id="36" name="Shape 28"/>
          <p:cNvSpPr/>
          <p:nvPr/>
        </p:nvSpPr>
        <p:spPr>
          <a:xfrm>
            <a:off x="7452360" y="4069080"/>
            <a:ext cx="731520" cy="0"/>
          </a:xfrm>
          <a:prstGeom prst="line">
            <a:avLst/>
          </a:prstGeom>
          <a:noFill/>
          <a:ln w="25400">
            <a:solidFill>
              <a:schemeClr val="accent6"/>
            </a:solidFill>
            <a:prstDash val="solid"/>
            <a:tailEnd type="triangle"/>
          </a:ln>
        </p:spPr>
      </p:sp>
      <p:sp>
        <p:nvSpPr>
          <p:cNvPr id="37" name="Shape 29"/>
          <p:cNvSpPr/>
          <p:nvPr/>
        </p:nvSpPr>
        <p:spPr>
          <a:xfrm>
            <a:off x="8321040" y="2743200"/>
            <a:ext cx="3291840" cy="2651760"/>
          </a:xfrm>
          <a:prstGeom prst="roundRect">
            <a:avLst>
              <a:gd name="adj" fmla="val 4138"/>
            </a:avLst>
          </a:prstGeom>
          <a:solidFill>
            <a:srgbClr val="FDF1E4"/>
          </a:solidFill>
          <a:ln/>
        </p:spPr>
      </p:sp>
      <p:sp>
        <p:nvSpPr>
          <p:cNvPr id="38" name="Shape 30"/>
          <p:cNvSpPr/>
          <p:nvPr/>
        </p:nvSpPr>
        <p:spPr>
          <a:xfrm>
            <a:off x="9464040" y="3063240"/>
            <a:ext cx="1005840" cy="1005840"/>
          </a:xfrm>
          <a:prstGeom prst="ellipse">
            <a:avLst/>
          </a:prstGeom>
          <a:solidFill>
            <a:srgbClr val="D9822B"/>
          </a:solidFill>
          <a:ln/>
        </p:spPr>
      </p:sp>
      <p:pic>
        <p:nvPicPr>
          <p:cNvPr id="39" name="Image 6" descr="preencoded.png">    </p:cNvPr>
          <p:cNvPicPr>
            <a:picLocks noChangeAspect="1"/>
          </p:cNvPicPr>
          <p:nvPr/>
        </p:nvPicPr>
        <p:blipFill>
          <a:blip r:embed="rId7"/>
          <a:stretch>
            <a:fillRect/>
          </a:stretch>
        </p:blipFill>
        <p:spPr>
          <a:xfrm>
            <a:off x="9735617" y="3334817"/>
            <a:ext cx="462686" cy="462686"/>
          </a:xfrm>
          <a:prstGeom prst="rect">
            <a:avLst/>
          </a:prstGeom>
        </p:spPr>
      </p:pic>
      <p:sp>
        <p:nvSpPr>
          <p:cNvPr id="40" name="Text 31"/>
          <p:cNvSpPr txBox="1"/>
          <p:nvPr/>
        </p:nvSpPr>
        <p:spPr>
          <a:xfrm>
            <a:off x="8503920" y="4251960"/>
            <a:ext cx="2926080" cy="914400"/>
          </a:xfrm>
          <a:prstGeom prst="rect">
            <a:avLst/>
          </a:prstGeom>
          <a:noFill/>
          <a:ln/>
        </p:spPr>
        <p:txBody>
          <a:bodyPr wrap="square" lIns="0" tIns="0" rIns="0" bIns="0" rtlCol="0" anchor="t"/>
          <a:lstStyle/>
          <a:p>
            <a:pPr algn="ctr" indent="0" marL="0">
              <a:buNone/>
            </a:pPr>
            <a:r>
              <a:rPr lang="en-US" sz="1600" b="1" dirty="0">
                <a:solidFill>
                  <a:srgbClr val="8A4B0F"/>
                </a:solidFill>
              </a:rPr>
              <a:t>Confusion and wasted time</a:t>
            </a:r>
            <a:endParaRPr lang="en-US" sz="1600" dirty="0"/>
          </a:p>
        </p:txBody>
      </p:sp>
      <p:sp>
        <p:nvSpPr>
          <p:cNvPr id="41" name="message"/>
          <p:cNvSpPr txBox="1"/>
          <p:nvPr/>
        </p:nvSpPr>
        <p:spPr>
          <a:xfrm>
            <a:off x="548640" y="5715000"/>
            <a:ext cx="11064240" cy="457200"/>
          </a:xfrm>
          <a:prstGeom prst="rect">
            <a:avLst/>
          </a:prstGeom>
          <a:noFill/>
          <a:ln/>
        </p:spPr>
        <p:txBody>
          <a:bodyPr wrap="square" lIns="0" tIns="0" rIns="0" bIns="0" rtlCol="0" anchor="t"/>
          <a:lstStyle/>
          <a:p>
            <a:pPr algn="l" indent="0" marL="0">
              <a:buNone/>
            </a:pPr>
            <a:r>
              <a:rPr lang="en-US" sz="1800" b="1" i="1" dirty="0">
                <a:solidFill>
                  <a:schemeClr val="accent1"/>
                </a:solidFill>
              </a:rPr>
              <a:t>Students spend time searching for answers instead of getting them instantly.</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Our Solution</a:t>
            </a:r>
            <a:endParaRPr lang="en-US" sz="3400" dirty="0"/>
          </a:p>
        </p:txBody>
      </p:sp>
      <p:sp>
        <p:nvSpPr>
          <p:cNvPr id="3" name="Text 1"/>
          <p:cNvSpPr txBox="1"/>
          <p:nvPr/>
        </p:nvSpPr>
        <p:spPr>
          <a:xfrm>
            <a:off x="548640" y="1188720"/>
            <a:ext cx="10972800" cy="411480"/>
          </a:xfrm>
          <a:prstGeom prst="rect">
            <a:avLst/>
          </a:prstGeom>
          <a:noFill/>
          <a:ln/>
        </p:spPr>
        <p:txBody>
          <a:bodyPr wrap="square" lIns="0" tIns="0" rIns="0" bIns="0" rtlCol="0" anchor="t"/>
          <a:lstStyle/>
          <a:p>
            <a:pPr algn="l" indent="0" marL="0">
              <a:buNone/>
            </a:pPr>
            <a:r>
              <a:rPr lang="en-US" sz="1600" dirty="0">
                <a:solidFill>
                  <a:schemeClr val="accent6"/>
                </a:solidFill>
              </a:rPr>
              <a:t>Students ask in plain language. The assistant answers with a reason and a source.</a:t>
            </a:r>
            <a:endParaRPr lang="en-US" sz="1600" dirty="0"/>
          </a:p>
        </p:txBody>
      </p:sp>
      <p:sp>
        <p:nvSpPr>
          <p:cNvPr id="4" name="Shape 2"/>
          <p:cNvSpPr/>
          <p:nvPr/>
        </p:nvSpPr>
        <p:spPr>
          <a:xfrm>
            <a:off x="548640" y="1828800"/>
            <a:ext cx="5394960" cy="3429000"/>
          </a:xfrm>
          <a:prstGeom prst="roundRect">
            <a:avLst>
              <a:gd name="adj" fmla="val 3200"/>
            </a:avLst>
          </a:prstGeom>
          <a:solidFill>
            <a:schemeClr val="bg2"/>
          </a:solidFill>
          <a:ln/>
        </p:spPr>
      </p:sp>
      <p:sp>
        <p:nvSpPr>
          <p:cNvPr id="5" name="Shape 3"/>
          <p:cNvSpPr/>
          <p:nvPr/>
        </p:nvSpPr>
        <p:spPr>
          <a:xfrm>
            <a:off x="1828800" y="2103120"/>
            <a:ext cx="3840480" cy="685800"/>
          </a:xfrm>
          <a:prstGeom prst="roundRect">
            <a:avLst>
              <a:gd name="adj" fmla="val 26667"/>
            </a:avLst>
          </a:prstGeom>
          <a:solidFill>
            <a:srgbClr val="1C2457"/>
          </a:solidFill>
          <a:ln/>
        </p:spPr>
      </p:sp>
      <p:sp>
        <p:nvSpPr>
          <p:cNvPr id="6" name="Text 4"/>
          <p:cNvSpPr txBox="1"/>
          <p:nvPr/>
        </p:nvSpPr>
        <p:spPr>
          <a:xfrm>
            <a:off x="1965960" y="2103120"/>
            <a:ext cx="3566160" cy="685800"/>
          </a:xfrm>
          <a:prstGeom prst="rect">
            <a:avLst/>
          </a:prstGeom>
          <a:noFill/>
          <a:ln/>
        </p:spPr>
        <p:txBody>
          <a:bodyPr wrap="square" lIns="0" tIns="0" rIns="0" bIns="0" rtlCol="0" anchor="ctr"/>
          <a:lstStyle/>
          <a:p>
            <a:pPr algn="l" indent="0" marL="0">
              <a:buNone/>
            </a:pPr>
            <a:r>
              <a:rPr lang="en-US" sz="1500" b="1" dirty="0">
                <a:solidFill>
                  <a:schemeClr val="bg1"/>
                </a:solidFill>
              </a:rPr>
              <a:t>Am I eligible for the CS201 exam?</a:t>
            </a:r>
            <a:endParaRPr lang="en-US" sz="1500" dirty="0"/>
          </a:p>
        </p:txBody>
      </p:sp>
      <p:sp>
        <p:nvSpPr>
          <p:cNvPr id="7" name="Shape 5"/>
          <p:cNvSpPr/>
          <p:nvPr/>
        </p:nvSpPr>
        <p:spPr>
          <a:xfrm>
            <a:off x="1188720" y="2148840"/>
            <a:ext cx="548640" cy="548640"/>
          </a:xfrm>
          <a:prstGeom prst="ellipse">
            <a:avLst/>
          </a:prstGeom>
          <a:solidFill>
            <a:srgbClr val="2E7BDB"/>
          </a:solidFill>
          <a:ln/>
        </p:spPr>
      </p:sp>
      <p:pic>
        <p:nvPicPr>
          <p:cNvPr id="8" name="Image 0" descr="preencoded.png">    </p:cNvPr>
          <p:cNvPicPr>
            <a:picLocks noChangeAspect="1"/>
          </p:cNvPicPr>
          <p:nvPr/>
        </p:nvPicPr>
        <p:blipFill>
          <a:blip r:embed="rId1"/>
          <a:stretch>
            <a:fillRect/>
          </a:stretch>
        </p:blipFill>
        <p:spPr>
          <a:xfrm>
            <a:off x="1336853" y="2296973"/>
            <a:ext cx="252374" cy="252374"/>
          </a:xfrm>
          <a:prstGeom prst="rect">
            <a:avLst/>
          </a:prstGeom>
        </p:spPr>
      </p:pic>
      <p:sp>
        <p:nvSpPr>
          <p:cNvPr id="9" name="Shape 6"/>
          <p:cNvSpPr/>
          <p:nvPr/>
        </p:nvSpPr>
        <p:spPr>
          <a:xfrm>
            <a:off x="1463040" y="3063240"/>
            <a:ext cx="4206240" cy="1874520"/>
          </a:xfrm>
          <a:prstGeom prst="roundRect">
            <a:avLst>
              <a:gd name="adj" fmla="val 9756"/>
            </a:avLst>
          </a:prstGeom>
          <a:solidFill>
            <a:schemeClr val="bg1"/>
          </a:solidFill>
          <a:ln w="15875">
            <a:solidFill>
              <a:srgbClr val="D5D9EA"/>
            </a:solidFill>
            <a:prstDash val="solid"/>
          </a:ln>
        </p:spPr>
      </p:sp>
      <p:sp>
        <p:nvSpPr>
          <p:cNvPr id="10" name="Shape 7"/>
          <p:cNvSpPr/>
          <p:nvPr/>
        </p:nvSpPr>
        <p:spPr>
          <a:xfrm>
            <a:off x="777240" y="3108960"/>
            <a:ext cx="548640" cy="548640"/>
          </a:xfrm>
          <a:prstGeom prst="ellipse">
            <a:avLst/>
          </a:prstGeom>
          <a:solidFill>
            <a:srgbClr val="5B4FE0"/>
          </a:solidFill>
          <a:ln/>
        </p:spPr>
      </p:sp>
      <p:pic>
        <p:nvPicPr>
          <p:cNvPr id="11" name="Image 1" descr="preencoded.png">    </p:cNvPr>
          <p:cNvPicPr>
            <a:picLocks noChangeAspect="1"/>
          </p:cNvPicPr>
          <p:nvPr/>
        </p:nvPicPr>
        <p:blipFill>
          <a:blip r:embed="rId2"/>
          <a:stretch>
            <a:fillRect/>
          </a:stretch>
        </p:blipFill>
        <p:spPr>
          <a:xfrm>
            <a:off x="925373" y="3257093"/>
            <a:ext cx="252374" cy="252374"/>
          </a:xfrm>
          <a:prstGeom prst="rect">
            <a:avLst/>
          </a:prstGeom>
        </p:spPr>
      </p:pic>
      <p:sp>
        <p:nvSpPr>
          <p:cNvPr id="12" name="Text 8"/>
          <p:cNvSpPr txBox="1"/>
          <p:nvPr/>
        </p:nvSpPr>
        <p:spPr>
          <a:xfrm>
            <a:off x="1645920" y="3200400"/>
            <a:ext cx="3931920" cy="1645920"/>
          </a:xfrm>
          <a:prstGeom prst="rect">
            <a:avLst/>
          </a:prstGeom>
          <a:noFill/>
          <a:ln/>
        </p:spPr>
        <p:txBody>
          <a:bodyPr wrap="square" lIns="0" tIns="0" rIns="0" bIns="0" rtlCol="0" anchor="t"/>
          <a:lstStyle/>
          <a:p>
            <a:pPr algn="l" indent="0" marL="0">
              <a:spcAft>
                <a:spcPts val="600"/>
              </a:spcAft>
              <a:buNone/>
            </a:pPr>
            <a:r>
              <a:rPr lang="en-US" sz="1500" b="1" dirty="0">
                <a:solidFill>
                  <a:schemeClr val="accent5"/>
                </a:solidFill>
              </a:rPr>
              <a:t>Not eligible</a:t>
            </a:r>
            <a:endParaRPr lang="en-US" sz="1500" dirty="0"/>
          </a:p>
          <a:p>
            <a:pPr algn="l" indent="0" marL="0">
              <a:spcAft>
                <a:spcPts val="600"/>
              </a:spcAft>
              <a:buNone/>
            </a:pPr>
            <a:r>
              <a:rPr lang="en-US" sz="1500" dirty="0">
                <a:solidFill>
                  <a:schemeClr val="tx1"/>
                </a:solidFill>
              </a:rPr>
              <a:t>Your attendance: 77.5% (31 of 40 classes)</a:t>
            </a:r>
            <a:endParaRPr lang="en-US" sz="1500" dirty="0"/>
          </a:p>
          <a:p>
            <a:pPr algn="l" indent="0" marL="0">
              <a:spcAft>
                <a:spcPts val="600"/>
              </a:spcAft>
              <a:buNone/>
            </a:pPr>
            <a:r>
              <a:rPr lang="en-US" sz="1500" dirty="0">
                <a:solidFill>
                  <a:schemeClr val="tx1"/>
                </a:solidFill>
              </a:rPr>
              <a:t>Rule: at least 80%</a:t>
            </a:r>
            <a:endParaRPr lang="en-US" sz="1500" dirty="0"/>
          </a:p>
          <a:p>
            <a:pPr algn="l" indent="0" marL="0">
              <a:spcAft>
                <a:spcPts val="600"/>
              </a:spcAft>
              <a:buNone/>
            </a:pPr>
            <a:r>
              <a:rPr lang="en-US" sz="1500" i="1" dirty="0">
                <a:solidFill>
                  <a:schemeClr val="accent2"/>
                </a:solidFill>
              </a:rPr>
              <a:t>Source: Circular ACAD-2026-08, section 2.1</a:t>
            </a:r>
            <a:endParaRPr lang="en-US" sz="1500" dirty="0"/>
          </a:p>
        </p:txBody>
      </p:sp>
      <p:sp>
        <p:nvSpPr>
          <p:cNvPr id="13" name="Shape 9"/>
          <p:cNvSpPr/>
          <p:nvPr/>
        </p:nvSpPr>
        <p:spPr>
          <a:xfrm>
            <a:off x="6492240" y="1828800"/>
            <a:ext cx="457200" cy="457200"/>
          </a:xfrm>
          <a:prstGeom prst="ellipse">
            <a:avLst/>
          </a:prstGeom>
          <a:solidFill>
            <a:schemeClr val="tx2"/>
          </a:solidFill>
          <a:ln/>
        </p:spPr>
      </p:sp>
      <p:sp>
        <p:nvSpPr>
          <p:cNvPr id="14" name="Text 10"/>
          <p:cNvSpPr txBox="1"/>
          <p:nvPr/>
        </p:nvSpPr>
        <p:spPr>
          <a:xfrm>
            <a:off x="6492240" y="18288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5" name="Text 11"/>
          <p:cNvSpPr txBox="1"/>
          <p:nvPr/>
        </p:nvSpPr>
        <p:spPr>
          <a:xfrm>
            <a:off x="7132320" y="1828800"/>
            <a:ext cx="4480560" cy="457200"/>
          </a:xfrm>
          <a:prstGeom prst="rect">
            <a:avLst/>
          </a:prstGeom>
          <a:noFill/>
          <a:ln/>
        </p:spPr>
        <p:txBody>
          <a:bodyPr wrap="square" lIns="0" tIns="0" rIns="0" bIns="0" rtlCol="0" anchor="ctr"/>
          <a:lstStyle/>
          <a:p>
            <a:pPr algn="l" indent="0" marL="0">
              <a:buNone/>
            </a:pPr>
            <a:r>
              <a:rPr lang="en-US" sz="1700" dirty="0">
                <a:solidFill>
                  <a:schemeClr val="tx1"/>
                </a:solidFill>
              </a:rPr>
              <a:t>Identifies the logged-in student</a:t>
            </a:r>
            <a:endParaRPr lang="en-US" sz="1700" dirty="0"/>
          </a:p>
        </p:txBody>
      </p:sp>
      <p:sp>
        <p:nvSpPr>
          <p:cNvPr id="16" name="Shape 12"/>
          <p:cNvSpPr/>
          <p:nvPr/>
        </p:nvSpPr>
        <p:spPr>
          <a:xfrm>
            <a:off x="6492240" y="2450592"/>
            <a:ext cx="457200" cy="457200"/>
          </a:xfrm>
          <a:prstGeom prst="ellipse">
            <a:avLst/>
          </a:prstGeom>
          <a:solidFill>
            <a:schemeClr val="tx2"/>
          </a:solidFill>
          <a:ln/>
        </p:spPr>
      </p:sp>
      <p:sp>
        <p:nvSpPr>
          <p:cNvPr id="17" name="Text 13"/>
          <p:cNvSpPr txBox="1"/>
          <p:nvPr/>
        </p:nvSpPr>
        <p:spPr>
          <a:xfrm>
            <a:off x="6492240" y="24505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8" name="Text 14"/>
          <p:cNvSpPr txBox="1"/>
          <p:nvPr/>
        </p:nvSpPr>
        <p:spPr>
          <a:xfrm>
            <a:off x="7132320" y="2450592"/>
            <a:ext cx="4480560" cy="457200"/>
          </a:xfrm>
          <a:prstGeom prst="rect">
            <a:avLst/>
          </a:prstGeom>
          <a:noFill/>
          <a:ln/>
        </p:spPr>
        <p:txBody>
          <a:bodyPr wrap="square" lIns="0" tIns="0" rIns="0" bIns="0" rtlCol="0" anchor="ctr"/>
          <a:lstStyle/>
          <a:p>
            <a:pPr algn="l" indent="0" marL="0">
              <a:buNone/>
            </a:pPr>
            <a:r>
              <a:rPr lang="en-US" sz="1700" dirty="0">
                <a:solidFill>
                  <a:schemeClr val="tx1"/>
                </a:solidFill>
              </a:rPr>
              <a:t>Checks the student's academic data</a:t>
            </a:r>
            <a:endParaRPr lang="en-US" sz="1700" dirty="0"/>
          </a:p>
        </p:txBody>
      </p:sp>
      <p:sp>
        <p:nvSpPr>
          <p:cNvPr id="19" name="Shape 15"/>
          <p:cNvSpPr/>
          <p:nvPr/>
        </p:nvSpPr>
        <p:spPr>
          <a:xfrm>
            <a:off x="6492240" y="3072384"/>
            <a:ext cx="457200" cy="457200"/>
          </a:xfrm>
          <a:prstGeom prst="ellipse">
            <a:avLst/>
          </a:prstGeom>
          <a:solidFill>
            <a:schemeClr val="tx2"/>
          </a:solidFill>
          <a:ln/>
        </p:spPr>
      </p:sp>
      <p:sp>
        <p:nvSpPr>
          <p:cNvPr id="20" name="Text 16"/>
          <p:cNvSpPr txBox="1"/>
          <p:nvPr/>
        </p:nvSpPr>
        <p:spPr>
          <a:xfrm>
            <a:off x="6492240" y="30723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1" name="Text 17"/>
          <p:cNvSpPr txBox="1"/>
          <p:nvPr/>
        </p:nvSpPr>
        <p:spPr>
          <a:xfrm>
            <a:off x="7132320" y="3072384"/>
            <a:ext cx="4480560" cy="457200"/>
          </a:xfrm>
          <a:prstGeom prst="rect">
            <a:avLst/>
          </a:prstGeom>
          <a:noFill/>
          <a:ln/>
        </p:spPr>
        <p:txBody>
          <a:bodyPr wrap="square" lIns="0" tIns="0" rIns="0" bIns="0" rtlCol="0" anchor="ctr"/>
          <a:lstStyle/>
          <a:p>
            <a:pPr algn="l" indent="0" marL="0">
              <a:buNone/>
            </a:pPr>
            <a:r>
              <a:rPr lang="en-US" sz="1700" dirty="0">
                <a:solidFill>
                  <a:schemeClr val="tx1"/>
                </a:solidFill>
              </a:rPr>
              <a:t>Finds the relevant university policy</a:t>
            </a:r>
            <a:endParaRPr lang="en-US" sz="1700" dirty="0"/>
          </a:p>
        </p:txBody>
      </p:sp>
      <p:sp>
        <p:nvSpPr>
          <p:cNvPr id="22" name="Shape 18"/>
          <p:cNvSpPr/>
          <p:nvPr/>
        </p:nvSpPr>
        <p:spPr>
          <a:xfrm>
            <a:off x="6492240" y="3694176"/>
            <a:ext cx="457200" cy="457200"/>
          </a:xfrm>
          <a:prstGeom prst="ellipse">
            <a:avLst/>
          </a:prstGeom>
          <a:solidFill>
            <a:schemeClr val="tx2"/>
          </a:solidFill>
          <a:ln/>
        </p:spPr>
      </p:sp>
      <p:sp>
        <p:nvSpPr>
          <p:cNvPr id="23" name="Text 19"/>
          <p:cNvSpPr txBox="1"/>
          <p:nvPr/>
        </p:nvSpPr>
        <p:spPr>
          <a:xfrm>
            <a:off x="6492240" y="369417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4" name="Text 20"/>
          <p:cNvSpPr txBox="1"/>
          <p:nvPr/>
        </p:nvSpPr>
        <p:spPr>
          <a:xfrm>
            <a:off x="7132320" y="3694176"/>
            <a:ext cx="4480560" cy="457200"/>
          </a:xfrm>
          <a:prstGeom prst="rect">
            <a:avLst/>
          </a:prstGeom>
          <a:noFill/>
          <a:ln/>
        </p:spPr>
        <p:txBody>
          <a:bodyPr wrap="square" lIns="0" tIns="0" rIns="0" bIns="0" rtlCol="0" anchor="ctr"/>
          <a:lstStyle/>
          <a:p>
            <a:pPr algn="l" indent="0" marL="0">
              <a:buNone/>
            </a:pPr>
            <a:r>
              <a:rPr lang="en-US" sz="1700" dirty="0">
                <a:solidFill>
                  <a:schemeClr val="tx1"/>
                </a:solidFill>
              </a:rPr>
              <a:t>Calculates eligibility</a:t>
            </a:r>
            <a:endParaRPr lang="en-US" sz="1700" dirty="0"/>
          </a:p>
        </p:txBody>
      </p:sp>
      <p:sp>
        <p:nvSpPr>
          <p:cNvPr id="25" name="Shape 21"/>
          <p:cNvSpPr/>
          <p:nvPr/>
        </p:nvSpPr>
        <p:spPr>
          <a:xfrm>
            <a:off x="6492240" y="4315968"/>
            <a:ext cx="457200" cy="457200"/>
          </a:xfrm>
          <a:prstGeom prst="ellipse">
            <a:avLst/>
          </a:prstGeom>
          <a:solidFill>
            <a:schemeClr val="accent1"/>
          </a:solidFill>
          <a:ln/>
        </p:spPr>
      </p:sp>
      <p:sp>
        <p:nvSpPr>
          <p:cNvPr id="26" name="Text 22"/>
          <p:cNvSpPr txBox="1"/>
          <p:nvPr/>
        </p:nvSpPr>
        <p:spPr>
          <a:xfrm>
            <a:off x="6492240" y="43159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7" name="Text 23"/>
          <p:cNvSpPr txBox="1"/>
          <p:nvPr/>
        </p:nvSpPr>
        <p:spPr>
          <a:xfrm>
            <a:off x="7132320" y="4315968"/>
            <a:ext cx="4480560" cy="457200"/>
          </a:xfrm>
          <a:prstGeom prst="rect">
            <a:avLst/>
          </a:prstGeom>
          <a:noFill/>
          <a:ln/>
        </p:spPr>
        <p:txBody>
          <a:bodyPr wrap="square" lIns="0" tIns="0" rIns="0" bIns="0" rtlCol="0" anchor="ctr"/>
          <a:lstStyle/>
          <a:p>
            <a:pPr algn="l" indent="0" marL="0">
              <a:buNone/>
            </a:pPr>
            <a:r>
              <a:rPr lang="en-US" sz="1700" dirty="0">
                <a:solidFill>
                  <a:schemeClr val="tx1"/>
                </a:solidFill>
              </a:rPr>
              <a:t>Gives a simple answer</a:t>
            </a:r>
            <a:endParaRPr lang="en-US" sz="1700" dirty="0"/>
          </a:p>
        </p:txBody>
      </p:sp>
      <p:sp>
        <p:nvSpPr>
          <p:cNvPr id="28" name="Shape 24"/>
          <p:cNvSpPr/>
          <p:nvPr/>
        </p:nvSpPr>
        <p:spPr>
          <a:xfrm>
            <a:off x="6492240" y="4937760"/>
            <a:ext cx="457200" cy="457200"/>
          </a:xfrm>
          <a:prstGeom prst="ellipse">
            <a:avLst/>
          </a:prstGeom>
          <a:solidFill>
            <a:schemeClr val="accent1"/>
          </a:solidFill>
          <a:ln/>
        </p:spPr>
      </p:sp>
      <p:sp>
        <p:nvSpPr>
          <p:cNvPr id="29" name="Text 25"/>
          <p:cNvSpPr txBox="1"/>
          <p:nvPr/>
        </p:nvSpPr>
        <p:spPr>
          <a:xfrm>
            <a:off x="6492240" y="49377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0" name="Text 26"/>
          <p:cNvSpPr txBox="1"/>
          <p:nvPr/>
        </p:nvSpPr>
        <p:spPr>
          <a:xfrm>
            <a:off x="7132320" y="4937760"/>
            <a:ext cx="4480560" cy="457200"/>
          </a:xfrm>
          <a:prstGeom prst="rect">
            <a:avLst/>
          </a:prstGeom>
          <a:noFill/>
          <a:ln/>
        </p:spPr>
        <p:txBody>
          <a:bodyPr wrap="square" lIns="0" tIns="0" rIns="0" bIns="0" rtlCol="0" anchor="ctr"/>
          <a:lstStyle/>
          <a:p>
            <a:pPr algn="l" indent="0" marL="0">
              <a:buNone/>
            </a:pPr>
            <a:r>
              <a:rPr lang="en-US" sz="1700" dirty="0">
                <a:solidFill>
                  <a:schemeClr val="tx1"/>
                </a:solidFill>
              </a:rPr>
              <a:t>Shows the supporting source</a:t>
            </a:r>
            <a:endParaRPr lang="en-US" sz="1700" dirty="0"/>
          </a:p>
        </p:txBody>
      </p:sp>
      <p:sp>
        <p:nvSpPr>
          <p:cNvPr id="31" name="message"/>
          <p:cNvSpPr txBox="1"/>
          <p:nvPr/>
        </p:nvSpPr>
        <p:spPr>
          <a:xfrm>
            <a:off x="548640" y="5760720"/>
            <a:ext cx="11064240" cy="457200"/>
          </a:xfrm>
          <a:prstGeom prst="rect">
            <a:avLst/>
          </a:prstGeom>
          <a:noFill/>
          <a:ln/>
        </p:spPr>
        <p:txBody>
          <a:bodyPr wrap="square" lIns="0" tIns="0" rIns="0" bIns="0" rtlCol="0" anchor="t"/>
          <a:lstStyle/>
          <a:p>
            <a:pPr algn="l" indent="0" marL="0">
              <a:buNone/>
            </a:pPr>
            <a:r>
              <a:rPr lang="en-US" sz="2000" b="1" dirty="0">
                <a:solidFill>
                  <a:schemeClr val="accent1"/>
                </a:solidFill>
              </a:rPr>
              <a:t>Ask a question. Get a reliable answer.</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How Our System Works</a:t>
            </a:r>
            <a:endParaRPr lang="en-US" sz="3400" dirty="0"/>
          </a:p>
        </p:txBody>
      </p:sp>
      <p:sp>
        <p:nvSpPr>
          <p:cNvPr id="3" name="Shape 1"/>
          <p:cNvSpPr/>
          <p:nvPr/>
        </p:nvSpPr>
        <p:spPr>
          <a:xfrm>
            <a:off x="548640" y="1828800"/>
            <a:ext cx="1371600" cy="2103120"/>
          </a:xfrm>
          <a:prstGeom prst="roundRect">
            <a:avLst>
              <a:gd name="adj" fmla="val 8000"/>
            </a:avLst>
          </a:prstGeom>
          <a:solidFill>
            <a:schemeClr val="bg2"/>
          </a:solidFill>
          <a:ln w="15875">
            <a:solidFill>
              <a:srgbClr val="C9CEE6"/>
            </a:solidFill>
            <a:prstDash val="solid"/>
          </a:ln>
        </p:spPr>
      </p:sp>
      <p:sp>
        <p:nvSpPr>
          <p:cNvPr id="4" name="Shape 2"/>
          <p:cNvSpPr/>
          <p:nvPr/>
        </p:nvSpPr>
        <p:spPr>
          <a:xfrm>
            <a:off x="886968" y="2194560"/>
            <a:ext cx="694944" cy="694944"/>
          </a:xfrm>
          <a:prstGeom prst="ellipse">
            <a:avLst/>
          </a:prstGeom>
          <a:solidFill>
            <a:srgbClr val="1C2457"/>
          </a:solidFill>
          <a:ln/>
        </p:spPr>
      </p:sp>
      <p:pic>
        <p:nvPicPr>
          <p:cNvPr id="5" name="Image 0" descr="preencoded.png">    </p:cNvPr>
          <p:cNvPicPr>
            <a:picLocks noChangeAspect="1"/>
          </p:cNvPicPr>
          <p:nvPr/>
        </p:nvPicPr>
        <p:blipFill>
          <a:blip r:embed="rId1"/>
          <a:stretch>
            <a:fillRect/>
          </a:stretch>
        </p:blipFill>
        <p:spPr>
          <a:xfrm>
            <a:off x="1074603" y="2382195"/>
            <a:ext cx="319674" cy="319674"/>
          </a:xfrm>
          <a:prstGeom prst="rect">
            <a:avLst/>
          </a:prstGeom>
        </p:spPr>
      </p:pic>
      <p:sp>
        <p:nvSpPr>
          <p:cNvPr id="6" name="Text 3"/>
          <p:cNvSpPr txBox="1"/>
          <p:nvPr/>
        </p:nvSpPr>
        <p:spPr>
          <a:xfrm>
            <a:off x="621792" y="3063240"/>
            <a:ext cx="1225296" cy="731520"/>
          </a:xfrm>
          <a:prstGeom prst="rect">
            <a:avLst/>
          </a:prstGeom>
          <a:noFill/>
          <a:ln/>
        </p:spPr>
        <p:txBody>
          <a:bodyPr wrap="square" lIns="0" tIns="0" rIns="0" bIns="0" rtlCol="0" anchor="t"/>
          <a:lstStyle/>
          <a:p>
            <a:pPr algn="ctr" indent="0" marL="0">
              <a:buNone/>
            </a:pPr>
            <a:r>
              <a:rPr lang="en-US" sz="1500" b="1" dirty="0">
                <a:solidFill>
                  <a:schemeClr val="tx2"/>
                </a:solidFill>
              </a:rPr>
              <a:t>Student</a:t>
            </a:r>
            <a:endParaRPr lang="en-US" sz="1500" dirty="0"/>
          </a:p>
        </p:txBody>
      </p:sp>
      <p:sp>
        <p:nvSpPr>
          <p:cNvPr id="7" name="Shape 4"/>
          <p:cNvSpPr/>
          <p:nvPr/>
        </p:nvSpPr>
        <p:spPr>
          <a:xfrm>
            <a:off x="1947672" y="2880360"/>
            <a:ext cx="192024" cy="0"/>
          </a:xfrm>
          <a:prstGeom prst="line">
            <a:avLst/>
          </a:prstGeom>
          <a:noFill/>
          <a:ln w="25400">
            <a:solidFill>
              <a:schemeClr val="accent6"/>
            </a:solidFill>
            <a:prstDash val="solid"/>
            <a:tailEnd type="triangle"/>
          </a:ln>
        </p:spPr>
      </p:sp>
      <p:sp>
        <p:nvSpPr>
          <p:cNvPr id="8" name="Shape 5"/>
          <p:cNvSpPr/>
          <p:nvPr/>
        </p:nvSpPr>
        <p:spPr>
          <a:xfrm>
            <a:off x="2167128" y="1828800"/>
            <a:ext cx="1371600" cy="2103120"/>
          </a:xfrm>
          <a:prstGeom prst="roundRect">
            <a:avLst>
              <a:gd name="adj" fmla="val 8000"/>
            </a:avLst>
          </a:prstGeom>
          <a:solidFill>
            <a:schemeClr val="bg2"/>
          </a:solidFill>
          <a:ln w="15875">
            <a:solidFill>
              <a:srgbClr val="C9CEE6"/>
            </a:solidFill>
            <a:prstDash val="solid"/>
          </a:ln>
        </p:spPr>
      </p:sp>
      <p:sp>
        <p:nvSpPr>
          <p:cNvPr id="9" name="Shape 6"/>
          <p:cNvSpPr/>
          <p:nvPr/>
        </p:nvSpPr>
        <p:spPr>
          <a:xfrm>
            <a:off x="2505456" y="2194560"/>
            <a:ext cx="694944" cy="694944"/>
          </a:xfrm>
          <a:prstGeom prst="ellipse">
            <a:avLst/>
          </a:prstGeom>
          <a:solidFill>
            <a:srgbClr val="1C2457"/>
          </a:solidFill>
          <a:ln/>
        </p:spPr>
      </p:sp>
      <p:pic>
        <p:nvPicPr>
          <p:cNvPr id="10" name="Image 1" descr="preencoded.png">    </p:cNvPr>
          <p:cNvPicPr>
            <a:picLocks noChangeAspect="1"/>
          </p:cNvPicPr>
          <p:nvPr/>
        </p:nvPicPr>
        <p:blipFill>
          <a:blip r:embed="rId2"/>
          <a:stretch>
            <a:fillRect/>
          </a:stretch>
        </p:blipFill>
        <p:spPr>
          <a:xfrm>
            <a:off x="2693091" y="2382195"/>
            <a:ext cx="319674" cy="319674"/>
          </a:xfrm>
          <a:prstGeom prst="rect">
            <a:avLst/>
          </a:prstGeom>
        </p:spPr>
      </p:pic>
      <p:sp>
        <p:nvSpPr>
          <p:cNvPr id="11" name="Text 7"/>
          <p:cNvSpPr txBox="1"/>
          <p:nvPr/>
        </p:nvSpPr>
        <p:spPr>
          <a:xfrm>
            <a:off x="2240280" y="3063240"/>
            <a:ext cx="1225296" cy="731520"/>
          </a:xfrm>
          <a:prstGeom prst="rect">
            <a:avLst/>
          </a:prstGeom>
          <a:noFill/>
          <a:ln/>
        </p:spPr>
        <p:txBody>
          <a:bodyPr wrap="square" lIns="0" tIns="0" rIns="0" bIns="0" rtlCol="0" anchor="t"/>
          <a:lstStyle/>
          <a:p>
            <a:pPr algn="ctr" indent="0" marL="0">
              <a:buNone/>
            </a:pPr>
            <a:r>
              <a:rPr lang="en-US" sz="1500" b="1" dirty="0">
                <a:solidFill>
                  <a:schemeClr val="tx2"/>
                </a:solidFill>
              </a:rPr>
              <a:t>Login</a:t>
            </a:r>
            <a:endParaRPr lang="en-US" sz="1500" dirty="0"/>
          </a:p>
        </p:txBody>
      </p:sp>
      <p:sp>
        <p:nvSpPr>
          <p:cNvPr id="12" name="Shape 8"/>
          <p:cNvSpPr/>
          <p:nvPr/>
        </p:nvSpPr>
        <p:spPr>
          <a:xfrm>
            <a:off x="3566160" y="2880360"/>
            <a:ext cx="192024" cy="0"/>
          </a:xfrm>
          <a:prstGeom prst="line">
            <a:avLst/>
          </a:prstGeom>
          <a:noFill/>
          <a:ln w="25400">
            <a:solidFill>
              <a:schemeClr val="accent6"/>
            </a:solidFill>
            <a:prstDash val="solid"/>
            <a:tailEnd type="triangle"/>
          </a:ln>
        </p:spPr>
      </p:sp>
      <p:sp>
        <p:nvSpPr>
          <p:cNvPr id="13" name="Shape 9"/>
          <p:cNvSpPr/>
          <p:nvPr/>
        </p:nvSpPr>
        <p:spPr>
          <a:xfrm>
            <a:off x="3785616" y="1828800"/>
            <a:ext cx="1371600" cy="2103120"/>
          </a:xfrm>
          <a:prstGeom prst="roundRect">
            <a:avLst>
              <a:gd name="adj" fmla="val 8000"/>
            </a:avLst>
          </a:prstGeom>
          <a:solidFill>
            <a:schemeClr val="bg2"/>
          </a:solidFill>
          <a:ln w="15875">
            <a:solidFill>
              <a:srgbClr val="C9CEE6"/>
            </a:solidFill>
            <a:prstDash val="solid"/>
          </a:ln>
        </p:spPr>
      </p:sp>
      <p:sp>
        <p:nvSpPr>
          <p:cNvPr id="14" name="Shape 10"/>
          <p:cNvSpPr/>
          <p:nvPr/>
        </p:nvSpPr>
        <p:spPr>
          <a:xfrm>
            <a:off x="4123944" y="2194560"/>
            <a:ext cx="694944" cy="694944"/>
          </a:xfrm>
          <a:prstGeom prst="ellipse">
            <a:avLst/>
          </a:prstGeom>
          <a:solidFill>
            <a:srgbClr val="1C2457"/>
          </a:solidFill>
          <a:ln/>
        </p:spPr>
      </p:sp>
      <p:pic>
        <p:nvPicPr>
          <p:cNvPr id="15" name="Image 2" descr="preencoded.png">    </p:cNvPr>
          <p:cNvPicPr>
            <a:picLocks noChangeAspect="1"/>
          </p:cNvPicPr>
          <p:nvPr/>
        </p:nvPicPr>
        <p:blipFill>
          <a:blip r:embed="rId3"/>
          <a:stretch>
            <a:fillRect/>
          </a:stretch>
        </p:blipFill>
        <p:spPr>
          <a:xfrm>
            <a:off x="4311579" y="2382195"/>
            <a:ext cx="319674" cy="319674"/>
          </a:xfrm>
          <a:prstGeom prst="rect">
            <a:avLst/>
          </a:prstGeom>
        </p:spPr>
      </p:pic>
      <p:sp>
        <p:nvSpPr>
          <p:cNvPr id="16" name="Text 11"/>
          <p:cNvSpPr txBox="1"/>
          <p:nvPr/>
        </p:nvSpPr>
        <p:spPr>
          <a:xfrm>
            <a:off x="3858768" y="3063240"/>
            <a:ext cx="1225296" cy="731520"/>
          </a:xfrm>
          <a:prstGeom prst="rect">
            <a:avLst/>
          </a:prstGeom>
          <a:noFill/>
          <a:ln/>
        </p:spPr>
        <p:txBody>
          <a:bodyPr wrap="square" lIns="0" tIns="0" rIns="0" bIns="0" rtlCol="0" anchor="t"/>
          <a:lstStyle/>
          <a:p>
            <a:pPr algn="ctr" indent="0" marL="0">
              <a:buNone/>
            </a:pPr>
            <a:r>
              <a:rPr lang="en-US" sz="1500" b="1" dirty="0">
                <a:solidFill>
                  <a:schemeClr val="tx2"/>
                </a:solidFill>
              </a:rPr>
              <a:t>Verified identity</a:t>
            </a:r>
            <a:endParaRPr lang="en-US" sz="1500" dirty="0"/>
          </a:p>
        </p:txBody>
      </p:sp>
      <p:sp>
        <p:nvSpPr>
          <p:cNvPr id="17" name="Shape 12"/>
          <p:cNvSpPr/>
          <p:nvPr/>
        </p:nvSpPr>
        <p:spPr>
          <a:xfrm>
            <a:off x="5184648" y="2880360"/>
            <a:ext cx="192024" cy="0"/>
          </a:xfrm>
          <a:prstGeom prst="line">
            <a:avLst/>
          </a:prstGeom>
          <a:noFill/>
          <a:ln w="25400">
            <a:solidFill>
              <a:schemeClr val="accent6"/>
            </a:solidFill>
            <a:prstDash val="solid"/>
            <a:tailEnd type="triangle"/>
          </a:ln>
        </p:spPr>
      </p:sp>
      <p:sp>
        <p:nvSpPr>
          <p:cNvPr id="18" name="Shape 13"/>
          <p:cNvSpPr/>
          <p:nvPr/>
        </p:nvSpPr>
        <p:spPr>
          <a:xfrm>
            <a:off x="5404104" y="1828800"/>
            <a:ext cx="1371600" cy="960120"/>
          </a:xfrm>
          <a:prstGeom prst="roundRect">
            <a:avLst>
              <a:gd name="adj" fmla="val 11429"/>
            </a:avLst>
          </a:prstGeom>
          <a:solidFill>
            <a:schemeClr val="bg2"/>
          </a:solidFill>
          <a:ln w="15875">
            <a:solidFill>
              <a:srgbClr val="C9CEE6"/>
            </a:solidFill>
            <a:prstDash val="solid"/>
          </a:ln>
        </p:spPr>
      </p:sp>
      <p:pic>
        <p:nvPicPr>
          <p:cNvPr id="19" name="Image 3" descr="preencoded.png">    </p:cNvPr>
          <p:cNvPicPr>
            <a:picLocks noChangeAspect="1"/>
          </p:cNvPicPr>
          <p:nvPr/>
        </p:nvPicPr>
        <p:blipFill>
          <a:blip r:embed="rId4"/>
          <a:stretch>
            <a:fillRect/>
          </a:stretch>
        </p:blipFill>
        <p:spPr>
          <a:xfrm>
            <a:off x="5907024" y="1938528"/>
            <a:ext cx="365760" cy="365760"/>
          </a:xfrm>
          <a:prstGeom prst="rect">
            <a:avLst/>
          </a:prstGeom>
        </p:spPr>
      </p:pic>
      <p:sp>
        <p:nvSpPr>
          <p:cNvPr id="20" name="Text 14"/>
          <p:cNvSpPr txBox="1"/>
          <p:nvPr/>
        </p:nvSpPr>
        <p:spPr>
          <a:xfrm>
            <a:off x="5404104" y="2331720"/>
            <a:ext cx="1371600" cy="411480"/>
          </a:xfrm>
          <a:prstGeom prst="rect">
            <a:avLst/>
          </a:prstGeom>
          <a:noFill/>
          <a:ln/>
        </p:spPr>
        <p:txBody>
          <a:bodyPr wrap="square" lIns="0" tIns="0" rIns="0" bIns="0" rtlCol="0" anchor="t"/>
          <a:lstStyle/>
          <a:p>
            <a:pPr algn="ctr" indent="0" marL="0">
              <a:buNone/>
            </a:pPr>
            <a:r>
              <a:rPr lang="en-US" sz="1400" b="1" dirty="0">
                <a:solidFill>
                  <a:schemeClr val="tx2"/>
                </a:solidFill>
              </a:rPr>
              <a:t>Find the policy</a:t>
            </a:r>
            <a:endParaRPr lang="en-US" sz="1400" dirty="0"/>
          </a:p>
        </p:txBody>
      </p:sp>
      <p:sp>
        <p:nvSpPr>
          <p:cNvPr id="21" name="Text 15"/>
          <p:cNvSpPr txBox="1"/>
          <p:nvPr/>
        </p:nvSpPr>
        <p:spPr>
          <a:xfrm>
            <a:off x="5404104" y="2743200"/>
            <a:ext cx="1371600" cy="228600"/>
          </a:xfrm>
          <a:prstGeom prst="rect">
            <a:avLst/>
          </a:prstGeom>
          <a:noFill/>
          <a:ln/>
        </p:spPr>
        <p:txBody>
          <a:bodyPr wrap="square" lIns="0" tIns="0" rIns="0" bIns="0" rtlCol="0" anchor="t"/>
          <a:lstStyle/>
          <a:p>
            <a:pPr algn="ctr" indent="0" marL="0">
              <a:buNone/>
            </a:pPr>
            <a:r>
              <a:rPr lang="en-US" sz="1600" b="1" dirty="0">
                <a:solidFill>
                  <a:schemeClr val="accent6"/>
                </a:solidFill>
              </a:rPr>
              <a:t>+</a:t>
            </a:r>
            <a:endParaRPr lang="en-US" sz="1600" dirty="0"/>
          </a:p>
        </p:txBody>
      </p:sp>
      <p:sp>
        <p:nvSpPr>
          <p:cNvPr id="22" name="Shape 16"/>
          <p:cNvSpPr/>
          <p:nvPr/>
        </p:nvSpPr>
        <p:spPr>
          <a:xfrm>
            <a:off x="5404104" y="2971800"/>
            <a:ext cx="1371600" cy="960120"/>
          </a:xfrm>
          <a:prstGeom prst="roundRect">
            <a:avLst>
              <a:gd name="adj" fmla="val 11429"/>
            </a:avLst>
          </a:prstGeom>
          <a:solidFill>
            <a:schemeClr val="bg2"/>
          </a:solidFill>
          <a:ln w="15875">
            <a:solidFill>
              <a:srgbClr val="C9CEE6"/>
            </a:solidFill>
            <a:prstDash val="solid"/>
          </a:ln>
        </p:spPr>
      </p:sp>
      <p:pic>
        <p:nvPicPr>
          <p:cNvPr id="23" name="Image 4" descr="preencoded.png">    </p:cNvPr>
          <p:cNvPicPr>
            <a:picLocks noChangeAspect="1"/>
          </p:cNvPicPr>
          <p:nvPr/>
        </p:nvPicPr>
        <p:blipFill>
          <a:blip r:embed="rId5"/>
          <a:stretch>
            <a:fillRect/>
          </a:stretch>
        </p:blipFill>
        <p:spPr>
          <a:xfrm>
            <a:off x="5907024" y="3081528"/>
            <a:ext cx="365760" cy="365760"/>
          </a:xfrm>
          <a:prstGeom prst="rect">
            <a:avLst/>
          </a:prstGeom>
        </p:spPr>
      </p:pic>
      <p:sp>
        <p:nvSpPr>
          <p:cNvPr id="24" name="Text 17"/>
          <p:cNvSpPr txBox="1"/>
          <p:nvPr/>
        </p:nvSpPr>
        <p:spPr>
          <a:xfrm>
            <a:off x="5404104" y="3474720"/>
            <a:ext cx="1371600" cy="411480"/>
          </a:xfrm>
          <a:prstGeom prst="rect">
            <a:avLst/>
          </a:prstGeom>
          <a:noFill/>
          <a:ln/>
        </p:spPr>
        <p:txBody>
          <a:bodyPr wrap="square" lIns="0" tIns="0" rIns="0" bIns="0" rtlCol="0" anchor="t"/>
          <a:lstStyle/>
          <a:p>
            <a:pPr algn="ctr" indent="0" marL="0">
              <a:buNone/>
            </a:pPr>
            <a:r>
              <a:rPr lang="en-US" sz="1400" b="1" dirty="0">
                <a:solidFill>
                  <a:schemeClr val="tx2"/>
                </a:solidFill>
              </a:rPr>
              <a:t>Check your records</a:t>
            </a:r>
            <a:endParaRPr lang="en-US" sz="1400" dirty="0"/>
          </a:p>
        </p:txBody>
      </p:sp>
      <p:sp>
        <p:nvSpPr>
          <p:cNvPr id="25" name="Shape 18"/>
          <p:cNvSpPr/>
          <p:nvPr/>
        </p:nvSpPr>
        <p:spPr>
          <a:xfrm>
            <a:off x="6803136" y="2880360"/>
            <a:ext cx="192024" cy="0"/>
          </a:xfrm>
          <a:prstGeom prst="line">
            <a:avLst/>
          </a:prstGeom>
          <a:noFill/>
          <a:ln w="25400">
            <a:solidFill>
              <a:schemeClr val="accent6"/>
            </a:solidFill>
            <a:prstDash val="solid"/>
            <a:tailEnd type="triangle"/>
          </a:ln>
        </p:spPr>
      </p:sp>
      <p:sp>
        <p:nvSpPr>
          <p:cNvPr id="26" name="Shape 19"/>
          <p:cNvSpPr/>
          <p:nvPr/>
        </p:nvSpPr>
        <p:spPr>
          <a:xfrm>
            <a:off x="7022592" y="1828800"/>
            <a:ext cx="1371600" cy="2103120"/>
          </a:xfrm>
          <a:prstGeom prst="roundRect">
            <a:avLst>
              <a:gd name="adj" fmla="val 8000"/>
            </a:avLst>
          </a:prstGeom>
          <a:solidFill>
            <a:schemeClr val="bg2"/>
          </a:solidFill>
          <a:ln w="15875">
            <a:solidFill>
              <a:srgbClr val="C9CEE6"/>
            </a:solidFill>
            <a:prstDash val="solid"/>
          </a:ln>
        </p:spPr>
      </p:sp>
      <p:sp>
        <p:nvSpPr>
          <p:cNvPr id="27" name="Shape 20"/>
          <p:cNvSpPr/>
          <p:nvPr/>
        </p:nvSpPr>
        <p:spPr>
          <a:xfrm>
            <a:off x="7360920" y="2194560"/>
            <a:ext cx="694944" cy="694944"/>
          </a:xfrm>
          <a:prstGeom prst="ellipse">
            <a:avLst/>
          </a:prstGeom>
          <a:solidFill>
            <a:srgbClr val="1C2457"/>
          </a:solidFill>
          <a:ln/>
        </p:spPr>
      </p:sp>
      <p:pic>
        <p:nvPicPr>
          <p:cNvPr id="28" name="Image 5" descr="preencoded.png">    </p:cNvPr>
          <p:cNvPicPr>
            <a:picLocks noChangeAspect="1"/>
          </p:cNvPicPr>
          <p:nvPr/>
        </p:nvPicPr>
        <p:blipFill>
          <a:blip r:embed="rId6"/>
          <a:stretch>
            <a:fillRect/>
          </a:stretch>
        </p:blipFill>
        <p:spPr>
          <a:xfrm>
            <a:off x="7548555" y="2382195"/>
            <a:ext cx="319674" cy="319674"/>
          </a:xfrm>
          <a:prstGeom prst="rect">
            <a:avLst/>
          </a:prstGeom>
        </p:spPr>
      </p:pic>
      <p:sp>
        <p:nvSpPr>
          <p:cNvPr id="29" name="Text 21"/>
          <p:cNvSpPr txBox="1"/>
          <p:nvPr/>
        </p:nvSpPr>
        <p:spPr>
          <a:xfrm>
            <a:off x="7095744" y="3063240"/>
            <a:ext cx="1225296" cy="731520"/>
          </a:xfrm>
          <a:prstGeom prst="rect">
            <a:avLst/>
          </a:prstGeom>
          <a:noFill/>
          <a:ln/>
        </p:spPr>
        <p:txBody>
          <a:bodyPr wrap="square" lIns="0" tIns="0" rIns="0" bIns="0" rtlCol="0" anchor="t"/>
          <a:lstStyle/>
          <a:p>
            <a:pPr algn="ctr" indent="0" marL="0">
              <a:buNone/>
            </a:pPr>
            <a:r>
              <a:rPr lang="en-US" sz="1500" b="1" dirty="0">
                <a:solidFill>
                  <a:schemeClr val="tx2"/>
                </a:solidFill>
              </a:rPr>
              <a:t>Calculate result</a:t>
            </a:r>
            <a:endParaRPr lang="en-US" sz="1500" dirty="0"/>
          </a:p>
        </p:txBody>
      </p:sp>
      <p:sp>
        <p:nvSpPr>
          <p:cNvPr id="30" name="Shape 22"/>
          <p:cNvSpPr/>
          <p:nvPr/>
        </p:nvSpPr>
        <p:spPr>
          <a:xfrm>
            <a:off x="8421624" y="2880360"/>
            <a:ext cx="192024" cy="0"/>
          </a:xfrm>
          <a:prstGeom prst="line">
            <a:avLst/>
          </a:prstGeom>
          <a:noFill/>
          <a:ln w="25400">
            <a:solidFill>
              <a:schemeClr val="accent6"/>
            </a:solidFill>
            <a:prstDash val="solid"/>
            <a:tailEnd type="triangle"/>
          </a:ln>
        </p:spPr>
      </p:sp>
      <p:sp>
        <p:nvSpPr>
          <p:cNvPr id="31" name="Shape 23"/>
          <p:cNvSpPr/>
          <p:nvPr/>
        </p:nvSpPr>
        <p:spPr>
          <a:xfrm>
            <a:off x="8641080" y="1828800"/>
            <a:ext cx="1371600" cy="2103120"/>
          </a:xfrm>
          <a:prstGeom prst="roundRect">
            <a:avLst>
              <a:gd name="adj" fmla="val 8000"/>
            </a:avLst>
          </a:prstGeom>
          <a:solidFill>
            <a:srgbClr val="ECEAFD"/>
          </a:solidFill>
          <a:ln w="25400">
            <a:solidFill>
              <a:srgbClr val="5B4FE0"/>
            </a:solidFill>
            <a:prstDash val="solid"/>
          </a:ln>
        </p:spPr>
      </p:sp>
      <p:sp>
        <p:nvSpPr>
          <p:cNvPr id="32" name="Shape 24"/>
          <p:cNvSpPr/>
          <p:nvPr/>
        </p:nvSpPr>
        <p:spPr>
          <a:xfrm>
            <a:off x="8979408" y="2194560"/>
            <a:ext cx="694944" cy="694944"/>
          </a:xfrm>
          <a:prstGeom prst="ellipse">
            <a:avLst/>
          </a:prstGeom>
          <a:solidFill>
            <a:srgbClr val="5B4FE0"/>
          </a:solidFill>
          <a:ln/>
        </p:spPr>
      </p:sp>
      <p:pic>
        <p:nvPicPr>
          <p:cNvPr id="33" name="Image 6" descr="preencoded.png">    </p:cNvPr>
          <p:cNvPicPr>
            <a:picLocks noChangeAspect="1"/>
          </p:cNvPicPr>
          <p:nvPr/>
        </p:nvPicPr>
        <p:blipFill>
          <a:blip r:embed="rId7"/>
          <a:stretch>
            <a:fillRect/>
          </a:stretch>
        </p:blipFill>
        <p:spPr>
          <a:xfrm>
            <a:off x="9167043" y="2382195"/>
            <a:ext cx="319674" cy="319674"/>
          </a:xfrm>
          <a:prstGeom prst="rect">
            <a:avLst/>
          </a:prstGeom>
        </p:spPr>
      </p:pic>
      <p:sp>
        <p:nvSpPr>
          <p:cNvPr id="34" name="Text 25"/>
          <p:cNvSpPr txBox="1"/>
          <p:nvPr/>
        </p:nvSpPr>
        <p:spPr>
          <a:xfrm>
            <a:off x="8714232" y="3063240"/>
            <a:ext cx="1225296" cy="731520"/>
          </a:xfrm>
          <a:prstGeom prst="rect">
            <a:avLst/>
          </a:prstGeom>
          <a:noFill/>
          <a:ln/>
        </p:spPr>
        <p:txBody>
          <a:bodyPr wrap="square" lIns="0" tIns="0" rIns="0" bIns="0" rtlCol="0" anchor="t"/>
          <a:lstStyle/>
          <a:p>
            <a:pPr algn="ctr" indent="0" marL="0">
              <a:buNone/>
            </a:pPr>
            <a:r>
              <a:rPr lang="en-US" sz="1500" b="1" dirty="0">
                <a:solidFill>
                  <a:schemeClr val="accent1"/>
                </a:solidFill>
              </a:rPr>
              <a:t>AI explains</a:t>
            </a:r>
            <a:endParaRPr lang="en-US" sz="1500" dirty="0"/>
          </a:p>
        </p:txBody>
      </p:sp>
      <p:sp>
        <p:nvSpPr>
          <p:cNvPr id="35" name="Shape 26"/>
          <p:cNvSpPr/>
          <p:nvPr/>
        </p:nvSpPr>
        <p:spPr>
          <a:xfrm>
            <a:off x="10040112" y="2880360"/>
            <a:ext cx="192024" cy="0"/>
          </a:xfrm>
          <a:prstGeom prst="line">
            <a:avLst/>
          </a:prstGeom>
          <a:noFill/>
          <a:ln w="25400">
            <a:solidFill>
              <a:schemeClr val="accent6"/>
            </a:solidFill>
            <a:prstDash val="solid"/>
            <a:tailEnd type="triangle"/>
          </a:ln>
        </p:spPr>
      </p:sp>
      <p:sp>
        <p:nvSpPr>
          <p:cNvPr id="36" name="Shape 27"/>
          <p:cNvSpPr/>
          <p:nvPr/>
        </p:nvSpPr>
        <p:spPr>
          <a:xfrm>
            <a:off x="10259568" y="1828800"/>
            <a:ext cx="1371600" cy="2103120"/>
          </a:xfrm>
          <a:prstGeom prst="roundRect">
            <a:avLst>
              <a:gd name="adj" fmla="val 8000"/>
            </a:avLst>
          </a:prstGeom>
          <a:solidFill>
            <a:schemeClr val="bg2"/>
          </a:solidFill>
          <a:ln w="15875">
            <a:solidFill>
              <a:srgbClr val="C9CEE6"/>
            </a:solidFill>
            <a:prstDash val="solid"/>
          </a:ln>
        </p:spPr>
      </p:sp>
      <p:sp>
        <p:nvSpPr>
          <p:cNvPr id="37" name="Shape 28"/>
          <p:cNvSpPr/>
          <p:nvPr/>
        </p:nvSpPr>
        <p:spPr>
          <a:xfrm>
            <a:off x="10597896" y="2194560"/>
            <a:ext cx="694944" cy="694944"/>
          </a:xfrm>
          <a:prstGeom prst="ellipse">
            <a:avLst/>
          </a:prstGeom>
          <a:solidFill>
            <a:srgbClr val="1C2457"/>
          </a:solidFill>
          <a:ln/>
        </p:spPr>
      </p:sp>
      <p:pic>
        <p:nvPicPr>
          <p:cNvPr id="38" name="Image 7" descr="preencoded.png">    </p:cNvPr>
          <p:cNvPicPr>
            <a:picLocks noChangeAspect="1"/>
          </p:cNvPicPr>
          <p:nvPr/>
        </p:nvPicPr>
        <p:blipFill>
          <a:blip r:embed="rId8"/>
          <a:stretch>
            <a:fillRect/>
          </a:stretch>
        </p:blipFill>
        <p:spPr>
          <a:xfrm>
            <a:off x="10785531" y="2382195"/>
            <a:ext cx="319674" cy="319674"/>
          </a:xfrm>
          <a:prstGeom prst="rect">
            <a:avLst/>
          </a:prstGeom>
        </p:spPr>
      </p:pic>
      <p:sp>
        <p:nvSpPr>
          <p:cNvPr id="39" name="Text 29"/>
          <p:cNvSpPr txBox="1"/>
          <p:nvPr/>
        </p:nvSpPr>
        <p:spPr>
          <a:xfrm>
            <a:off x="10332720" y="3063240"/>
            <a:ext cx="1225296" cy="731520"/>
          </a:xfrm>
          <a:prstGeom prst="rect">
            <a:avLst/>
          </a:prstGeom>
          <a:noFill/>
          <a:ln/>
        </p:spPr>
        <p:txBody>
          <a:bodyPr wrap="square" lIns="0" tIns="0" rIns="0" bIns="0" rtlCol="0" anchor="t"/>
          <a:lstStyle/>
          <a:p>
            <a:pPr algn="ctr" indent="0" marL="0">
              <a:buNone/>
            </a:pPr>
            <a:r>
              <a:rPr lang="en-US" sz="1500" b="1" dirty="0">
                <a:solidFill>
                  <a:schemeClr val="tx2"/>
                </a:solidFill>
              </a:rPr>
              <a:t>Answer + source</a:t>
            </a:r>
            <a:endParaRPr lang="en-US" sz="1500" dirty="0"/>
          </a:p>
        </p:txBody>
      </p:sp>
      <p:sp>
        <p:nvSpPr>
          <p:cNvPr id="40" name="Shape 30"/>
          <p:cNvSpPr/>
          <p:nvPr/>
        </p:nvSpPr>
        <p:spPr>
          <a:xfrm>
            <a:off x="548640" y="4206240"/>
            <a:ext cx="292608" cy="292608"/>
          </a:xfrm>
          <a:prstGeom prst="roundRect">
            <a:avLst>
              <a:gd name="adj" fmla="val 18750"/>
            </a:avLst>
          </a:prstGeom>
          <a:solidFill>
            <a:schemeClr val="bg2"/>
          </a:solidFill>
          <a:ln w="15875">
            <a:solidFill>
              <a:srgbClr val="C9CEE6"/>
            </a:solidFill>
            <a:prstDash val="solid"/>
          </a:ln>
        </p:spPr>
      </p:sp>
      <p:sp>
        <p:nvSpPr>
          <p:cNvPr id="41" name="Text 31"/>
          <p:cNvSpPr txBox="1"/>
          <p:nvPr/>
        </p:nvSpPr>
        <p:spPr>
          <a:xfrm>
            <a:off x="960120" y="4187952"/>
            <a:ext cx="4114800" cy="329184"/>
          </a:xfrm>
          <a:prstGeom prst="rect">
            <a:avLst/>
          </a:prstGeom>
          <a:noFill/>
          <a:ln/>
        </p:spPr>
        <p:txBody>
          <a:bodyPr wrap="square" lIns="0" tIns="0" rIns="0" bIns="0" rtlCol="0" anchor="ctr"/>
          <a:lstStyle/>
          <a:p>
            <a:pPr algn="l" indent="0" marL="0">
              <a:buNone/>
            </a:pPr>
            <a:r>
              <a:rPr lang="en-US" sz="1400" dirty="0">
                <a:solidFill>
                  <a:schemeClr val="tx1"/>
                </a:solidFill>
              </a:rPr>
              <a:t>Done by normal code: exact and checked</a:t>
            </a:r>
            <a:endParaRPr lang="en-US" sz="1400" dirty="0"/>
          </a:p>
        </p:txBody>
      </p:sp>
      <p:sp>
        <p:nvSpPr>
          <p:cNvPr id="42" name="Shape 32"/>
          <p:cNvSpPr/>
          <p:nvPr/>
        </p:nvSpPr>
        <p:spPr>
          <a:xfrm>
            <a:off x="5212080" y="4206240"/>
            <a:ext cx="292608" cy="292608"/>
          </a:xfrm>
          <a:prstGeom prst="roundRect">
            <a:avLst>
              <a:gd name="adj" fmla="val 18750"/>
            </a:avLst>
          </a:prstGeom>
          <a:solidFill>
            <a:srgbClr val="ECEAFD"/>
          </a:solidFill>
          <a:ln w="15875">
            <a:solidFill>
              <a:srgbClr val="5B4FE0"/>
            </a:solidFill>
            <a:prstDash val="solid"/>
          </a:ln>
        </p:spPr>
      </p:sp>
      <p:sp>
        <p:nvSpPr>
          <p:cNvPr id="43" name="Text 33"/>
          <p:cNvSpPr txBox="1"/>
          <p:nvPr/>
        </p:nvSpPr>
        <p:spPr>
          <a:xfrm>
            <a:off x="5623560" y="4187952"/>
            <a:ext cx="4389120" cy="329184"/>
          </a:xfrm>
          <a:prstGeom prst="rect">
            <a:avLst/>
          </a:prstGeom>
          <a:noFill/>
          <a:ln/>
        </p:spPr>
        <p:txBody>
          <a:bodyPr wrap="square" lIns="0" tIns="0" rIns="0" bIns="0" rtlCol="0" anchor="ctr"/>
          <a:lstStyle/>
          <a:p>
            <a:pPr algn="l" indent="0" marL="0">
              <a:buNone/>
            </a:pPr>
            <a:r>
              <a:rPr lang="en-US" sz="1400" dirty="0">
                <a:solidFill>
                  <a:schemeClr val="tx1"/>
                </a:solidFill>
              </a:rPr>
              <a:t>Done by AI: understanding and wording</a:t>
            </a:r>
            <a:endParaRPr lang="en-US" sz="1400" dirty="0"/>
          </a:p>
        </p:txBody>
      </p:sp>
      <p:sp>
        <p:nvSpPr>
          <p:cNvPr id="44" name="Shape 34"/>
          <p:cNvSpPr/>
          <p:nvPr/>
        </p:nvSpPr>
        <p:spPr>
          <a:xfrm>
            <a:off x="548640" y="4892040"/>
            <a:ext cx="11064240" cy="1188720"/>
          </a:xfrm>
          <a:prstGeom prst="roundRect">
            <a:avLst>
              <a:gd name="adj" fmla="val 13846"/>
            </a:avLst>
          </a:prstGeom>
          <a:solidFill>
            <a:srgbClr val="1C2457"/>
          </a:solidFill>
          <a:ln/>
        </p:spPr>
      </p:sp>
      <p:sp>
        <p:nvSpPr>
          <p:cNvPr id="45" name="Text 35"/>
          <p:cNvSpPr txBox="1"/>
          <p:nvPr/>
        </p:nvSpPr>
        <p:spPr>
          <a:xfrm>
            <a:off x="822960" y="4983480"/>
            <a:ext cx="10515600" cy="548640"/>
          </a:xfrm>
          <a:prstGeom prst="rect">
            <a:avLst/>
          </a:prstGeom>
          <a:noFill/>
          <a:ln/>
        </p:spPr>
        <p:txBody>
          <a:bodyPr wrap="square" lIns="0" tIns="0" rIns="0" bIns="0" rtlCol="0" anchor="t"/>
          <a:lstStyle/>
          <a:p>
            <a:pPr algn="ctr" indent="0" marL="0">
              <a:buNone/>
            </a:pPr>
            <a:r>
              <a:rPr lang="en-US" sz="2600" b="1" dirty="0">
                <a:solidFill>
                  <a:schemeClr val="bg1"/>
                </a:solidFill>
              </a:rPr>
              <a:t>CODE CALCULATES  →  AI EXPLAINS</a:t>
            </a:r>
            <a:endParaRPr lang="en-US" sz="2600" dirty="0"/>
          </a:p>
        </p:txBody>
      </p:sp>
      <p:sp>
        <p:nvSpPr>
          <p:cNvPr id="46" name="Text 36"/>
          <p:cNvSpPr txBox="1"/>
          <p:nvPr/>
        </p:nvSpPr>
        <p:spPr>
          <a:xfrm>
            <a:off x="822960" y="5486400"/>
            <a:ext cx="10515600" cy="457200"/>
          </a:xfrm>
          <a:prstGeom prst="rect">
            <a:avLst/>
          </a:prstGeom>
          <a:noFill/>
          <a:ln/>
        </p:spPr>
        <p:txBody>
          <a:bodyPr wrap="square" lIns="0" tIns="0" rIns="0" bIns="0" rtlCol="0" anchor="t"/>
          <a:lstStyle/>
          <a:p>
            <a:pPr algn="ctr" indent="0" marL="0">
              <a:buNone/>
            </a:pPr>
            <a:r>
              <a:rPr lang="en-US" sz="1600" dirty="0">
                <a:solidFill>
                  <a:srgbClr val="CADCFC"/>
                </a:solidFill>
              </a:rPr>
              <a:t>Code handles important decisions. AI makes the answer easy to understand.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Secure Student Login</a:t>
            </a:r>
            <a:endParaRPr lang="en-US" sz="3400" dirty="0"/>
          </a:p>
        </p:txBody>
      </p:sp>
      <p:sp>
        <p:nvSpPr>
          <p:cNvPr id="3" name="Shape 1"/>
          <p:cNvSpPr/>
          <p:nvPr/>
        </p:nvSpPr>
        <p:spPr>
          <a:xfrm>
            <a:off x="548640" y="1325880"/>
            <a:ext cx="4937760" cy="868680"/>
          </a:xfrm>
          <a:prstGeom prst="roundRect">
            <a:avLst>
              <a:gd name="adj" fmla="val 12632"/>
            </a:avLst>
          </a:prstGeom>
          <a:solidFill>
            <a:schemeClr val="bg2"/>
          </a:solidFill>
          <a:ln/>
        </p:spPr>
      </p:sp>
      <p:sp>
        <p:nvSpPr>
          <p:cNvPr id="4" name="Shape 2"/>
          <p:cNvSpPr/>
          <p:nvPr/>
        </p:nvSpPr>
        <p:spPr>
          <a:xfrm>
            <a:off x="731520" y="1463040"/>
            <a:ext cx="594360" cy="594360"/>
          </a:xfrm>
          <a:prstGeom prst="ellipse">
            <a:avLst/>
          </a:prstGeom>
          <a:solidFill>
            <a:srgbClr val="1C2457"/>
          </a:solidFill>
          <a:ln/>
        </p:spPr>
      </p:sp>
      <p:pic>
        <p:nvPicPr>
          <p:cNvPr id="5" name="Image 0" descr="preencoded.png">    </p:cNvPr>
          <p:cNvPicPr>
            <a:picLocks noChangeAspect="1"/>
          </p:cNvPicPr>
          <p:nvPr/>
        </p:nvPicPr>
        <p:blipFill>
          <a:blip r:embed="rId1"/>
          <a:stretch>
            <a:fillRect/>
          </a:stretch>
        </p:blipFill>
        <p:spPr>
          <a:xfrm>
            <a:off x="891997" y="1623517"/>
            <a:ext cx="273406" cy="273406"/>
          </a:xfrm>
          <a:prstGeom prst="rect">
            <a:avLst/>
          </a:prstGeom>
        </p:spPr>
      </p:pic>
      <p:sp>
        <p:nvSpPr>
          <p:cNvPr id="6" name="Text 3"/>
          <p:cNvSpPr txBox="1"/>
          <p:nvPr/>
        </p:nvSpPr>
        <p:spPr>
          <a:xfrm>
            <a:off x="1508760" y="1325880"/>
            <a:ext cx="3840480" cy="868680"/>
          </a:xfrm>
          <a:prstGeom prst="rect">
            <a:avLst/>
          </a:prstGeom>
          <a:noFill/>
          <a:ln/>
        </p:spPr>
        <p:txBody>
          <a:bodyPr wrap="square" lIns="0" tIns="0" rIns="0" bIns="0" rtlCol="0" anchor="ctr"/>
          <a:lstStyle/>
          <a:p>
            <a:pPr algn="l" indent="0" marL="0">
              <a:buNone/>
            </a:pPr>
            <a:r>
              <a:rPr lang="en-US" sz="1600" b="1" dirty="0">
                <a:solidFill>
                  <a:schemeClr val="tx2"/>
                </a:solidFill>
              </a:rPr>
              <a:t>Student ID + password</a:t>
            </a:r>
            <a:endParaRPr lang="en-US" sz="1600" dirty="0"/>
          </a:p>
        </p:txBody>
      </p:sp>
      <p:sp>
        <p:nvSpPr>
          <p:cNvPr id="7" name="Shape 4"/>
          <p:cNvSpPr/>
          <p:nvPr/>
        </p:nvSpPr>
        <p:spPr>
          <a:xfrm>
            <a:off x="3017520" y="2221992"/>
            <a:ext cx="0" cy="265176"/>
          </a:xfrm>
          <a:prstGeom prst="line">
            <a:avLst/>
          </a:prstGeom>
          <a:noFill/>
          <a:ln w="25400">
            <a:solidFill>
              <a:schemeClr val="accent6"/>
            </a:solidFill>
            <a:prstDash val="solid"/>
            <a:tailEnd type="triangle"/>
          </a:ln>
        </p:spPr>
      </p:sp>
      <p:sp>
        <p:nvSpPr>
          <p:cNvPr id="8" name="Shape 5"/>
          <p:cNvSpPr/>
          <p:nvPr/>
        </p:nvSpPr>
        <p:spPr>
          <a:xfrm>
            <a:off x="548640" y="2514600"/>
            <a:ext cx="4937760" cy="868680"/>
          </a:xfrm>
          <a:prstGeom prst="roundRect">
            <a:avLst>
              <a:gd name="adj" fmla="val 12632"/>
            </a:avLst>
          </a:prstGeom>
          <a:solidFill>
            <a:schemeClr val="bg2"/>
          </a:solidFill>
          <a:ln/>
        </p:spPr>
      </p:sp>
      <p:sp>
        <p:nvSpPr>
          <p:cNvPr id="9" name="Shape 6"/>
          <p:cNvSpPr/>
          <p:nvPr/>
        </p:nvSpPr>
        <p:spPr>
          <a:xfrm>
            <a:off x="731520" y="2651760"/>
            <a:ext cx="594360" cy="594360"/>
          </a:xfrm>
          <a:prstGeom prst="ellipse">
            <a:avLst/>
          </a:prstGeom>
          <a:solidFill>
            <a:srgbClr val="1C2457"/>
          </a:solidFill>
          <a:ln/>
        </p:spPr>
      </p:sp>
      <p:pic>
        <p:nvPicPr>
          <p:cNvPr id="10" name="Image 1" descr="preencoded.png">    </p:cNvPr>
          <p:cNvPicPr>
            <a:picLocks noChangeAspect="1"/>
          </p:cNvPicPr>
          <p:nvPr/>
        </p:nvPicPr>
        <p:blipFill>
          <a:blip r:embed="rId2"/>
          <a:stretch>
            <a:fillRect/>
          </a:stretch>
        </p:blipFill>
        <p:spPr>
          <a:xfrm>
            <a:off x="891997" y="2812237"/>
            <a:ext cx="273406" cy="273406"/>
          </a:xfrm>
          <a:prstGeom prst="rect">
            <a:avLst/>
          </a:prstGeom>
        </p:spPr>
      </p:pic>
      <p:sp>
        <p:nvSpPr>
          <p:cNvPr id="11" name="Text 7"/>
          <p:cNvSpPr txBox="1"/>
          <p:nvPr/>
        </p:nvSpPr>
        <p:spPr>
          <a:xfrm>
            <a:off x="1508760" y="2514600"/>
            <a:ext cx="3840480" cy="868680"/>
          </a:xfrm>
          <a:prstGeom prst="rect">
            <a:avLst/>
          </a:prstGeom>
          <a:noFill/>
          <a:ln/>
        </p:spPr>
        <p:txBody>
          <a:bodyPr wrap="square" lIns="0" tIns="0" rIns="0" bIns="0" rtlCol="0" anchor="ctr"/>
          <a:lstStyle/>
          <a:p>
            <a:pPr algn="l" indent="0" marL="0">
              <a:buNone/>
            </a:pPr>
            <a:r>
              <a:rPr lang="en-US" sz="1600" b="1" dirty="0">
                <a:solidFill>
                  <a:schemeClr val="tx2"/>
                </a:solidFill>
              </a:rPr>
              <a:t>Password checked against a secure hash</a:t>
            </a:r>
            <a:endParaRPr lang="en-US" sz="1600" dirty="0"/>
          </a:p>
        </p:txBody>
      </p:sp>
      <p:sp>
        <p:nvSpPr>
          <p:cNvPr id="12" name="Shape 8"/>
          <p:cNvSpPr/>
          <p:nvPr/>
        </p:nvSpPr>
        <p:spPr>
          <a:xfrm>
            <a:off x="3017520" y="3410712"/>
            <a:ext cx="0" cy="265176"/>
          </a:xfrm>
          <a:prstGeom prst="line">
            <a:avLst/>
          </a:prstGeom>
          <a:noFill/>
          <a:ln w="25400">
            <a:solidFill>
              <a:schemeClr val="accent6"/>
            </a:solidFill>
            <a:prstDash val="solid"/>
            <a:tailEnd type="triangle"/>
          </a:ln>
        </p:spPr>
      </p:sp>
      <p:sp>
        <p:nvSpPr>
          <p:cNvPr id="13" name="Shape 9"/>
          <p:cNvSpPr/>
          <p:nvPr/>
        </p:nvSpPr>
        <p:spPr>
          <a:xfrm>
            <a:off x="548640" y="3703320"/>
            <a:ext cx="4937760" cy="868680"/>
          </a:xfrm>
          <a:prstGeom prst="roundRect">
            <a:avLst>
              <a:gd name="adj" fmla="val 12632"/>
            </a:avLst>
          </a:prstGeom>
          <a:solidFill>
            <a:schemeClr val="bg2"/>
          </a:solidFill>
          <a:ln/>
        </p:spPr>
      </p:sp>
      <p:sp>
        <p:nvSpPr>
          <p:cNvPr id="14" name="Shape 10"/>
          <p:cNvSpPr/>
          <p:nvPr/>
        </p:nvSpPr>
        <p:spPr>
          <a:xfrm>
            <a:off x="731520" y="3840480"/>
            <a:ext cx="594360" cy="594360"/>
          </a:xfrm>
          <a:prstGeom prst="ellipse">
            <a:avLst/>
          </a:prstGeom>
          <a:solidFill>
            <a:srgbClr val="1C2457"/>
          </a:solidFill>
          <a:ln/>
        </p:spPr>
      </p:sp>
      <p:pic>
        <p:nvPicPr>
          <p:cNvPr id="15" name="Image 2" descr="preencoded.png">    </p:cNvPr>
          <p:cNvPicPr>
            <a:picLocks noChangeAspect="1"/>
          </p:cNvPicPr>
          <p:nvPr/>
        </p:nvPicPr>
        <p:blipFill>
          <a:blip r:embed="rId3"/>
          <a:stretch>
            <a:fillRect/>
          </a:stretch>
        </p:blipFill>
        <p:spPr>
          <a:xfrm>
            <a:off x="891997" y="4000957"/>
            <a:ext cx="273406" cy="273406"/>
          </a:xfrm>
          <a:prstGeom prst="rect">
            <a:avLst/>
          </a:prstGeom>
        </p:spPr>
      </p:pic>
      <p:sp>
        <p:nvSpPr>
          <p:cNvPr id="16" name="Text 11"/>
          <p:cNvSpPr txBox="1"/>
          <p:nvPr/>
        </p:nvSpPr>
        <p:spPr>
          <a:xfrm>
            <a:off x="1508760" y="3703320"/>
            <a:ext cx="3840480" cy="868680"/>
          </a:xfrm>
          <a:prstGeom prst="rect">
            <a:avLst/>
          </a:prstGeom>
          <a:noFill/>
          <a:ln/>
        </p:spPr>
        <p:txBody>
          <a:bodyPr wrap="square" lIns="0" tIns="0" rIns="0" bIns="0" rtlCol="0" anchor="ctr"/>
          <a:lstStyle/>
          <a:p>
            <a:pPr algn="l" indent="0" marL="0">
              <a:buNone/>
            </a:pPr>
            <a:r>
              <a:rPr lang="en-US" sz="1600" b="1" dirty="0">
                <a:solidFill>
                  <a:schemeClr val="tx2"/>
                </a:solidFill>
              </a:rPr>
              <a:t>Signed login token (expires in 60 min)</a:t>
            </a:r>
            <a:endParaRPr lang="en-US" sz="1600" dirty="0"/>
          </a:p>
        </p:txBody>
      </p:sp>
      <p:sp>
        <p:nvSpPr>
          <p:cNvPr id="17" name="Shape 12"/>
          <p:cNvSpPr/>
          <p:nvPr/>
        </p:nvSpPr>
        <p:spPr>
          <a:xfrm>
            <a:off x="3017520" y="4599432"/>
            <a:ext cx="0" cy="265176"/>
          </a:xfrm>
          <a:prstGeom prst="line">
            <a:avLst/>
          </a:prstGeom>
          <a:noFill/>
          <a:ln w="25400">
            <a:solidFill>
              <a:schemeClr val="accent6"/>
            </a:solidFill>
            <a:prstDash val="solid"/>
            <a:tailEnd type="triangle"/>
          </a:ln>
        </p:spPr>
      </p:sp>
      <p:sp>
        <p:nvSpPr>
          <p:cNvPr id="18" name="Shape 13"/>
          <p:cNvSpPr/>
          <p:nvPr/>
        </p:nvSpPr>
        <p:spPr>
          <a:xfrm>
            <a:off x="548640" y="4892040"/>
            <a:ext cx="4937760" cy="868680"/>
          </a:xfrm>
          <a:prstGeom prst="roundRect">
            <a:avLst>
              <a:gd name="adj" fmla="val 12632"/>
            </a:avLst>
          </a:prstGeom>
          <a:solidFill>
            <a:schemeClr val="bg2"/>
          </a:solidFill>
          <a:ln/>
        </p:spPr>
      </p:sp>
      <p:sp>
        <p:nvSpPr>
          <p:cNvPr id="19" name="Shape 14"/>
          <p:cNvSpPr/>
          <p:nvPr/>
        </p:nvSpPr>
        <p:spPr>
          <a:xfrm>
            <a:off x="731520" y="5029200"/>
            <a:ext cx="594360" cy="594360"/>
          </a:xfrm>
          <a:prstGeom prst="ellipse">
            <a:avLst/>
          </a:prstGeom>
          <a:solidFill>
            <a:srgbClr val="13976B"/>
          </a:solidFill>
          <a:ln/>
        </p:spPr>
      </p:sp>
      <p:pic>
        <p:nvPicPr>
          <p:cNvPr id="20" name="Image 3" descr="preencoded.png">    </p:cNvPr>
          <p:cNvPicPr>
            <a:picLocks noChangeAspect="1"/>
          </p:cNvPicPr>
          <p:nvPr/>
        </p:nvPicPr>
        <p:blipFill>
          <a:blip r:embed="rId4"/>
          <a:stretch>
            <a:fillRect/>
          </a:stretch>
        </p:blipFill>
        <p:spPr>
          <a:xfrm>
            <a:off x="891997" y="5189677"/>
            <a:ext cx="273406" cy="273406"/>
          </a:xfrm>
          <a:prstGeom prst="rect">
            <a:avLst/>
          </a:prstGeom>
        </p:spPr>
      </p:pic>
      <p:sp>
        <p:nvSpPr>
          <p:cNvPr id="21" name="Text 15"/>
          <p:cNvSpPr txBox="1"/>
          <p:nvPr/>
        </p:nvSpPr>
        <p:spPr>
          <a:xfrm>
            <a:off x="1508760" y="4892040"/>
            <a:ext cx="3840480" cy="868680"/>
          </a:xfrm>
          <a:prstGeom prst="rect">
            <a:avLst/>
          </a:prstGeom>
          <a:noFill/>
          <a:ln/>
        </p:spPr>
        <p:txBody>
          <a:bodyPr wrap="square" lIns="0" tIns="0" rIns="0" bIns="0" rtlCol="0" anchor="ctr"/>
          <a:lstStyle/>
          <a:p>
            <a:pPr algn="l" indent="0" marL="0">
              <a:buNone/>
            </a:pPr>
            <a:r>
              <a:rPr lang="en-US" sz="1600" b="1" dirty="0">
                <a:solidFill>
                  <a:schemeClr val="tx2"/>
                </a:solidFill>
              </a:rPr>
              <a:t>Verified student identity</a:t>
            </a:r>
            <a:endParaRPr lang="en-US" sz="1600" dirty="0"/>
          </a:p>
        </p:txBody>
      </p:sp>
      <p:pic>
        <p:nvPicPr>
          <p:cNvPr id="22" name="Image 4" descr="preencoded.png">    </p:cNvPr>
          <p:cNvPicPr>
            <a:picLocks noChangeAspect="1"/>
          </p:cNvPicPr>
          <p:nvPr/>
        </p:nvPicPr>
        <p:blipFill>
          <a:blip r:embed="rId5"/>
          <a:stretch>
            <a:fillRect/>
          </a:stretch>
        </p:blipFill>
        <p:spPr>
          <a:xfrm>
            <a:off x="6126480" y="1426464"/>
            <a:ext cx="310896" cy="310896"/>
          </a:xfrm>
          <a:prstGeom prst="rect">
            <a:avLst/>
          </a:prstGeom>
        </p:spPr>
      </p:pic>
      <p:sp>
        <p:nvSpPr>
          <p:cNvPr id="23" name="Text 16"/>
          <p:cNvSpPr txBox="1"/>
          <p:nvPr/>
        </p:nvSpPr>
        <p:spPr>
          <a:xfrm>
            <a:off x="6583680" y="1371600"/>
            <a:ext cx="5029200" cy="420624"/>
          </a:xfrm>
          <a:prstGeom prst="rect">
            <a:avLst/>
          </a:prstGeom>
          <a:noFill/>
          <a:ln/>
        </p:spPr>
        <p:txBody>
          <a:bodyPr wrap="square" lIns="0" tIns="0" rIns="0" bIns="0" rtlCol="0" anchor="ctr"/>
          <a:lstStyle/>
          <a:p>
            <a:pPr algn="l" indent="0" marL="0">
              <a:buNone/>
            </a:pPr>
            <a:r>
              <a:rPr lang="en-US" sz="1600" dirty="0">
                <a:solidFill>
                  <a:schemeClr val="tx1"/>
                </a:solidFill>
              </a:rPr>
              <a:t>Passwords are stored only as secure hashes</a:t>
            </a:r>
            <a:endParaRPr lang="en-US" sz="1600" dirty="0"/>
          </a:p>
        </p:txBody>
      </p:sp>
      <p:pic>
        <p:nvPicPr>
          <p:cNvPr id="24" name="Image 5" descr="preencoded.png">    </p:cNvPr>
          <p:cNvPicPr>
            <a:picLocks noChangeAspect="1"/>
          </p:cNvPicPr>
          <p:nvPr/>
        </p:nvPicPr>
        <p:blipFill>
          <a:blip r:embed="rId6"/>
          <a:stretch>
            <a:fillRect/>
          </a:stretch>
        </p:blipFill>
        <p:spPr>
          <a:xfrm>
            <a:off x="6126480" y="1993392"/>
            <a:ext cx="310896" cy="310896"/>
          </a:xfrm>
          <a:prstGeom prst="rect">
            <a:avLst/>
          </a:prstGeom>
        </p:spPr>
      </p:pic>
      <p:sp>
        <p:nvSpPr>
          <p:cNvPr id="25" name="Text 17"/>
          <p:cNvSpPr txBox="1"/>
          <p:nvPr/>
        </p:nvSpPr>
        <p:spPr>
          <a:xfrm>
            <a:off x="6583680" y="1938528"/>
            <a:ext cx="5029200" cy="420624"/>
          </a:xfrm>
          <a:prstGeom prst="rect">
            <a:avLst/>
          </a:prstGeom>
          <a:noFill/>
          <a:ln/>
        </p:spPr>
        <p:txBody>
          <a:bodyPr wrap="square" lIns="0" tIns="0" rIns="0" bIns="0" rtlCol="0" anchor="ctr"/>
          <a:lstStyle/>
          <a:p>
            <a:pPr algn="l" indent="0" marL="0">
              <a:buNone/>
            </a:pPr>
            <a:r>
              <a:rPr lang="en-US" sz="1600" dirty="0">
                <a:solidFill>
                  <a:schemeClr val="tx1"/>
                </a:solidFill>
              </a:rPr>
              <a:t>Identity comes from the login, not typed IDs</a:t>
            </a:r>
            <a:endParaRPr lang="en-US" sz="1600" dirty="0"/>
          </a:p>
        </p:txBody>
      </p:sp>
      <p:pic>
        <p:nvPicPr>
          <p:cNvPr id="26" name="Image 6" descr="preencoded.png">    </p:cNvPr>
          <p:cNvPicPr>
            <a:picLocks noChangeAspect="1"/>
          </p:cNvPicPr>
          <p:nvPr/>
        </p:nvPicPr>
        <p:blipFill>
          <a:blip r:embed="rId7"/>
          <a:stretch>
            <a:fillRect/>
          </a:stretch>
        </p:blipFill>
        <p:spPr>
          <a:xfrm>
            <a:off x="6126480" y="2560320"/>
            <a:ext cx="310896" cy="310896"/>
          </a:xfrm>
          <a:prstGeom prst="rect">
            <a:avLst/>
          </a:prstGeom>
        </p:spPr>
      </p:pic>
      <p:sp>
        <p:nvSpPr>
          <p:cNvPr id="27" name="Text 18"/>
          <p:cNvSpPr txBox="1"/>
          <p:nvPr/>
        </p:nvSpPr>
        <p:spPr>
          <a:xfrm>
            <a:off x="6583680" y="2505456"/>
            <a:ext cx="5029200" cy="420624"/>
          </a:xfrm>
          <a:prstGeom prst="rect">
            <a:avLst/>
          </a:prstGeom>
          <a:noFill/>
          <a:ln/>
        </p:spPr>
        <p:txBody>
          <a:bodyPr wrap="square" lIns="0" tIns="0" rIns="0" bIns="0" rtlCol="0" anchor="ctr"/>
          <a:lstStyle/>
          <a:p>
            <a:pPr algn="l" indent="0" marL="0">
              <a:buNone/>
            </a:pPr>
            <a:r>
              <a:rPr lang="en-US" sz="1600" dirty="0">
                <a:solidFill>
                  <a:schemeClr val="tx1"/>
                </a:solidFill>
              </a:rPr>
              <a:t>Changing the Student ID in a request does nothing</a:t>
            </a:r>
            <a:endParaRPr lang="en-US" sz="1600" dirty="0"/>
          </a:p>
        </p:txBody>
      </p:sp>
      <p:pic>
        <p:nvPicPr>
          <p:cNvPr id="28" name="Image 7" descr="preencoded.png">    </p:cNvPr>
          <p:cNvPicPr>
            <a:picLocks noChangeAspect="1"/>
          </p:cNvPicPr>
          <p:nvPr/>
        </p:nvPicPr>
        <p:blipFill>
          <a:blip r:embed="rId8"/>
          <a:stretch>
            <a:fillRect/>
          </a:stretch>
        </p:blipFill>
        <p:spPr>
          <a:xfrm>
            <a:off x="6126480" y="3127248"/>
            <a:ext cx="310896" cy="310896"/>
          </a:xfrm>
          <a:prstGeom prst="rect">
            <a:avLst/>
          </a:prstGeom>
        </p:spPr>
      </p:pic>
      <p:sp>
        <p:nvSpPr>
          <p:cNvPr id="29" name="Text 19"/>
          <p:cNvSpPr txBox="1"/>
          <p:nvPr/>
        </p:nvSpPr>
        <p:spPr>
          <a:xfrm>
            <a:off x="6583680" y="3072384"/>
            <a:ext cx="5029200" cy="420624"/>
          </a:xfrm>
          <a:prstGeom prst="rect">
            <a:avLst/>
          </a:prstGeom>
          <a:noFill/>
          <a:ln/>
        </p:spPr>
        <p:txBody>
          <a:bodyPr wrap="square" lIns="0" tIns="0" rIns="0" bIns="0" rtlCol="0" anchor="ctr"/>
          <a:lstStyle/>
          <a:p>
            <a:pPr algn="l" indent="0" marL="0">
              <a:buNone/>
            </a:pPr>
            <a:r>
              <a:rPr lang="en-US" sz="1600" dirty="0">
                <a:solidFill>
                  <a:schemeClr val="tx1"/>
                </a:solidFill>
              </a:rPr>
              <a:t>Students can't see another student's data</a:t>
            </a:r>
            <a:endParaRPr lang="en-US" sz="1600" dirty="0"/>
          </a:p>
        </p:txBody>
      </p:sp>
      <p:sp>
        <p:nvSpPr>
          <p:cNvPr id="30" name="Shape 20"/>
          <p:cNvSpPr/>
          <p:nvPr/>
        </p:nvSpPr>
        <p:spPr>
          <a:xfrm>
            <a:off x="6126480" y="3886200"/>
            <a:ext cx="5486400" cy="2103120"/>
          </a:xfrm>
          <a:prstGeom prst="roundRect">
            <a:avLst>
              <a:gd name="adj" fmla="val 5217"/>
            </a:avLst>
          </a:prstGeom>
          <a:solidFill>
            <a:srgbClr val="FCECEC"/>
          </a:solidFill>
          <a:ln/>
        </p:spPr>
      </p:sp>
      <p:sp>
        <p:nvSpPr>
          <p:cNvPr id="31" name="Shape 21"/>
          <p:cNvSpPr/>
          <p:nvPr/>
        </p:nvSpPr>
        <p:spPr>
          <a:xfrm>
            <a:off x="6355080" y="4160520"/>
            <a:ext cx="868680" cy="868680"/>
          </a:xfrm>
          <a:prstGeom prst="ellipse">
            <a:avLst/>
          </a:prstGeom>
          <a:solidFill>
            <a:srgbClr val="D64545"/>
          </a:solidFill>
          <a:ln/>
        </p:spPr>
      </p:sp>
      <p:pic>
        <p:nvPicPr>
          <p:cNvPr id="32" name="Image 8" descr="preencoded.png">    </p:cNvPr>
          <p:cNvPicPr>
            <a:picLocks noChangeAspect="1"/>
          </p:cNvPicPr>
          <p:nvPr/>
        </p:nvPicPr>
        <p:blipFill>
          <a:blip r:embed="rId9"/>
          <a:stretch>
            <a:fillRect/>
          </a:stretch>
        </p:blipFill>
        <p:spPr>
          <a:xfrm>
            <a:off x="6589624" y="4395064"/>
            <a:ext cx="399593" cy="399593"/>
          </a:xfrm>
          <a:prstGeom prst="rect">
            <a:avLst/>
          </a:prstGeom>
        </p:spPr>
      </p:pic>
      <p:sp>
        <p:nvSpPr>
          <p:cNvPr id="33" name="Text 22"/>
          <p:cNvSpPr txBox="1"/>
          <p:nvPr/>
        </p:nvSpPr>
        <p:spPr>
          <a:xfrm>
            <a:off x="7452360" y="4069080"/>
            <a:ext cx="4023360" cy="1737360"/>
          </a:xfrm>
          <a:prstGeom prst="rect">
            <a:avLst/>
          </a:prstGeom>
          <a:noFill/>
          <a:ln/>
        </p:spPr>
        <p:txBody>
          <a:bodyPr wrap="square" lIns="0" tIns="0" rIns="0" bIns="0" rtlCol="0" anchor="ctr"/>
          <a:lstStyle/>
          <a:p>
            <a:pPr algn="l" indent="0" marL="0">
              <a:spcAft>
                <a:spcPts val="600"/>
              </a:spcAft>
              <a:buNone/>
            </a:pPr>
            <a:r>
              <a:rPr lang="en-US" sz="1700" b="1" dirty="0">
                <a:solidFill>
                  <a:schemeClr val="accent5"/>
                </a:solidFill>
              </a:rPr>
              <a:t>Example</a:t>
            </a:r>
            <a:endParaRPr lang="en-US" sz="1700" dirty="0"/>
          </a:p>
          <a:p>
            <a:pPr algn="l" indent="0" marL="0">
              <a:spcAft>
                <a:spcPts val="600"/>
              </a:spcAft>
              <a:buNone/>
            </a:pPr>
            <a:r>
              <a:rPr lang="en-US" sz="1700" dirty="0">
                <a:solidFill>
                  <a:schemeClr val="tx1"/>
                </a:solidFill>
              </a:rPr>
              <a:t>Logged in as S1001, asks for S1002's marks</a:t>
            </a:r>
            <a:endParaRPr lang="en-US" sz="1700" dirty="0"/>
          </a:p>
          <a:p>
            <a:pPr algn="l" indent="0" marL="0">
              <a:spcAft>
                <a:spcPts val="600"/>
              </a:spcAft>
              <a:buNone/>
            </a:pPr>
            <a:r>
              <a:rPr lang="en-US" sz="1700" b="1" dirty="0">
                <a:solidFill>
                  <a:schemeClr val="accent5"/>
                </a:solidFill>
              </a:rPr>
              <a:t>→ Access denied</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How AI Finds the Right Answer</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t"/>
          <a:lstStyle/>
          <a:p>
            <a:pPr algn="l" indent="0" marL="0">
              <a:buNone/>
            </a:pPr>
            <a:r>
              <a:rPr lang="en-US" sz="2000" b="1" dirty="0">
                <a:solidFill>
                  <a:schemeClr val="accent1"/>
                </a:solidFill>
              </a:rPr>
              <a:t>The AI does not simply guess the answer.</a:t>
            </a:r>
            <a:endParaRPr lang="en-US" sz="2000" dirty="0"/>
          </a:p>
        </p:txBody>
      </p:sp>
      <p:sp>
        <p:nvSpPr>
          <p:cNvPr id="4" name="Shape 2"/>
          <p:cNvSpPr/>
          <p:nvPr/>
        </p:nvSpPr>
        <p:spPr>
          <a:xfrm>
            <a:off x="548640" y="1965960"/>
            <a:ext cx="1645920" cy="2148840"/>
          </a:xfrm>
          <a:prstGeom prst="roundRect">
            <a:avLst>
              <a:gd name="adj" fmla="val 6667"/>
            </a:avLst>
          </a:prstGeom>
          <a:solidFill>
            <a:schemeClr val="bg2"/>
          </a:solidFill>
          <a:ln/>
        </p:spPr>
      </p:sp>
      <p:sp>
        <p:nvSpPr>
          <p:cNvPr id="5" name="Shape 3"/>
          <p:cNvSpPr/>
          <p:nvPr/>
        </p:nvSpPr>
        <p:spPr>
          <a:xfrm>
            <a:off x="1005840" y="2240280"/>
            <a:ext cx="731520" cy="731520"/>
          </a:xfrm>
          <a:prstGeom prst="ellipse">
            <a:avLst/>
          </a:prstGeom>
          <a:solidFill>
            <a:srgbClr val="2E7BDB"/>
          </a:solidFill>
          <a:ln/>
        </p:spPr>
      </p:sp>
      <p:pic>
        <p:nvPicPr>
          <p:cNvPr id="6" name="Image 0" descr="preencoded.png">    </p:cNvPr>
          <p:cNvPicPr>
            <a:picLocks noChangeAspect="1"/>
          </p:cNvPicPr>
          <p:nvPr/>
        </p:nvPicPr>
        <p:blipFill>
          <a:blip r:embed="rId1"/>
          <a:stretch>
            <a:fillRect/>
          </a:stretch>
        </p:blipFill>
        <p:spPr>
          <a:xfrm>
            <a:off x="1203350" y="2437790"/>
            <a:ext cx="336499" cy="336499"/>
          </a:xfrm>
          <a:prstGeom prst="rect">
            <a:avLst/>
          </a:prstGeom>
        </p:spPr>
      </p:pic>
      <p:sp>
        <p:nvSpPr>
          <p:cNvPr id="7" name="Text 4"/>
          <p:cNvSpPr txBox="1"/>
          <p:nvPr/>
        </p:nvSpPr>
        <p:spPr>
          <a:xfrm>
            <a:off x="658368" y="3154680"/>
            <a:ext cx="1426464" cy="822960"/>
          </a:xfrm>
          <a:prstGeom prst="rect">
            <a:avLst/>
          </a:prstGeom>
          <a:noFill/>
          <a:ln/>
        </p:spPr>
        <p:txBody>
          <a:bodyPr wrap="square" lIns="0" tIns="0" rIns="0" bIns="0" rtlCol="0" anchor="t"/>
          <a:lstStyle/>
          <a:p>
            <a:pPr algn="ctr" indent="0" marL="0">
              <a:buNone/>
            </a:pPr>
            <a:r>
              <a:rPr lang="en-US" sz="1500" b="1" dirty="0">
                <a:solidFill>
                  <a:schemeClr val="tx2"/>
                </a:solidFill>
              </a:rPr>
              <a:t>University documents</a:t>
            </a:r>
            <a:endParaRPr lang="en-US" sz="1500" dirty="0"/>
          </a:p>
        </p:txBody>
      </p:sp>
      <p:sp>
        <p:nvSpPr>
          <p:cNvPr id="8" name="Shape 5"/>
          <p:cNvSpPr/>
          <p:nvPr/>
        </p:nvSpPr>
        <p:spPr>
          <a:xfrm>
            <a:off x="2221992" y="3035808"/>
            <a:ext cx="182880" cy="0"/>
          </a:xfrm>
          <a:prstGeom prst="line">
            <a:avLst/>
          </a:prstGeom>
          <a:noFill/>
          <a:ln w="25400">
            <a:solidFill>
              <a:schemeClr val="accent6"/>
            </a:solidFill>
            <a:prstDash val="solid"/>
            <a:tailEnd type="triangle"/>
          </a:ln>
        </p:spPr>
      </p:sp>
      <p:sp>
        <p:nvSpPr>
          <p:cNvPr id="9" name="Shape 6"/>
          <p:cNvSpPr/>
          <p:nvPr/>
        </p:nvSpPr>
        <p:spPr>
          <a:xfrm>
            <a:off x="2432304" y="1965960"/>
            <a:ext cx="1645920" cy="2148840"/>
          </a:xfrm>
          <a:prstGeom prst="roundRect">
            <a:avLst>
              <a:gd name="adj" fmla="val 6667"/>
            </a:avLst>
          </a:prstGeom>
          <a:solidFill>
            <a:schemeClr val="bg2"/>
          </a:solidFill>
          <a:ln/>
        </p:spPr>
      </p:sp>
      <p:sp>
        <p:nvSpPr>
          <p:cNvPr id="10" name="Shape 7"/>
          <p:cNvSpPr/>
          <p:nvPr/>
        </p:nvSpPr>
        <p:spPr>
          <a:xfrm>
            <a:off x="2889504" y="2240280"/>
            <a:ext cx="731520" cy="731520"/>
          </a:xfrm>
          <a:prstGeom prst="ellipse">
            <a:avLst/>
          </a:prstGeom>
          <a:solidFill>
            <a:srgbClr val="2E7BDB"/>
          </a:solidFill>
          <a:ln/>
        </p:spPr>
      </p:sp>
      <p:pic>
        <p:nvPicPr>
          <p:cNvPr id="11" name="Image 1" descr="preencoded.png">    </p:cNvPr>
          <p:cNvPicPr>
            <a:picLocks noChangeAspect="1"/>
          </p:cNvPicPr>
          <p:nvPr/>
        </p:nvPicPr>
        <p:blipFill>
          <a:blip r:embed="rId2"/>
          <a:stretch>
            <a:fillRect/>
          </a:stretch>
        </p:blipFill>
        <p:spPr>
          <a:xfrm>
            <a:off x="3087014" y="2437790"/>
            <a:ext cx="336499" cy="336499"/>
          </a:xfrm>
          <a:prstGeom prst="rect">
            <a:avLst/>
          </a:prstGeom>
        </p:spPr>
      </p:pic>
      <p:sp>
        <p:nvSpPr>
          <p:cNvPr id="12" name="Text 8"/>
          <p:cNvSpPr txBox="1"/>
          <p:nvPr/>
        </p:nvSpPr>
        <p:spPr>
          <a:xfrm>
            <a:off x="2542032" y="3154680"/>
            <a:ext cx="1426464" cy="822960"/>
          </a:xfrm>
          <a:prstGeom prst="rect">
            <a:avLst/>
          </a:prstGeom>
          <a:noFill/>
          <a:ln/>
        </p:spPr>
        <p:txBody>
          <a:bodyPr wrap="square" lIns="0" tIns="0" rIns="0" bIns="0" rtlCol="0" anchor="t"/>
          <a:lstStyle/>
          <a:p>
            <a:pPr algn="ctr" indent="0" marL="0">
              <a:buNone/>
            </a:pPr>
            <a:r>
              <a:rPr lang="en-US" sz="1500" b="1" dirty="0">
                <a:solidFill>
                  <a:schemeClr val="tx2"/>
                </a:solidFill>
              </a:rPr>
              <a:t>Stored and indexed by section</a:t>
            </a:r>
            <a:endParaRPr lang="en-US" sz="1500" dirty="0"/>
          </a:p>
        </p:txBody>
      </p:sp>
      <p:sp>
        <p:nvSpPr>
          <p:cNvPr id="13" name="Shape 9"/>
          <p:cNvSpPr/>
          <p:nvPr/>
        </p:nvSpPr>
        <p:spPr>
          <a:xfrm>
            <a:off x="4105656" y="3035808"/>
            <a:ext cx="182880" cy="0"/>
          </a:xfrm>
          <a:prstGeom prst="line">
            <a:avLst/>
          </a:prstGeom>
          <a:noFill/>
          <a:ln w="25400">
            <a:solidFill>
              <a:schemeClr val="accent6"/>
            </a:solidFill>
            <a:prstDash val="solid"/>
            <a:tailEnd type="triangle"/>
          </a:ln>
        </p:spPr>
      </p:sp>
      <p:sp>
        <p:nvSpPr>
          <p:cNvPr id="14" name="Shape 10"/>
          <p:cNvSpPr/>
          <p:nvPr/>
        </p:nvSpPr>
        <p:spPr>
          <a:xfrm>
            <a:off x="4315968" y="1965960"/>
            <a:ext cx="1645920" cy="2148840"/>
          </a:xfrm>
          <a:prstGeom prst="roundRect">
            <a:avLst>
              <a:gd name="adj" fmla="val 6667"/>
            </a:avLst>
          </a:prstGeom>
          <a:solidFill>
            <a:schemeClr val="bg2"/>
          </a:solidFill>
          <a:ln/>
        </p:spPr>
      </p:sp>
      <p:sp>
        <p:nvSpPr>
          <p:cNvPr id="15" name="Shape 11"/>
          <p:cNvSpPr/>
          <p:nvPr/>
        </p:nvSpPr>
        <p:spPr>
          <a:xfrm>
            <a:off x="4773168" y="2240280"/>
            <a:ext cx="731520" cy="731520"/>
          </a:xfrm>
          <a:prstGeom prst="ellipse">
            <a:avLst/>
          </a:prstGeom>
          <a:solidFill>
            <a:srgbClr val="2E7BDB"/>
          </a:solidFill>
          <a:ln/>
        </p:spPr>
      </p:sp>
      <p:pic>
        <p:nvPicPr>
          <p:cNvPr id="16" name="Image 2" descr="preencoded.png">    </p:cNvPr>
          <p:cNvPicPr>
            <a:picLocks noChangeAspect="1"/>
          </p:cNvPicPr>
          <p:nvPr/>
        </p:nvPicPr>
        <p:blipFill>
          <a:blip r:embed="rId3"/>
          <a:stretch>
            <a:fillRect/>
          </a:stretch>
        </p:blipFill>
        <p:spPr>
          <a:xfrm>
            <a:off x="4970678" y="2437790"/>
            <a:ext cx="336499" cy="336499"/>
          </a:xfrm>
          <a:prstGeom prst="rect">
            <a:avLst/>
          </a:prstGeom>
        </p:spPr>
      </p:pic>
      <p:sp>
        <p:nvSpPr>
          <p:cNvPr id="17" name="Text 12"/>
          <p:cNvSpPr txBox="1"/>
          <p:nvPr/>
        </p:nvSpPr>
        <p:spPr>
          <a:xfrm>
            <a:off x="4425696" y="3154680"/>
            <a:ext cx="1426464" cy="822960"/>
          </a:xfrm>
          <a:prstGeom prst="rect">
            <a:avLst/>
          </a:prstGeom>
          <a:noFill/>
          <a:ln/>
        </p:spPr>
        <p:txBody>
          <a:bodyPr wrap="square" lIns="0" tIns="0" rIns="0" bIns="0" rtlCol="0" anchor="t"/>
          <a:lstStyle/>
          <a:p>
            <a:pPr algn="ctr" indent="0" marL="0">
              <a:buNone/>
            </a:pPr>
            <a:r>
              <a:rPr lang="en-US" sz="1500" b="1" dirty="0">
                <a:solidFill>
                  <a:schemeClr val="tx2"/>
                </a:solidFill>
              </a:rPr>
              <a:t>Student asks a question</a:t>
            </a:r>
            <a:endParaRPr lang="en-US" sz="1500" dirty="0"/>
          </a:p>
        </p:txBody>
      </p:sp>
      <p:sp>
        <p:nvSpPr>
          <p:cNvPr id="18" name="Shape 13"/>
          <p:cNvSpPr/>
          <p:nvPr/>
        </p:nvSpPr>
        <p:spPr>
          <a:xfrm>
            <a:off x="5989320" y="3035808"/>
            <a:ext cx="182880" cy="0"/>
          </a:xfrm>
          <a:prstGeom prst="line">
            <a:avLst/>
          </a:prstGeom>
          <a:noFill/>
          <a:ln w="25400">
            <a:solidFill>
              <a:schemeClr val="accent6"/>
            </a:solidFill>
            <a:prstDash val="solid"/>
            <a:tailEnd type="triangle"/>
          </a:ln>
        </p:spPr>
      </p:sp>
      <p:sp>
        <p:nvSpPr>
          <p:cNvPr id="19" name="Shape 14"/>
          <p:cNvSpPr/>
          <p:nvPr/>
        </p:nvSpPr>
        <p:spPr>
          <a:xfrm>
            <a:off x="6199632" y="1965960"/>
            <a:ext cx="1645920" cy="2148840"/>
          </a:xfrm>
          <a:prstGeom prst="roundRect">
            <a:avLst>
              <a:gd name="adj" fmla="val 6667"/>
            </a:avLst>
          </a:prstGeom>
          <a:solidFill>
            <a:schemeClr val="bg2"/>
          </a:solidFill>
          <a:ln/>
        </p:spPr>
      </p:sp>
      <p:sp>
        <p:nvSpPr>
          <p:cNvPr id="20" name="Shape 15"/>
          <p:cNvSpPr/>
          <p:nvPr/>
        </p:nvSpPr>
        <p:spPr>
          <a:xfrm>
            <a:off x="6656832" y="2240280"/>
            <a:ext cx="731520" cy="731520"/>
          </a:xfrm>
          <a:prstGeom prst="ellipse">
            <a:avLst/>
          </a:prstGeom>
          <a:solidFill>
            <a:srgbClr val="2E7BDB"/>
          </a:solidFill>
          <a:ln/>
        </p:spPr>
      </p:sp>
      <p:pic>
        <p:nvPicPr>
          <p:cNvPr id="21" name="Image 3" descr="preencoded.png">    </p:cNvPr>
          <p:cNvPicPr>
            <a:picLocks noChangeAspect="1"/>
          </p:cNvPicPr>
          <p:nvPr/>
        </p:nvPicPr>
        <p:blipFill>
          <a:blip r:embed="rId4"/>
          <a:stretch>
            <a:fillRect/>
          </a:stretch>
        </p:blipFill>
        <p:spPr>
          <a:xfrm>
            <a:off x="6854342" y="2437790"/>
            <a:ext cx="336499" cy="336499"/>
          </a:xfrm>
          <a:prstGeom prst="rect">
            <a:avLst/>
          </a:prstGeom>
        </p:spPr>
      </p:pic>
      <p:sp>
        <p:nvSpPr>
          <p:cNvPr id="22" name="Text 16"/>
          <p:cNvSpPr txBox="1"/>
          <p:nvPr/>
        </p:nvSpPr>
        <p:spPr>
          <a:xfrm>
            <a:off x="6309360" y="3154680"/>
            <a:ext cx="1426464" cy="822960"/>
          </a:xfrm>
          <a:prstGeom prst="rect">
            <a:avLst/>
          </a:prstGeom>
          <a:noFill/>
          <a:ln/>
        </p:spPr>
        <p:txBody>
          <a:bodyPr wrap="square" lIns="0" tIns="0" rIns="0" bIns="0" rtlCol="0" anchor="t"/>
          <a:lstStyle/>
          <a:p>
            <a:pPr algn="ctr" indent="0" marL="0">
              <a:buNone/>
            </a:pPr>
            <a:r>
              <a:rPr lang="en-US" sz="1500" b="1" dirty="0">
                <a:solidFill>
                  <a:schemeClr val="tx2"/>
                </a:solidFill>
              </a:rPr>
              <a:t>Find the relevant passages</a:t>
            </a:r>
            <a:endParaRPr lang="en-US" sz="1500" dirty="0"/>
          </a:p>
        </p:txBody>
      </p:sp>
      <p:sp>
        <p:nvSpPr>
          <p:cNvPr id="23" name="Shape 17"/>
          <p:cNvSpPr/>
          <p:nvPr/>
        </p:nvSpPr>
        <p:spPr>
          <a:xfrm>
            <a:off x="7872984" y="3035808"/>
            <a:ext cx="182880" cy="0"/>
          </a:xfrm>
          <a:prstGeom prst="line">
            <a:avLst/>
          </a:prstGeom>
          <a:noFill/>
          <a:ln w="25400">
            <a:solidFill>
              <a:schemeClr val="accent6"/>
            </a:solidFill>
            <a:prstDash val="solid"/>
            <a:tailEnd type="triangle"/>
          </a:ln>
        </p:spPr>
      </p:sp>
      <p:sp>
        <p:nvSpPr>
          <p:cNvPr id="24" name="Shape 18"/>
          <p:cNvSpPr/>
          <p:nvPr/>
        </p:nvSpPr>
        <p:spPr>
          <a:xfrm>
            <a:off x="8083296" y="1965960"/>
            <a:ext cx="1645920" cy="2148840"/>
          </a:xfrm>
          <a:prstGeom prst="roundRect">
            <a:avLst>
              <a:gd name="adj" fmla="val 6667"/>
            </a:avLst>
          </a:prstGeom>
          <a:solidFill>
            <a:srgbClr val="ECEAFD"/>
          </a:solidFill>
          <a:ln w="25400">
            <a:solidFill>
              <a:srgbClr val="5B4FE0"/>
            </a:solidFill>
            <a:prstDash val="solid"/>
          </a:ln>
        </p:spPr>
      </p:sp>
      <p:sp>
        <p:nvSpPr>
          <p:cNvPr id="25" name="Shape 19"/>
          <p:cNvSpPr/>
          <p:nvPr/>
        </p:nvSpPr>
        <p:spPr>
          <a:xfrm>
            <a:off x="8540496" y="2240280"/>
            <a:ext cx="731520" cy="731520"/>
          </a:xfrm>
          <a:prstGeom prst="ellipse">
            <a:avLst/>
          </a:prstGeom>
          <a:solidFill>
            <a:srgbClr val="5B4FE0"/>
          </a:solidFill>
          <a:ln/>
        </p:spPr>
      </p:sp>
      <p:pic>
        <p:nvPicPr>
          <p:cNvPr id="26" name="Image 4" descr="preencoded.png">    </p:cNvPr>
          <p:cNvPicPr>
            <a:picLocks noChangeAspect="1"/>
          </p:cNvPicPr>
          <p:nvPr/>
        </p:nvPicPr>
        <p:blipFill>
          <a:blip r:embed="rId5"/>
          <a:stretch>
            <a:fillRect/>
          </a:stretch>
        </p:blipFill>
        <p:spPr>
          <a:xfrm>
            <a:off x="8738006" y="2437790"/>
            <a:ext cx="336499" cy="336499"/>
          </a:xfrm>
          <a:prstGeom prst="rect">
            <a:avLst/>
          </a:prstGeom>
        </p:spPr>
      </p:pic>
      <p:sp>
        <p:nvSpPr>
          <p:cNvPr id="27" name="Text 20"/>
          <p:cNvSpPr txBox="1"/>
          <p:nvPr/>
        </p:nvSpPr>
        <p:spPr>
          <a:xfrm>
            <a:off x="8193024" y="3154680"/>
            <a:ext cx="1426464" cy="822960"/>
          </a:xfrm>
          <a:prstGeom prst="rect">
            <a:avLst/>
          </a:prstGeom>
          <a:noFill/>
          <a:ln/>
        </p:spPr>
        <p:txBody>
          <a:bodyPr wrap="square" lIns="0" tIns="0" rIns="0" bIns="0" rtlCol="0" anchor="t"/>
          <a:lstStyle/>
          <a:p>
            <a:pPr algn="ctr" indent="0" marL="0">
              <a:buNone/>
            </a:pPr>
            <a:r>
              <a:rPr lang="en-US" sz="1500" b="1" dirty="0">
                <a:solidFill>
                  <a:schemeClr val="accent1"/>
                </a:solidFill>
              </a:rPr>
              <a:t>AI writes using only those</a:t>
            </a:r>
            <a:endParaRPr lang="en-US" sz="1500" dirty="0"/>
          </a:p>
        </p:txBody>
      </p:sp>
      <p:sp>
        <p:nvSpPr>
          <p:cNvPr id="28" name="Shape 21"/>
          <p:cNvSpPr/>
          <p:nvPr/>
        </p:nvSpPr>
        <p:spPr>
          <a:xfrm>
            <a:off x="9756648" y="3035808"/>
            <a:ext cx="182880" cy="0"/>
          </a:xfrm>
          <a:prstGeom prst="line">
            <a:avLst/>
          </a:prstGeom>
          <a:noFill/>
          <a:ln w="25400">
            <a:solidFill>
              <a:schemeClr val="accent6"/>
            </a:solidFill>
            <a:prstDash val="solid"/>
            <a:tailEnd type="triangle"/>
          </a:ln>
        </p:spPr>
      </p:sp>
      <p:sp>
        <p:nvSpPr>
          <p:cNvPr id="29" name="Shape 22"/>
          <p:cNvSpPr/>
          <p:nvPr/>
        </p:nvSpPr>
        <p:spPr>
          <a:xfrm>
            <a:off x="9966960" y="1965960"/>
            <a:ext cx="1645920" cy="2148840"/>
          </a:xfrm>
          <a:prstGeom prst="roundRect">
            <a:avLst>
              <a:gd name="adj" fmla="val 6667"/>
            </a:avLst>
          </a:prstGeom>
          <a:solidFill>
            <a:schemeClr val="bg2"/>
          </a:solidFill>
          <a:ln/>
        </p:spPr>
      </p:sp>
      <p:sp>
        <p:nvSpPr>
          <p:cNvPr id="30" name="Shape 23"/>
          <p:cNvSpPr/>
          <p:nvPr/>
        </p:nvSpPr>
        <p:spPr>
          <a:xfrm>
            <a:off x="10424160" y="2240280"/>
            <a:ext cx="731520" cy="731520"/>
          </a:xfrm>
          <a:prstGeom prst="ellipse">
            <a:avLst/>
          </a:prstGeom>
          <a:solidFill>
            <a:srgbClr val="13976B"/>
          </a:solidFill>
          <a:ln/>
        </p:spPr>
      </p:sp>
      <p:pic>
        <p:nvPicPr>
          <p:cNvPr id="31" name="Image 5" descr="preencoded.png">    </p:cNvPr>
          <p:cNvPicPr>
            <a:picLocks noChangeAspect="1"/>
          </p:cNvPicPr>
          <p:nvPr/>
        </p:nvPicPr>
        <p:blipFill>
          <a:blip r:embed="rId6"/>
          <a:stretch>
            <a:fillRect/>
          </a:stretch>
        </p:blipFill>
        <p:spPr>
          <a:xfrm>
            <a:off x="10621670" y="2437790"/>
            <a:ext cx="336499" cy="336499"/>
          </a:xfrm>
          <a:prstGeom prst="rect">
            <a:avLst/>
          </a:prstGeom>
        </p:spPr>
      </p:pic>
      <p:sp>
        <p:nvSpPr>
          <p:cNvPr id="32" name="Text 24"/>
          <p:cNvSpPr txBox="1"/>
          <p:nvPr/>
        </p:nvSpPr>
        <p:spPr>
          <a:xfrm>
            <a:off x="10076688" y="3154680"/>
            <a:ext cx="1426464" cy="822960"/>
          </a:xfrm>
          <a:prstGeom prst="rect">
            <a:avLst/>
          </a:prstGeom>
          <a:noFill/>
          <a:ln/>
        </p:spPr>
        <p:txBody>
          <a:bodyPr wrap="square" lIns="0" tIns="0" rIns="0" bIns="0" rtlCol="0" anchor="t"/>
          <a:lstStyle/>
          <a:p>
            <a:pPr algn="ctr" indent="0" marL="0">
              <a:buNone/>
            </a:pPr>
            <a:r>
              <a:rPr lang="en-US" sz="1500" b="1" dirty="0">
                <a:solidFill>
                  <a:schemeClr val="tx2"/>
                </a:solidFill>
              </a:rPr>
              <a:t>Answer + source</a:t>
            </a:r>
            <a:endParaRPr lang="en-US" sz="1500" dirty="0"/>
          </a:p>
        </p:txBody>
      </p:sp>
      <p:sp>
        <p:nvSpPr>
          <p:cNvPr id="33" name="Shape 25"/>
          <p:cNvSpPr/>
          <p:nvPr/>
        </p:nvSpPr>
        <p:spPr>
          <a:xfrm>
            <a:off x="548640" y="4526280"/>
            <a:ext cx="5349240" cy="1417320"/>
          </a:xfrm>
          <a:prstGeom prst="roundRect">
            <a:avLst>
              <a:gd name="adj" fmla="val 7742"/>
            </a:avLst>
          </a:prstGeom>
          <a:solidFill>
            <a:schemeClr val="bg2"/>
          </a:solidFill>
          <a:ln/>
        </p:spPr>
      </p:sp>
      <p:sp>
        <p:nvSpPr>
          <p:cNvPr id="34" name="Text 26"/>
          <p:cNvSpPr txBox="1"/>
          <p:nvPr/>
        </p:nvSpPr>
        <p:spPr>
          <a:xfrm>
            <a:off x="777240" y="4663440"/>
            <a:ext cx="4937760" cy="1188720"/>
          </a:xfrm>
          <a:prstGeom prst="rect">
            <a:avLst/>
          </a:prstGeom>
          <a:noFill/>
          <a:ln/>
        </p:spPr>
        <p:txBody>
          <a:bodyPr wrap="square" lIns="0" tIns="0" rIns="0" bIns="0" rtlCol="0" anchor="t"/>
          <a:lstStyle/>
          <a:p>
            <a:pPr algn="l" indent="0" marL="0">
              <a:spcAft>
                <a:spcPts val="400"/>
              </a:spcAft>
              <a:buNone/>
            </a:pPr>
            <a:r>
              <a:rPr lang="en-US" sz="1500" b="1" dirty="0">
                <a:solidFill>
                  <a:schemeClr val="tx2"/>
                </a:solidFill>
              </a:rPr>
              <a:t>Before answering</a:t>
            </a:r>
            <a:endParaRPr lang="en-US" sz="1500" dirty="0"/>
          </a:p>
          <a:p>
            <a:pPr algn="l" indent="0" marL="0">
              <a:spcAft>
                <a:spcPts val="400"/>
              </a:spcAft>
              <a:buNone/>
            </a:pPr>
            <a:r>
              <a:rPr lang="en-US" sz="1500" dirty="0">
                <a:solidFill>
                  <a:schemeClr val="tx1"/>
                </a:solidFill>
              </a:rPr>
              <a:t>Relevant university policies are found first. The AI only sees those passages.</a:t>
            </a:r>
            <a:endParaRPr lang="en-US" sz="1500" dirty="0"/>
          </a:p>
        </p:txBody>
      </p:sp>
      <p:sp>
        <p:nvSpPr>
          <p:cNvPr id="35" name="Shape 27"/>
          <p:cNvSpPr/>
          <p:nvPr/>
        </p:nvSpPr>
        <p:spPr>
          <a:xfrm>
            <a:off x="6263640" y="4526280"/>
            <a:ext cx="5349240" cy="1417320"/>
          </a:xfrm>
          <a:prstGeom prst="roundRect">
            <a:avLst>
              <a:gd name="adj" fmla="val 7742"/>
            </a:avLst>
          </a:prstGeom>
          <a:solidFill>
            <a:schemeClr val="bg2"/>
          </a:solidFill>
          <a:ln/>
        </p:spPr>
      </p:sp>
      <p:sp>
        <p:nvSpPr>
          <p:cNvPr id="36" name="Text 28"/>
          <p:cNvSpPr txBox="1"/>
          <p:nvPr/>
        </p:nvSpPr>
        <p:spPr>
          <a:xfrm>
            <a:off x="6492240" y="4663440"/>
            <a:ext cx="4937760" cy="1188720"/>
          </a:xfrm>
          <a:prstGeom prst="rect">
            <a:avLst/>
          </a:prstGeom>
          <a:noFill/>
          <a:ln/>
        </p:spPr>
        <p:txBody>
          <a:bodyPr wrap="square" lIns="0" tIns="0" rIns="0" bIns="0" rtlCol="0" anchor="t"/>
          <a:lstStyle/>
          <a:p>
            <a:pPr algn="l" indent="0" marL="0">
              <a:spcAft>
                <a:spcPts val="400"/>
              </a:spcAft>
              <a:buNone/>
            </a:pPr>
            <a:r>
              <a:rPr lang="en-US" sz="1500" b="1" dirty="0">
                <a:solidFill>
                  <a:schemeClr val="tx2"/>
                </a:solidFill>
              </a:rPr>
              <a:t>Nothing relevant?</a:t>
            </a:r>
            <a:endParaRPr lang="en-US" sz="1500" dirty="0"/>
          </a:p>
          <a:p>
            <a:pPr algn="l" indent="0" marL="0">
              <a:spcAft>
                <a:spcPts val="400"/>
              </a:spcAft>
              <a:buNone/>
            </a:pPr>
            <a:r>
              <a:rPr lang="en-US" sz="1500" dirty="0">
                <a:solidFill>
                  <a:schemeClr val="tx1"/>
                </a:solidFill>
              </a:rPr>
              <a:t>It says: “I could not find this information in the authorised university sources.”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Personalized Answers</a:t>
            </a:r>
            <a:endParaRPr lang="en-US" sz="3400" dirty="0"/>
          </a:p>
        </p:txBody>
      </p:sp>
      <p:sp>
        <p:nvSpPr>
          <p:cNvPr id="3" name="Shape 1"/>
          <p:cNvSpPr/>
          <p:nvPr/>
        </p:nvSpPr>
        <p:spPr>
          <a:xfrm>
            <a:off x="548640" y="1280160"/>
            <a:ext cx="4023360" cy="4434840"/>
          </a:xfrm>
          <a:prstGeom prst="roundRect">
            <a:avLst>
              <a:gd name="adj" fmla="val 2727"/>
            </a:avLst>
          </a:prstGeom>
          <a:solidFill>
            <a:schemeClr val="bg2"/>
          </a:solidFill>
          <a:ln/>
        </p:spPr>
      </p:sp>
      <p:sp>
        <p:nvSpPr>
          <p:cNvPr id="4" name="Text 2"/>
          <p:cNvSpPr txBox="1"/>
          <p:nvPr/>
        </p:nvSpPr>
        <p:spPr>
          <a:xfrm>
            <a:off x="777240" y="1463040"/>
            <a:ext cx="3566160" cy="777240"/>
          </a:xfrm>
          <a:prstGeom prst="rect">
            <a:avLst/>
          </a:prstGeom>
          <a:noFill/>
          <a:ln/>
        </p:spPr>
        <p:txBody>
          <a:bodyPr wrap="square" lIns="0" tIns="0" rIns="0" bIns="0" rtlCol="0" anchor="t"/>
          <a:lstStyle/>
          <a:p>
            <a:pPr algn="l" indent="0" marL="0">
              <a:buNone/>
            </a:pPr>
            <a:r>
              <a:rPr lang="en-US" sz="1500" b="1" dirty="0">
                <a:solidFill>
                  <a:schemeClr val="tx2"/>
                </a:solidFill>
              </a:rPr>
              <a:t>For “Am I eligible for the CS201 exam?” the system checks:</a:t>
            </a:r>
            <a:endParaRPr lang="en-US" sz="1500" dirty="0"/>
          </a:p>
        </p:txBody>
      </p:sp>
      <p:sp>
        <p:nvSpPr>
          <p:cNvPr id="5" name="Shape 3"/>
          <p:cNvSpPr/>
          <p:nvPr/>
        </p:nvSpPr>
        <p:spPr>
          <a:xfrm>
            <a:off x="777240" y="2423160"/>
            <a:ext cx="502920" cy="502920"/>
          </a:xfrm>
          <a:prstGeom prst="ellipse">
            <a:avLst/>
          </a:prstGeom>
          <a:solidFill>
            <a:srgbClr val="1C2457"/>
          </a:solidFill>
          <a:ln/>
        </p:spPr>
      </p:sp>
      <p:pic>
        <p:nvPicPr>
          <p:cNvPr id="6" name="Image 0" descr="preencoded.png">    </p:cNvPr>
          <p:cNvPicPr>
            <a:picLocks noChangeAspect="1"/>
          </p:cNvPicPr>
          <p:nvPr/>
        </p:nvPicPr>
        <p:blipFill>
          <a:blip r:embed="rId1"/>
          <a:stretch>
            <a:fillRect/>
          </a:stretch>
        </p:blipFill>
        <p:spPr>
          <a:xfrm>
            <a:off x="913028" y="2558948"/>
            <a:ext cx="231343" cy="231343"/>
          </a:xfrm>
          <a:prstGeom prst="rect">
            <a:avLst/>
          </a:prstGeom>
        </p:spPr>
      </p:pic>
      <p:sp>
        <p:nvSpPr>
          <p:cNvPr id="7" name="Text 4"/>
          <p:cNvSpPr txBox="1"/>
          <p:nvPr/>
        </p:nvSpPr>
        <p:spPr>
          <a:xfrm>
            <a:off x="1463040" y="2423160"/>
            <a:ext cx="2926080" cy="502920"/>
          </a:xfrm>
          <a:prstGeom prst="rect">
            <a:avLst/>
          </a:prstGeom>
          <a:noFill/>
          <a:ln/>
        </p:spPr>
        <p:txBody>
          <a:bodyPr wrap="square" lIns="0" tIns="0" rIns="0" bIns="0" rtlCol="0" anchor="ctr"/>
          <a:lstStyle/>
          <a:p>
            <a:pPr algn="l" indent="0" marL="0">
              <a:buNone/>
            </a:pPr>
            <a:r>
              <a:rPr lang="en-US" sz="1600" dirty="0">
                <a:solidFill>
                  <a:schemeClr val="tx1"/>
                </a:solidFill>
              </a:rPr>
              <a:t>Who is logged in</a:t>
            </a:r>
            <a:endParaRPr lang="en-US" sz="1600" dirty="0"/>
          </a:p>
        </p:txBody>
      </p:sp>
      <p:sp>
        <p:nvSpPr>
          <p:cNvPr id="8" name="Shape 5"/>
          <p:cNvSpPr/>
          <p:nvPr/>
        </p:nvSpPr>
        <p:spPr>
          <a:xfrm>
            <a:off x="777240" y="3200400"/>
            <a:ext cx="502920" cy="502920"/>
          </a:xfrm>
          <a:prstGeom prst="ellipse">
            <a:avLst/>
          </a:prstGeom>
          <a:solidFill>
            <a:srgbClr val="1C2457"/>
          </a:solidFill>
          <a:ln/>
        </p:spPr>
      </p:sp>
      <p:pic>
        <p:nvPicPr>
          <p:cNvPr id="9" name="Image 1" descr="preencoded.png">    </p:cNvPr>
          <p:cNvPicPr>
            <a:picLocks noChangeAspect="1"/>
          </p:cNvPicPr>
          <p:nvPr/>
        </p:nvPicPr>
        <p:blipFill>
          <a:blip r:embed="rId2"/>
          <a:stretch>
            <a:fillRect/>
          </a:stretch>
        </p:blipFill>
        <p:spPr>
          <a:xfrm>
            <a:off x="913028" y="3336188"/>
            <a:ext cx="231343" cy="231343"/>
          </a:xfrm>
          <a:prstGeom prst="rect">
            <a:avLst/>
          </a:prstGeom>
        </p:spPr>
      </p:pic>
      <p:sp>
        <p:nvSpPr>
          <p:cNvPr id="10" name="Text 6"/>
          <p:cNvSpPr txBox="1"/>
          <p:nvPr/>
        </p:nvSpPr>
        <p:spPr>
          <a:xfrm>
            <a:off x="1463040" y="3200400"/>
            <a:ext cx="2926080" cy="502920"/>
          </a:xfrm>
          <a:prstGeom prst="rect">
            <a:avLst/>
          </a:prstGeom>
          <a:noFill/>
          <a:ln/>
        </p:spPr>
        <p:txBody>
          <a:bodyPr wrap="square" lIns="0" tIns="0" rIns="0" bIns="0" rtlCol="0" anchor="ctr"/>
          <a:lstStyle/>
          <a:p>
            <a:pPr algn="l" indent="0" marL="0">
              <a:buNone/>
            </a:pPr>
            <a:r>
              <a:rPr lang="en-US" sz="1600" dirty="0">
                <a:solidFill>
                  <a:schemeClr val="tx1"/>
                </a:solidFill>
              </a:rPr>
              <a:t>Their attendance</a:t>
            </a:r>
            <a:endParaRPr lang="en-US" sz="1600" dirty="0"/>
          </a:p>
        </p:txBody>
      </p:sp>
      <p:sp>
        <p:nvSpPr>
          <p:cNvPr id="11" name="Shape 7"/>
          <p:cNvSpPr/>
          <p:nvPr/>
        </p:nvSpPr>
        <p:spPr>
          <a:xfrm>
            <a:off x="777240" y="3977640"/>
            <a:ext cx="502920" cy="502920"/>
          </a:xfrm>
          <a:prstGeom prst="ellipse">
            <a:avLst/>
          </a:prstGeom>
          <a:solidFill>
            <a:srgbClr val="1C2457"/>
          </a:solidFill>
          <a:ln/>
        </p:spPr>
      </p:sp>
      <p:pic>
        <p:nvPicPr>
          <p:cNvPr id="12" name="Image 2" descr="preencoded.png">    </p:cNvPr>
          <p:cNvPicPr>
            <a:picLocks noChangeAspect="1"/>
          </p:cNvPicPr>
          <p:nvPr/>
        </p:nvPicPr>
        <p:blipFill>
          <a:blip r:embed="rId3"/>
          <a:stretch>
            <a:fillRect/>
          </a:stretch>
        </p:blipFill>
        <p:spPr>
          <a:xfrm>
            <a:off x="913028" y="4113428"/>
            <a:ext cx="231343" cy="231343"/>
          </a:xfrm>
          <a:prstGeom prst="rect">
            <a:avLst/>
          </a:prstGeom>
        </p:spPr>
      </p:pic>
      <p:sp>
        <p:nvSpPr>
          <p:cNvPr id="13" name="Text 8"/>
          <p:cNvSpPr txBox="1"/>
          <p:nvPr/>
        </p:nvSpPr>
        <p:spPr>
          <a:xfrm>
            <a:off x="1463040" y="3977640"/>
            <a:ext cx="2926080" cy="502920"/>
          </a:xfrm>
          <a:prstGeom prst="rect">
            <a:avLst/>
          </a:prstGeom>
          <a:noFill/>
          <a:ln/>
        </p:spPr>
        <p:txBody>
          <a:bodyPr wrap="square" lIns="0" tIns="0" rIns="0" bIns="0" rtlCol="0" anchor="ctr"/>
          <a:lstStyle/>
          <a:p>
            <a:pPr algn="l" indent="0" marL="0">
              <a:buNone/>
            </a:pPr>
            <a:r>
              <a:rPr lang="en-US" sz="1600" dirty="0">
                <a:solidFill>
                  <a:schemeClr val="tx1"/>
                </a:solidFill>
              </a:rPr>
              <a:t>Their academic record</a:t>
            </a:r>
            <a:endParaRPr lang="en-US" sz="1600" dirty="0"/>
          </a:p>
        </p:txBody>
      </p:sp>
      <p:sp>
        <p:nvSpPr>
          <p:cNvPr id="14" name="Shape 9"/>
          <p:cNvSpPr/>
          <p:nvPr/>
        </p:nvSpPr>
        <p:spPr>
          <a:xfrm>
            <a:off x="777240" y="4754880"/>
            <a:ext cx="502920" cy="502920"/>
          </a:xfrm>
          <a:prstGeom prst="ellipse">
            <a:avLst/>
          </a:prstGeom>
          <a:solidFill>
            <a:srgbClr val="1C2457"/>
          </a:solidFill>
          <a:ln/>
        </p:spPr>
      </p:sp>
      <p:pic>
        <p:nvPicPr>
          <p:cNvPr id="15" name="Image 3" descr="preencoded.png">    </p:cNvPr>
          <p:cNvPicPr>
            <a:picLocks noChangeAspect="1"/>
          </p:cNvPicPr>
          <p:nvPr/>
        </p:nvPicPr>
        <p:blipFill>
          <a:blip r:embed="rId4"/>
          <a:stretch>
            <a:fillRect/>
          </a:stretch>
        </p:blipFill>
        <p:spPr>
          <a:xfrm>
            <a:off x="913028" y="4890668"/>
            <a:ext cx="231343" cy="231343"/>
          </a:xfrm>
          <a:prstGeom prst="rect">
            <a:avLst/>
          </a:prstGeom>
        </p:spPr>
      </p:pic>
      <p:sp>
        <p:nvSpPr>
          <p:cNvPr id="16" name="Text 10"/>
          <p:cNvSpPr txBox="1"/>
          <p:nvPr/>
        </p:nvSpPr>
        <p:spPr>
          <a:xfrm>
            <a:off x="1463040" y="4754880"/>
            <a:ext cx="2926080" cy="502920"/>
          </a:xfrm>
          <a:prstGeom prst="rect">
            <a:avLst/>
          </a:prstGeom>
          <a:noFill/>
          <a:ln/>
        </p:spPr>
        <p:txBody>
          <a:bodyPr wrap="square" lIns="0" tIns="0" rIns="0" bIns="0" rtlCol="0" anchor="ctr"/>
          <a:lstStyle/>
          <a:p>
            <a:pPr algn="l" indent="0" marL="0">
              <a:buNone/>
            </a:pPr>
            <a:r>
              <a:rPr lang="en-US" sz="1600" dirty="0">
                <a:solidFill>
                  <a:schemeClr val="tx1"/>
                </a:solidFill>
              </a:rPr>
              <a:t>The rule that applies</a:t>
            </a:r>
            <a:endParaRPr lang="en-US" sz="1600" dirty="0"/>
          </a:p>
        </p:txBody>
      </p:sp>
      <p:sp>
        <p:nvSpPr>
          <p:cNvPr id="17" name="Shape 11"/>
          <p:cNvSpPr/>
          <p:nvPr/>
        </p:nvSpPr>
        <p:spPr>
          <a:xfrm>
            <a:off x="5029200" y="1280160"/>
            <a:ext cx="3108960" cy="3337560"/>
          </a:xfrm>
          <a:prstGeom prst="roundRect">
            <a:avLst>
              <a:gd name="adj" fmla="val 3529"/>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sp>
        <p:nvSpPr>
          <p:cNvPr id="18" name="Shape 12"/>
          <p:cNvSpPr/>
          <p:nvPr/>
        </p:nvSpPr>
        <p:spPr>
          <a:xfrm>
            <a:off x="5257800" y="1508760"/>
            <a:ext cx="594360" cy="594360"/>
          </a:xfrm>
          <a:prstGeom prst="ellipse">
            <a:avLst/>
          </a:prstGeom>
          <a:solidFill>
            <a:srgbClr val="2E7BDB"/>
          </a:solidFill>
          <a:ln/>
        </p:spPr>
      </p:sp>
      <p:pic>
        <p:nvPicPr>
          <p:cNvPr id="19" name="Image 4" descr="preencoded.png">    </p:cNvPr>
          <p:cNvPicPr>
            <a:picLocks noChangeAspect="1"/>
          </p:cNvPicPr>
          <p:nvPr/>
        </p:nvPicPr>
        <p:blipFill>
          <a:blip r:embed="rId5"/>
          <a:stretch>
            <a:fillRect/>
          </a:stretch>
        </p:blipFill>
        <p:spPr>
          <a:xfrm>
            <a:off x="5418277" y="1669237"/>
            <a:ext cx="273406" cy="273406"/>
          </a:xfrm>
          <a:prstGeom prst="rect">
            <a:avLst/>
          </a:prstGeom>
        </p:spPr>
      </p:pic>
      <p:sp>
        <p:nvSpPr>
          <p:cNvPr id="20" name="Text 13"/>
          <p:cNvSpPr txBox="1"/>
          <p:nvPr/>
        </p:nvSpPr>
        <p:spPr>
          <a:xfrm>
            <a:off x="5989320" y="1508760"/>
            <a:ext cx="2011680" cy="594360"/>
          </a:xfrm>
          <a:prstGeom prst="rect">
            <a:avLst/>
          </a:prstGeom>
          <a:noFill/>
          <a:ln/>
        </p:spPr>
        <p:txBody>
          <a:bodyPr wrap="square" lIns="0" tIns="0" rIns="0" bIns="0" rtlCol="0" anchor="ctr"/>
          <a:lstStyle/>
          <a:p>
            <a:pPr algn="l" indent="0" marL="0">
              <a:buNone/>
            </a:pPr>
            <a:r>
              <a:rPr lang="en-US" sz="1700" b="1" dirty="0">
                <a:solidFill>
                  <a:schemeClr val="tx2"/>
                </a:solidFill>
              </a:rPr>
              <a:t>Student S1001</a:t>
            </a:r>
            <a:endParaRPr lang="en-US" sz="1700" dirty="0"/>
          </a:p>
        </p:txBody>
      </p:sp>
      <p:sp>
        <p:nvSpPr>
          <p:cNvPr id="21" name="Text 14"/>
          <p:cNvSpPr txBox="1"/>
          <p:nvPr/>
        </p:nvSpPr>
        <p:spPr>
          <a:xfrm>
            <a:off x="5257800" y="2286000"/>
            <a:ext cx="2651760" cy="822960"/>
          </a:xfrm>
          <a:prstGeom prst="rect">
            <a:avLst/>
          </a:prstGeom>
          <a:noFill/>
          <a:ln/>
        </p:spPr>
        <p:txBody>
          <a:bodyPr wrap="square" lIns="0" tIns="0" rIns="0" bIns="0" rtlCol="0" anchor="t"/>
          <a:lstStyle/>
          <a:p>
            <a:pPr algn="l" indent="0" marL="0">
              <a:buNone/>
            </a:pPr>
            <a:r>
              <a:rPr lang="en-US" sz="4400" b="1" dirty="0">
                <a:solidFill>
                  <a:schemeClr val="tx1"/>
                </a:solidFill>
              </a:rPr>
              <a:t>80%</a:t>
            </a:r>
            <a:endParaRPr lang="en-US" sz="4400" dirty="0"/>
          </a:p>
        </p:txBody>
      </p:sp>
      <p:sp>
        <p:nvSpPr>
          <p:cNvPr id="22" name="Text 15"/>
          <p:cNvSpPr txBox="1"/>
          <p:nvPr/>
        </p:nvSpPr>
        <p:spPr>
          <a:xfrm>
            <a:off x="5257800" y="3108960"/>
            <a:ext cx="2651760" cy="365760"/>
          </a:xfrm>
          <a:prstGeom prst="rect">
            <a:avLst/>
          </a:prstGeom>
          <a:noFill/>
          <a:ln/>
        </p:spPr>
        <p:txBody>
          <a:bodyPr wrap="square" lIns="0" tIns="0" rIns="0" bIns="0" rtlCol="0" anchor="t"/>
          <a:lstStyle/>
          <a:p>
            <a:pPr algn="l" indent="0" marL="0">
              <a:buNone/>
            </a:pPr>
            <a:r>
              <a:rPr lang="en-US" sz="1400" dirty="0">
                <a:solidFill>
                  <a:schemeClr val="accent6"/>
                </a:solidFill>
              </a:rPr>
              <a:t>attendance · 32 of 40 classes</a:t>
            </a:r>
            <a:endParaRPr lang="en-US" sz="1400" dirty="0"/>
          </a:p>
        </p:txBody>
      </p:sp>
      <p:sp>
        <p:nvSpPr>
          <p:cNvPr id="23" name="Shape 16"/>
          <p:cNvSpPr/>
          <p:nvPr/>
        </p:nvSpPr>
        <p:spPr>
          <a:xfrm>
            <a:off x="5257800" y="3703320"/>
            <a:ext cx="2651760" cy="594360"/>
          </a:xfrm>
          <a:prstGeom prst="roundRect">
            <a:avLst>
              <a:gd name="adj" fmla="val 24615"/>
            </a:avLst>
          </a:prstGeom>
          <a:solidFill>
            <a:srgbClr val="E5F5EE"/>
          </a:solidFill>
          <a:ln/>
        </p:spPr>
      </p:sp>
      <p:sp>
        <p:nvSpPr>
          <p:cNvPr id="24" name="Text 17"/>
          <p:cNvSpPr txBox="1"/>
          <p:nvPr/>
        </p:nvSpPr>
        <p:spPr>
          <a:xfrm>
            <a:off x="5257800" y="3703320"/>
            <a:ext cx="2651760" cy="594360"/>
          </a:xfrm>
          <a:prstGeom prst="rect">
            <a:avLst/>
          </a:prstGeom>
          <a:noFill/>
          <a:ln/>
        </p:spPr>
        <p:txBody>
          <a:bodyPr wrap="square" lIns="0" tIns="0" rIns="0" bIns="0" rtlCol="0" anchor="ctr"/>
          <a:lstStyle/>
          <a:p>
            <a:pPr algn="ctr" indent="0" marL="0">
              <a:buNone/>
            </a:pPr>
            <a:r>
              <a:rPr lang="en-US" sz="1800" b="1" dirty="0">
                <a:solidFill>
                  <a:srgbClr val="13976B"/>
                </a:solidFill>
              </a:rPr>
              <a:t>Eligible</a:t>
            </a:r>
            <a:endParaRPr lang="en-US" sz="1800" dirty="0"/>
          </a:p>
        </p:txBody>
      </p:sp>
      <p:sp>
        <p:nvSpPr>
          <p:cNvPr id="25" name="Shape 18"/>
          <p:cNvSpPr/>
          <p:nvPr/>
        </p:nvSpPr>
        <p:spPr>
          <a:xfrm>
            <a:off x="8412480" y="1280160"/>
            <a:ext cx="3108960" cy="3337560"/>
          </a:xfrm>
          <a:prstGeom prst="roundRect">
            <a:avLst>
              <a:gd name="adj" fmla="val 3529"/>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sp>
        <p:nvSpPr>
          <p:cNvPr id="26" name="Shape 19"/>
          <p:cNvSpPr/>
          <p:nvPr/>
        </p:nvSpPr>
        <p:spPr>
          <a:xfrm>
            <a:off x="8641080" y="1508760"/>
            <a:ext cx="594360" cy="594360"/>
          </a:xfrm>
          <a:prstGeom prst="ellipse">
            <a:avLst/>
          </a:prstGeom>
          <a:solidFill>
            <a:srgbClr val="2E7BDB"/>
          </a:solidFill>
          <a:ln/>
        </p:spPr>
      </p:sp>
      <p:pic>
        <p:nvPicPr>
          <p:cNvPr id="27" name="Image 5" descr="preencoded.png">    </p:cNvPr>
          <p:cNvPicPr>
            <a:picLocks noChangeAspect="1"/>
          </p:cNvPicPr>
          <p:nvPr/>
        </p:nvPicPr>
        <p:blipFill>
          <a:blip r:embed="rId6"/>
          <a:stretch>
            <a:fillRect/>
          </a:stretch>
        </p:blipFill>
        <p:spPr>
          <a:xfrm>
            <a:off x="8801557" y="1669237"/>
            <a:ext cx="273406" cy="273406"/>
          </a:xfrm>
          <a:prstGeom prst="rect">
            <a:avLst/>
          </a:prstGeom>
        </p:spPr>
      </p:pic>
      <p:sp>
        <p:nvSpPr>
          <p:cNvPr id="28" name="Text 20"/>
          <p:cNvSpPr txBox="1"/>
          <p:nvPr/>
        </p:nvSpPr>
        <p:spPr>
          <a:xfrm>
            <a:off x="9372600" y="1508760"/>
            <a:ext cx="2011680" cy="594360"/>
          </a:xfrm>
          <a:prstGeom prst="rect">
            <a:avLst/>
          </a:prstGeom>
          <a:noFill/>
          <a:ln/>
        </p:spPr>
        <p:txBody>
          <a:bodyPr wrap="square" lIns="0" tIns="0" rIns="0" bIns="0" rtlCol="0" anchor="ctr"/>
          <a:lstStyle/>
          <a:p>
            <a:pPr algn="l" indent="0" marL="0">
              <a:buNone/>
            </a:pPr>
            <a:r>
              <a:rPr lang="en-US" sz="1700" b="1" dirty="0">
                <a:solidFill>
                  <a:schemeClr val="tx2"/>
                </a:solidFill>
              </a:rPr>
              <a:t>Student S1002</a:t>
            </a:r>
            <a:endParaRPr lang="en-US" sz="1700" dirty="0"/>
          </a:p>
        </p:txBody>
      </p:sp>
      <p:sp>
        <p:nvSpPr>
          <p:cNvPr id="29" name="Text 21"/>
          <p:cNvSpPr txBox="1"/>
          <p:nvPr/>
        </p:nvSpPr>
        <p:spPr>
          <a:xfrm>
            <a:off x="8641080" y="2286000"/>
            <a:ext cx="2651760" cy="822960"/>
          </a:xfrm>
          <a:prstGeom prst="rect">
            <a:avLst/>
          </a:prstGeom>
          <a:noFill/>
          <a:ln/>
        </p:spPr>
        <p:txBody>
          <a:bodyPr wrap="square" lIns="0" tIns="0" rIns="0" bIns="0" rtlCol="0" anchor="t"/>
          <a:lstStyle/>
          <a:p>
            <a:pPr algn="l" indent="0" marL="0">
              <a:buNone/>
            </a:pPr>
            <a:r>
              <a:rPr lang="en-US" sz="4400" b="1" dirty="0">
                <a:solidFill>
                  <a:schemeClr val="tx1"/>
                </a:solidFill>
              </a:rPr>
              <a:t>77.5%</a:t>
            </a:r>
            <a:endParaRPr lang="en-US" sz="4400" dirty="0"/>
          </a:p>
        </p:txBody>
      </p:sp>
      <p:sp>
        <p:nvSpPr>
          <p:cNvPr id="30" name="Text 22"/>
          <p:cNvSpPr txBox="1"/>
          <p:nvPr/>
        </p:nvSpPr>
        <p:spPr>
          <a:xfrm>
            <a:off x="8641080" y="3108960"/>
            <a:ext cx="2651760" cy="365760"/>
          </a:xfrm>
          <a:prstGeom prst="rect">
            <a:avLst/>
          </a:prstGeom>
          <a:noFill/>
          <a:ln/>
        </p:spPr>
        <p:txBody>
          <a:bodyPr wrap="square" lIns="0" tIns="0" rIns="0" bIns="0" rtlCol="0" anchor="t"/>
          <a:lstStyle/>
          <a:p>
            <a:pPr algn="l" indent="0" marL="0">
              <a:buNone/>
            </a:pPr>
            <a:r>
              <a:rPr lang="en-US" sz="1400" dirty="0">
                <a:solidFill>
                  <a:schemeClr val="accent6"/>
                </a:solidFill>
              </a:rPr>
              <a:t>attendance · 31 of 40 classes</a:t>
            </a:r>
            <a:endParaRPr lang="en-US" sz="1400" dirty="0"/>
          </a:p>
        </p:txBody>
      </p:sp>
      <p:sp>
        <p:nvSpPr>
          <p:cNvPr id="31" name="Shape 23"/>
          <p:cNvSpPr/>
          <p:nvPr/>
        </p:nvSpPr>
        <p:spPr>
          <a:xfrm>
            <a:off x="8641080" y="3703320"/>
            <a:ext cx="2651760" cy="594360"/>
          </a:xfrm>
          <a:prstGeom prst="roundRect">
            <a:avLst>
              <a:gd name="adj" fmla="val 24615"/>
            </a:avLst>
          </a:prstGeom>
          <a:solidFill>
            <a:srgbClr val="FCECEC"/>
          </a:solidFill>
          <a:ln/>
        </p:spPr>
      </p:sp>
      <p:sp>
        <p:nvSpPr>
          <p:cNvPr id="32" name="Text 24"/>
          <p:cNvSpPr txBox="1"/>
          <p:nvPr/>
        </p:nvSpPr>
        <p:spPr>
          <a:xfrm>
            <a:off x="8641080" y="3703320"/>
            <a:ext cx="2651760" cy="594360"/>
          </a:xfrm>
          <a:prstGeom prst="rect">
            <a:avLst/>
          </a:prstGeom>
          <a:noFill/>
          <a:ln/>
        </p:spPr>
        <p:txBody>
          <a:bodyPr wrap="square" lIns="0" tIns="0" rIns="0" bIns="0" rtlCol="0" anchor="ctr"/>
          <a:lstStyle/>
          <a:p>
            <a:pPr algn="ctr" indent="0" marL="0">
              <a:buNone/>
            </a:pPr>
            <a:r>
              <a:rPr lang="en-US" sz="1800" b="1" dirty="0">
                <a:solidFill>
                  <a:srgbClr val="D64545"/>
                </a:solidFill>
              </a:rPr>
              <a:t>Not eligible</a:t>
            </a:r>
            <a:endParaRPr lang="en-US" sz="1800" dirty="0"/>
          </a:p>
        </p:txBody>
      </p:sp>
      <p:sp>
        <p:nvSpPr>
          <p:cNvPr id="33" name="Shape 25"/>
          <p:cNvSpPr/>
          <p:nvPr/>
        </p:nvSpPr>
        <p:spPr>
          <a:xfrm>
            <a:off x="5029200" y="4892040"/>
            <a:ext cx="6492240" cy="822960"/>
          </a:xfrm>
          <a:prstGeom prst="roundRect">
            <a:avLst>
              <a:gd name="adj" fmla="val 13333"/>
            </a:avLst>
          </a:prstGeom>
          <a:solidFill>
            <a:schemeClr val="bg2"/>
          </a:solidFill>
          <a:ln/>
        </p:spPr>
      </p:sp>
      <p:pic>
        <p:nvPicPr>
          <p:cNvPr id="34" name="Image 6" descr="preencoded.png">    </p:cNvPr>
          <p:cNvPicPr>
            <a:picLocks noChangeAspect="1"/>
          </p:cNvPicPr>
          <p:nvPr/>
        </p:nvPicPr>
        <p:blipFill>
          <a:blip r:embed="rId7"/>
          <a:stretch>
            <a:fillRect/>
          </a:stretch>
        </p:blipFill>
        <p:spPr>
          <a:xfrm>
            <a:off x="5257800" y="5120640"/>
            <a:ext cx="365760" cy="365760"/>
          </a:xfrm>
          <a:prstGeom prst="rect">
            <a:avLst/>
          </a:prstGeom>
        </p:spPr>
      </p:pic>
      <p:sp>
        <p:nvSpPr>
          <p:cNvPr id="35" name="Text 26"/>
          <p:cNvSpPr txBox="1"/>
          <p:nvPr/>
        </p:nvSpPr>
        <p:spPr>
          <a:xfrm>
            <a:off x="5806440" y="4892040"/>
            <a:ext cx="5577840" cy="822960"/>
          </a:xfrm>
          <a:prstGeom prst="rect">
            <a:avLst/>
          </a:prstGeom>
          <a:noFill/>
          <a:ln/>
        </p:spPr>
        <p:txBody>
          <a:bodyPr wrap="square" lIns="0" tIns="0" rIns="0" bIns="0" rtlCol="0" anchor="ctr"/>
          <a:lstStyle/>
          <a:p>
            <a:pPr algn="l" indent="0" marL="0">
              <a:buNone/>
            </a:pPr>
            <a:r>
              <a:rPr lang="en-US" sz="1500" dirty="0">
                <a:solidFill>
                  <a:schemeClr val="tx1"/>
                </a:solidFill>
              </a:rPr>
              <a:t>Same rule for both: at least 80% attendance (Circular ACAD-2026-08)</a:t>
            </a:r>
            <a:endParaRPr lang="en-US" sz="1500" dirty="0"/>
          </a:p>
        </p:txBody>
      </p:sp>
      <p:sp>
        <p:nvSpPr>
          <p:cNvPr id="36" name="Text 27"/>
          <p:cNvSpPr txBox="1"/>
          <p:nvPr/>
        </p:nvSpPr>
        <p:spPr>
          <a:xfrm>
            <a:off x="548640" y="5852160"/>
            <a:ext cx="11064240" cy="411480"/>
          </a:xfrm>
          <a:prstGeom prst="rect">
            <a:avLst/>
          </a:prstGeom>
          <a:noFill/>
          <a:ln/>
        </p:spPr>
        <p:txBody>
          <a:bodyPr wrap="square" lIns="0" tIns="0" rIns="0" bIns="0" rtlCol="0" anchor="t"/>
          <a:lstStyle/>
          <a:p>
            <a:pPr algn="l" indent="0" marL="0">
              <a:buNone/>
            </a:pPr>
            <a:r>
              <a:rPr lang="en-US" sz="1900" b="1" dirty="0">
                <a:solidFill>
                  <a:schemeClr val="accent1"/>
                </a:solidFill>
              </a:rPr>
              <a:t>Same question, different answers for different students.</a:t>
            </a:r>
            <a:endParaRPr lang="en-US" sz="1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Handling Conflicting Rules</a:t>
            </a:r>
            <a:endParaRPr lang="en-US" sz="3400" dirty="0"/>
          </a:p>
        </p:txBody>
      </p:sp>
      <p:sp>
        <p:nvSpPr>
          <p:cNvPr id="3" name="Shape 1"/>
          <p:cNvSpPr/>
          <p:nvPr/>
        </p:nvSpPr>
        <p:spPr>
          <a:xfrm>
            <a:off x="548640" y="1325880"/>
            <a:ext cx="3291840" cy="1234440"/>
          </a:xfrm>
          <a:prstGeom prst="roundRect">
            <a:avLst>
              <a:gd name="adj" fmla="val 8889"/>
            </a:avLst>
          </a:prstGeom>
          <a:solidFill>
            <a:schemeClr val="bg2"/>
          </a:solidFill>
          <a:ln/>
        </p:spPr>
      </p:sp>
      <p:pic>
        <p:nvPicPr>
          <p:cNvPr id="4" name="Image 0" descr="preencoded.png">    </p:cNvPr>
          <p:cNvPicPr>
            <a:picLocks noChangeAspect="1"/>
          </p:cNvPicPr>
          <p:nvPr/>
        </p:nvPicPr>
        <p:blipFill>
          <a:blip r:embed="rId1"/>
          <a:stretch>
            <a:fillRect/>
          </a:stretch>
        </p:blipFill>
        <p:spPr>
          <a:xfrm>
            <a:off x="777240" y="1600200"/>
            <a:ext cx="457200" cy="457200"/>
          </a:xfrm>
          <a:prstGeom prst="rect">
            <a:avLst/>
          </a:prstGeom>
        </p:spPr>
      </p:pic>
      <p:sp>
        <p:nvSpPr>
          <p:cNvPr id="5" name="Text 2"/>
          <p:cNvSpPr txBox="1"/>
          <p:nvPr/>
        </p:nvSpPr>
        <p:spPr>
          <a:xfrm>
            <a:off x="1417320" y="1463040"/>
            <a:ext cx="1508760" cy="548640"/>
          </a:xfrm>
          <a:prstGeom prst="rect">
            <a:avLst/>
          </a:prstGeom>
          <a:noFill/>
          <a:ln/>
        </p:spPr>
        <p:txBody>
          <a:bodyPr wrap="square" lIns="0" tIns="0" rIns="0" bIns="0" rtlCol="0" anchor="ctr"/>
          <a:lstStyle/>
          <a:p>
            <a:pPr algn="l" indent="0" marL="0">
              <a:buNone/>
            </a:pPr>
            <a:r>
              <a:rPr lang="en-US" sz="1500" b="1" dirty="0">
                <a:solidFill>
                  <a:schemeClr val="tx2"/>
                </a:solidFill>
              </a:rPr>
              <a:t>Old regulation (2024)</a:t>
            </a:r>
            <a:endParaRPr lang="en-US" sz="1500" dirty="0"/>
          </a:p>
        </p:txBody>
      </p:sp>
      <p:sp>
        <p:nvSpPr>
          <p:cNvPr id="6" name="Text 3"/>
          <p:cNvSpPr txBox="1"/>
          <p:nvPr/>
        </p:nvSpPr>
        <p:spPr>
          <a:xfrm>
            <a:off x="1417320" y="2057400"/>
            <a:ext cx="1508760" cy="365760"/>
          </a:xfrm>
          <a:prstGeom prst="rect">
            <a:avLst/>
          </a:prstGeom>
          <a:noFill/>
          <a:ln/>
        </p:spPr>
        <p:txBody>
          <a:bodyPr wrap="square" lIns="0" tIns="0" rIns="0" bIns="0" rtlCol="0" anchor="t"/>
          <a:lstStyle/>
          <a:p>
            <a:pPr algn="l" indent="0" marL="0">
              <a:buNone/>
            </a:pPr>
            <a:r>
              <a:rPr lang="en-US" sz="1300" dirty="0">
                <a:solidFill>
                  <a:schemeClr val="accent6"/>
                </a:solidFill>
              </a:rPr>
              <a:t>Regulation</a:t>
            </a:r>
            <a:endParaRPr lang="en-US" sz="1300" dirty="0"/>
          </a:p>
        </p:txBody>
      </p:sp>
      <p:sp>
        <p:nvSpPr>
          <p:cNvPr id="7" name="Text 4"/>
          <p:cNvSpPr txBox="1"/>
          <p:nvPr/>
        </p:nvSpPr>
        <p:spPr>
          <a:xfrm>
            <a:off x="2971800" y="1325880"/>
            <a:ext cx="731520" cy="1234440"/>
          </a:xfrm>
          <a:prstGeom prst="rect">
            <a:avLst/>
          </a:prstGeom>
          <a:noFill/>
          <a:ln/>
        </p:spPr>
        <p:txBody>
          <a:bodyPr wrap="square" lIns="0" tIns="0" rIns="0" bIns="0" rtlCol="0" anchor="ctr"/>
          <a:lstStyle/>
          <a:p>
            <a:pPr algn="r" indent="0" marL="0">
              <a:buNone/>
            </a:pPr>
            <a:r>
              <a:rPr lang="en-US" sz="2400" b="1" dirty="0">
                <a:solidFill>
                  <a:schemeClr val="tx1"/>
                </a:solidFill>
              </a:rPr>
              <a:t>75%</a:t>
            </a:r>
            <a:endParaRPr lang="en-US" sz="2400" dirty="0"/>
          </a:p>
        </p:txBody>
      </p:sp>
      <p:sp>
        <p:nvSpPr>
          <p:cNvPr id="8" name="Shape 5"/>
          <p:cNvSpPr/>
          <p:nvPr/>
        </p:nvSpPr>
        <p:spPr>
          <a:xfrm>
            <a:off x="548640" y="2788920"/>
            <a:ext cx="3291840" cy="1234440"/>
          </a:xfrm>
          <a:prstGeom prst="roundRect">
            <a:avLst>
              <a:gd name="adj" fmla="val 8889"/>
            </a:avLst>
          </a:prstGeom>
          <a:solidFill>
            <a:schemeClr val="bg2"/>
          </a:solidFill>
          <a:ln/>
        </p:spPr>
      </p:sp>
      <p:pic>
        <p:nvPicPr>
          <p:cNvPr id="9" name="Image 1" descr="preencoded.png">    </p:cNvPr>
          <p:cNvPicPr>
            <a:picLocks noChangeAspect="1"/>
          </p:cNvPicPr>
          <p:nvPr/>
        </p:nvPicPr>
        <p:blipFill>
          <a:blip r:embed="rId2"/>
          <a:stretch>
            <a:fillRect/>
          </a:stretch>
        </p:blipFill>
        <p:spPr>
          <a:xfrm>
            <a:off x="777240" y="3063240"/>
            <a:ext cx="457200" cy="457200"/>
          </a:xfrm>
          <a:prstGeom prst="rect">
            <a:avLst/>
          </a:prstGeom>
        </p:spPr>
      </p:pic>
      <p:sp>
        <p:nvSpPr>
          <p:cNvPr id="10" name="Text 6"/>
          <p:cNvSpPr txBox="1"/>
          <p:nvPr/>
        </p:nvSpPr>
        <p:spPr>
          <a:xfrm>
            <a:off x="1417320" y="2926080"/>
            <a:ext cx="1508760" cy="548640"/>
          </a:xfrm>
          <a:prstGeom prst="rect">
            <a:avLst/>
          </a:prstGeom>
          <a:noFill/>
          <a:ln/>
        </p:spPr>
        <p:txBody>
          <a:bodyPr wrap="square" lIns="0" tIns="0" rIns="0" bIns="0" rtlCol="0" anchor="ctr"/>
          <a:lstStyle/>
          <a:p>
            <a:pPr algn="l" indent="0" marL="0">
              <a:buNone/>
            </a:pPr>
            <a:r>
              <a:rPr lang="en-US" sz="1500" b="1" dirty="0">
                <a:solidFill>
                  <a:schemeClr val="tx2"/>
                </a:solidFill>
              </a:rPr>
              <a:t>New circular (2026)</a:t>
            </a:r>
            <a:endParaRPr lang="en-US" sz="1500" dirty="0"/>
          </a:p>
        </p:txBody>
      </p:sp>
      <p:sp>
        <p:nvSpPr>
          <p:cNvPr id="11" name="Text 7"/>
          <p:cNvSpPr txBox="1"/>
          <p:nvPr/>
        </p:nvSpPr>
        <p:spPr>
          <a:xfrm>
            <a:off x="1417320" y="3520440"/>
            <a:ext cx="1508760" cy="365760"/>
          </a:xfrm>
          <a:prstGeom prst="rect">
            <a:avLst/>
          </a:prstGeom>
          <a:noFill/>
          <a:ln/>
        </p:spPr>
        <p:txBody>
          <a:bodyPr wrap="square" lIns="0" tIns="0" rIns="0" bIns="0" rtlCol="0" anchor="t"/>
          <a:lstStyle/>
          <a:p>
            <a:pPr algn="l" indent="0" marL="0">
              <a:buNone/>
            </a:pPr>
            <a:r>
              <a:rPr lang="en-US" sz="1300" dirty="0">
                <a:solidFill>
                  <a:schemeClr val="accent6"/>
                </a:solidFill>
              </a:rPr>
              <a:t>Official circular</a:t>
            </a:r>
            <a:endParaRPr lang="en-US" sz="1300" dirty="0"/>
          </a:p>
        </p:txBody>
      </p:sp>
      <p:sp>
        <p:nvSpPr>
          <p:cNvPr id="12" name="Text 8"/>
          <p:cNvSpPr txBox="1"/>
          <p:nvPr/>
        </p:nvSpPr>
        <p:spPr>
          <a:xfrm>
            <a:off x="2971800" y="2788920"/>
            <a:ext cx="731520" cy="1234440"/>
          </a:xfrm>
          <a:prstGeom prst="rect">
            <a:avLst/>
          </a:prstGeom>
          <a:noFill/>
          <a:ln/>
        </p:spPr>
        <p:txBody>
          <a:bodyPr wrap="square" lIns="0" tIns="0" rIns="0" bIns="0" rtlCol="0" anchor="ctr"/>
          <a:lstStyle/>
          <a:p>
            <a:pPr algn="r" indent="0" marL="0">
              <a:buNone/>
            </a:pPr>
            <a:r>
              <a:rPr lang="en-US" sz="2400" b="1" dirty="0">
                <a:solidFill>
                  <a:schemeClr val="tx1"/>
                </a:solidFill>
              </a:rPr>
              <a:t>80%</a:t>
            </a:r>
            <a:endParaRPr lang="en-US" sz="2400" dirty="0"/>
          </a:p>
        </p:txBody>
      </p:sp>
      <p:sp>
        <p:nvSpPr>
          <p:cNvPr id="13" name="Shape 9"/>
          <p:cNvSpPr/>
          <p:nvPr/>
        </p:nvSpPr>
        <p:spPr>
          <a:xfrm>
            <a:off x="548640" y="4251960"/>
            <a:ext cx="3291840" cy="1234440"/>
          </a:xfrm>
          <a:prstGeom prst="roundRect">
            <a:avLst>
              <a:gd name="adj" fmla="val 8889"/>
            </a:avLst>
          </a:prstGeom>
          <a:solidFill>
            <a:schemeClr val="bg2"/>
          </a:solidFill>
          <a:ln/>
        </p:spPr>
      </p:sp>
      <p:pic>
        <p:nvPicPr>
          <p:cNvPr id="14" name="Image 2" descr="preencoded.png">    </p:cNvPr>
          <p:cNvPicPr>
            <a:picLocks noChangeAspect="1"/>
          </p:cNvPicPr>
          <p:nvPr/>
        </p:nvPicPr>
        <p:blipFill>
          <a:blip r:embed="rId3"/>
          <a:stretch>
            <a:fillRect/>
          </a:stretch>
        </p:blipFill>
        <p:spPr>
          <a:xfrm>
            <a:off x="777240" y="4526280"/>
            <a:ext cx="457200" cy="457200"/>
          </a:xfrm>
          <a:prstGeom prst="rect">
            <a:avLst/>
          </a:prstGeom>
        </p:spPr>
      </p:pic>
      <p:sp>
        <p:nvSpPr>
          <p:cNvPr id="15" name="Text 10"/>
          <p:cNvSpPr txBox="1"/>
          <p:nvPr/>
        </p:nvSpPr>
        <p:spPr>
          <a:xfrm>
            <a:off x="1417320" y="4389120"/>
            <a:ext cx="1508760" cy="548640"/>
          </a:xfrm>
          <a:prstGeom prst="rect">
            <a:avLst/>
          </a:prstGeom>
          <a:noFill/>
          <a:ln/>
        </p:spPr>
        <p:txBody>
          <a:bodyPr wrap="square" lIns="0" tIns="0" rIns="0" bIns="0" rtlCol="0" anchor="ctr"/>
          <a:lstStyle/>
          <a:p>
            <a:pPr algn="l" indent="0" marL="0">
              <a:buNone/>
            </a:pPr>
            <a:r>
              <a:rPr lang="en-US" sz="1500" b="1" dirty="0">
                <a:solidFill>
                  <a:schemeClr val="tx2"/>
                </a:solidFill>
              </a:rPr>
              <a:t>Student FAQ</a:t>
            </a:r>
            <a:endParaRPr lang="en-US" sz="1500" dirty="0"/>
          </a:p>
        </p:txBody>
      </p:sp>
      <p:sp>
        <p:nvSpPr>
          <p:cNvPr id="16" name="Text 11"/>
          <p:cNvSpPr txBox="1"/>
          <p:nvPr/>
        </p:nvSpPr>
        <p:spPr>
          <a:xfrm>
            <a:off x="1417320" y="4983480"/>
            <a:ext cx="1508760" cy="365760"/>
          </a:xfrm>
          <a:prstGeom prst="rect">
            <a:avLst/>
          </a:prstGeom>
          <a:noFill/>
          <a:ln/>
        </p:spPr>
        <p:txBody>
          <a:bodyPr wrap="square" lIns="0" tIns="0" rIns="0" bIns="0" rtlCol="0" anchor="t"/>
          <a:lstStyle/>
          <a:p>
            <a:pPr algn="l" indent="0" marL="0">
              <a:buNone/>
            </a:pPr>
            <a:r>
              <a:rPr lang="en-US" sz="1300" dirty="0">
                <a:solidFill>
                  <a:schemeClr val="accent6"/>
                </a:solidFill>
              </a:rPr>
              <a:t>Help-desk FAQ</a:t>
            </a:r>
            <a:endParaRPr lang="en-US" sz="1300" dirty="0"/>
          </a:p>
        </p:txBody>
      </p:sp>
      <p:sp>
        <p:nvSpPr>
          <p:cNvPr id="17" name="Text 12"/>
          <p:cNvSpPr txBox="1"/>
          <p:nvPr/>
        </p:nvSpPr>
        <p:spPr>
          <a:xfrm>
            <a:off x="2971800" y="4251960"/>
            <a:ext cx="731520" cy="1234440"/>
          </a:xfrm>
          <a:prstGeom prst="rect">
            <a:avLst/>
          </a:prstGeom>
          <a:noFill/>
          <a:ln/>
        </p:spPr>
        <p:txBody>
          <a:bodyPr wrap="square" lIns="0" tIns="0" rIns="0" bIns="0" rtlCol="0" anchor="ctr"/>
          <a:lstStyle/>
          <a:p>
            <a:pPr algn="r" indent="0" marL="0">
              <a:buNone/>
            </a:pPr>
            <a:r>
              <a:rPr lang="en-US" sz="2400" b="1" dirty="0">
                <a:solidFill>
                  <a:schemeClr val="tx1"/>
                </a:solidFill>
              </a:rPr>
              <a:t>65%</a:t>
            </a:r>
            <a:endParaRPr lang="en-US" sz="2400" dirty="0"/>
          </a:p>
        </p:txBody>
      </p:sp>
      <p:sp>
        <p:nvSpPr>
          <p:cNvPr id="18" name="Shape 13"/>
          <p:cNvSpPr/>
          <p:nvPr/>
        </p:nvSpPr>
        <p:spPr>
          <a:xfrm>
            <a:off x="3977640" y="3291840"/>
            <a:ext cx="548640" cy="0"/>
          </a:xfrm>
          <a:prstGeom prst="line">
            <a:avLst/>
          </a:prstGeom>
          <a:noFill/>
          <a:ln w="25400">
            <a:solidFill>
              <a:schemeClr val="accent6"/>
            </a:solidFill>
            <a:prstDash val="solid"/>
            <a:tailEnd type="triangle"/>
          </a:ln>
        </p:spPr>
      </p:sp>
      <p:sp>
        <p:nvSpPr>
          <p:cNvPr id="19" name="Shape 14"/>
          <p:cNvSpPr/>
          <p:nvPr/>
        </p:nvSpPr>
        <p:spPr>
          <a:xfrm>
            <a:off x="4663440" y="1325880"/>
            <a:ext cx="3383280" cy="914400"/>
          </a:xfrm>
          <a:prstGeom prst="roundRect">
            <a:avLst>
              <a:gd name="adj" fmla="val 14000"/>
            </a:avLst>
          </a:prstGeom>
          <a:solidFill>
            <a:srgbClr val="1C2457"/>
          </a:solidFill>
          <a:ln/>
        </p:spPr>
      </p:sp>
      <p:sp>
        <p:nvSpPr>
          <p:cNvPr id="20" name="Text 15"/>
          <p:cNvSpPr txBox="1"/>
          <p:nvPr/>
        </p:nvSpPr>
        <p:spPr>
          <a:xfrm>
            <a:off x="4846320" y="1399032"/>
            <a:ext cx="3108960" cy="411480"/>
          </a:xfrm>
          <a:prstGeom prst="rect">
            <a:avLst/>
          </a:prstGeom>
          <a:noFill/>
          <a:ln/>
        </p:spPr>
        <p:txBody>
          <a:bodyPr wrap="square" lIns="0" tIns="0" rIns="0" bIns="0" rtlCol="0" anchor="t"/>
          <a:lstStyle/>
          <a:p>
            <a:pPr algn="l" indent="0" marL="0">
              <a:buNone/>
            </a:pPr>
            <a:r>
              <a:rPr lang="en-US" sz="1600" b="1" dirty="0">
                <a:solidFill>
                  <a:schemeClr val="bg1"/>
                </a:solidFill>
              </a:rPr>
              <a:t>1. Applicability</a:t>
            </a:r>
            <a:endParaRPr lang="en-US" sz="1600" dirty="0"/>
          </a:p>
        </p:txBody>
      </p:sp>
      <p:sp>
        <p:nvSpPr>
          <p:cNvPr id="21" name="Text 16"/>
          <p:cNvSpPr txBox="1"/>
          <p:nvPr/>
        </p:nvSpPr>
        <p:spPr>
          <a:xfrm>
            <a:off x="4846320" y="1783080"/>
            <a:ext cx="3108960" cy="384048"/>
          </a:xfrm>
          <a:prstGeom prst="rect">
            <a:avLst/>
          </a:prstGeom>
          <a:noFill/>
          <a:ln/>
        </p:spPr>
        <p:txBody>
          <a:bodyPr wrap="square" lIns="0" tIns="0" rIns="0" bIns="0" rtlCol="0" anchor="t"/>
          <a:lstStyle/>
          <a:p>
            <a:pPr algn="l" indent="0" marL="0">
              <a:buNone/>
            </a:pPr>
            <a:r>
              <a:rPr lang="en-US" sz="1300" dirty="0">
                <a:solidFill>
                  <a:srgbClr val="CADCFC"/>
                </a:solidFill>
              </a:rPr>
              <a:t>Is it in force today, for this student?</a:t>
            </a:r>
            <a:endParaRPr lang="en-US" sz="1300" dirty="0"/>
          </a:p>
        </p:txBody>
      </p:sp>
      <p:sp>
        <p:nvSpPr>
          <p:cNvPr id="22" name="Shape 17"/>
          <p:cNvSpPr/>
          <p:nvPr/>
        </p:nvSpPr>
        <p:spPr>
          <a:xfrm>
            <a:off x="4663440" y="2423160"/>
            <a:ext cx="3383280" cy="914400"/>
          </a:xfrm>
          <a:prstGeom prst="roundRect">
            <a:avLst>
              <a:gd name="adj" fmla="val 14000"/>
            </a:avLst>
          </a:prstGeom>
          <a:solidFill>
            <a:srgbClr val="1C2457"/>
          </a:solidFill>
          <a:ln/>
        </p:spPr>
      </p:sp>
      <p:sp>
        <p:nvSpPr>
          <p:cNvPr id="23" name="Text 18"/>
          <p:cNvSpPr txBox="1"/>
          <p:nvPr/>
        </p:nvSpPr>
        <p:spPr>
          <a:xfrm>
            <a:off x="4846320" y="2496312"/>
            <a:ext cx="3108960" cy="411480"/>
          </a:xfrm>
          <a:prstGeom prst="rect">
            <a:avLst/>
          </a:prstGeom>
          <a:noFill/>
          <a:ln/>
        </p:spPr>
        <p:txBody>
          <a:bodyPr wrap="square" lIns="0" tIns="0" rIns="0" bIns="0" rtlCol="0" anchor="t"/>
          <a:lstStyle/>
          <a:p>
            <a:pPr algn="l" indent="0" marL="0">
              <a:buNone/>
            </a:pPr>
            <a:r>
              <a:rPr lang="en-US" sz="1600" b="1" dirty="0">
                <a:solidFill>
                  <a:schemeClr val="bg1"/>
                </a:solidFill>
              </a:rPr>
              <a:t>2. Supersession</a:t>
            </a:r>
            <a:endParaRPr lang="en-US" sz="1600" dirty="0"/>
          </a:p>
        </p:txBody>
      </p:sp>
      <p:sp>
        <p:nvSpPr>
          <p:cNvPr id="24" name="Text 19"/>
          <p:cNvSpPr txBox="1"/>
          <p:nvPr/>
        </p:nvSpPr>
        <p:spPr>
          <a:xfrm>
            <a:off x="4846320" y="2880360"/>
            <a:ext cx="3108960" cy="384048"/>
          </a:xfrm>
          <a:prstGeom prst="rect">
            <a:avLst/>
          </a:prstGeom>
          <a:noFill/>
          <a:ln/>
        </p:spPr>
        <p:txBody>
          <a:bodyPr wrap="square" lIns="0" tIns="0" rIns="0" bIns="0" rtlCol="0" anchor="t"/>
          <a:lstStyle/>
          <a:p>
            <a:pPr algn="l" indent="0" marL="0">
              <a:buNone/>
            </a:pPr>
            <a:r>
              <a:rPr lang="en-US" sz="1300" dirty="0">
                <a:solidFill>
                  <a:srgbClr val="CADCFC"/>
                </a:solidFill>
              </a:rPr>
              <a:t>Did an official document replace it?</a:t>
            </a:r>
            <a:endParaRPr lang="en-US" sz="1300" dirty="0"/>
          </a:p>
        </p:txBody>
      </p:sp>
      <p:sp>
        <p:nvSpPr>
          <p:cNvPr id="25" name="Shape 20"/>
          <p:cNvSpPr/>
          <p:nvPr/>
        </p:nvSpPr>
        <p:spPr>
          <a:xfrm>
            <a:off x="4663440" y="3520440"/>
            <a:ext cx="3383280" cy="914400"/>
          </a:xfrm>
          <a:prstGeom prst="roundRect">
            <a:avLst>
              <a:gd name="adj" fmla="val 14000"/>
            </a:avLst>
          </a:prstGeom>
          <a:solidFill>
            <a:srgbClr val="1C2457"/>
          </a:solidFill>
          <a:ln/>
        </p:spPr>
      </p:sp>
      <p:sp>
        <p:nvSpPr>
          <p:cNvPr id="26" name="Text 21"/>
          <p:cNvSpPr txBox="1"/>
          <p:nvPr/>
        </p:nvSpPr>
        <p:spPr>
          <a:xfrm>
            <a:off x="4846320" y="3593592"/>
            <a:ext cx="3108960" cy="411480"/>
          </a:xfrm>
          <a:prstGeom prst="rect">
            <a:avLst/>
          </a:prstGeom>
          <a:noFill/>
          <a:ln/>
        </p:spPr>
        <p:txBody>
          <a:bodyPr wrap="square" lIns="0" tIns="0" rIns="0" bIns="0" rtlCol="0" anchor="t"/>
          <a:lstStyle/>
          <a:p>
            <a:pPr algn="l" indent="0" marL="0">
              <a:buNone/>
            </a:pPr>
            <a:r>
              <a:rPr lang="en-US" sz="1600" b="1" dirty="0">
                <a:solidFill>
                  <a:schemeClr val="bg1"/>
                </a:solidFill>
              </a:rPr>
              <a:t>3. Authority</a:t>
            </a:r>
            <a:endParaRPr lang="en-US" sz="1600" dirty="0"/>
          </a:p>
        </p:txBody>
      </p:sp>
      <p:sp>
        <p:nvSpPr>
          <p:cNvPr id="27" name="Text 22"/>
          <p:cNvSpPr txBox="1"/>
          <p:nvPr/>
        </p:nvSpPr>
        <p:spPr>
          <a:xfrm>
            <a:off x="4846320" y="3977640"/>
            <a:ext cx="3108960" cy="384048"/>
          </a:xfrm>
          <a:prstGeom prst="rect">
            <a:avLst/>
          </a:prstGeom>
          <a:noFill/>
          <a:ln/>
        </p:spPr>
        <p:txBody>
          <a:bodyPr wrap="square" lIns="0" tIns="0" rIns="0" bIns="0" rtlCol="0" anchor="t"/>
          <a:lstStyle/>
          <a:p>
            <a:pPr algn="l" indent="0" marL="0">
              <a:buNone/>
            </a:pPr>
            <a:r>
              <a:rPr lang="en-US" sz="1300" dirty="0">
                <a:solidFill>
                  <a:srgbClr val="CADCFC"/>
                </a:solidFill>
              </a:rPr>
              <a:t>Regulation &gt; circular &gt; notice &gt; FAQ</a:t>
            </a:r>
            <a:endParaRPr lang="en-US" sz="1300" dirty="0"/>
          </a:p>
        </p:txBody>
      </p:sp>
      <p:sp>
        <p:nvSpPr>
          <p:cNvPr id="28" name="Shape 23"/>
          <p:cNvSpPr/>
          <p:nvPr/>
        </p:nvSpPr>
        <p:spPr>
          <a:xfrm>
            <a:off x="4663440" y="4617720"/>
            <a:ext cx="3383280" cy="914400"/>
          </a:xfrm>
          <a:prstGeom prst="roundRect">
            <a:avLst>
              <a:gd name="adj" fmla="val 14000"/>
            </a:avLst>
          </a:prstGeom>
          <a:solidFill>
            <a:srgbClr val="1C2457"/>
          </a:solidFill>
          <a:ln/>
        </p:spPr>
      </p:sp>
      <p:sp>
        <p:nvSpPr>
          <p:cNvPr id="29" name="Text 24"/>
          <p:cNvSpPr txBox="1"/>
          <p:nvPr/>
        </p:nvSpPr>
        <p:spPr>
          <a:xfrm>
            <a:off x="4846320" y="4690872"/>
            <a:ext cx="3108960" cy="411480"/>
          </a:xfrm>
          <a:prstGeom prst="rect">
            <a:avLst/>
          </a:prstGeom>
          <a:noFill/>
          <a:ln/>
        </p:spPr>
        <p:txBody>
          <a:bodyPr wrap="square" lIns="0" tIns="0" rIns="0" bIns="0" rtlCol="0" anchor="t"/>
          <a:lstStyle/>
          <a:p>
            <a:pPr algn="l" indent="0" marL="0">
              <a:buNone/>
            </a:pPr>
            <a:r>
              <a:rPr lang="en-US" sz="1600" b="1" dirty="0">
                <a:solidFill>
                  <a:schemeClr val="bg1"/>
                </a:solidFill>
              </a:rPr>
              <a:t>4. Recency</a:t>
            </a:r>
            <a:endParaRPr lang="en-US" sz="1600" dirty="0"/>
          </a:p>
        </p:txBody>
      </p:sp>
      <p:sp>
        <p:nvSpPr>
          <p:cNvPr id="30" name="Text 25"/>
          <p:cNvSpPr txBox="1"/>
          <p:nvPr/>
        </p:nvSpPr>
        <p:spPr>
          <a:xfrm>
            <a:off x="4846320" y="5074920"/>
            <a:ext cx="3108960" cy="384048"/>
          </a:xfrm>
          <a:prstGeom prst="rect">
            <a:avLst/>
          </a:prstGeom>
          <a:noFill/>
          <a:ln/>
        </p:spPr>
        <p:txBody>
          <a:bodyPr wrap="square" lIns="0" tIns="0" rIns="0" bIns="0" rtlCol="0" anchor="t"/>
          <a:lstStyle/>
          <a:p>
            <a:pPr algn="l" indent="0" marL="0">
              <a:buNone/>
            </a:pPr>
            <a:r>
              <a:rPr lang="en-US" sz="1300" dirty="0">
                <a:solidFill>
                  <a:srgbClr val="CADCFC"/>
                </a:solidFill>
              </a:rPr>
              <a:t>Same level? The newer one wins</a:t>
            </a:r>
            <a:endParaRPr lang="en-US" sz="1300" dirty="0"/>
          </a:p>
        </p:txBody>
      </p:sp>
      <p:sp>
        <p:nvSpPr>
          <p:cNvPr id="31" name="Shape 26"/>
          <p:cNvSpPr/>
          <p:nvPr/>
        </p:nvSpPr>
        <p:spPr>
          <a:xfrm>
            <a:off x="8183880" y="3291840"/>
            <a:ext cx="548640" cy="0"/>
          </a:xfrm>
          <a:prstGeom prst="line">
            <a:avLst/>
          </a:prstGeom>
          <a:noFill/>
          <a:ln w="25400">
            <a:solidFill>
              <a:schemeClr val="accent6"/>
            </a:solidFill>
            <a:prstDash val="solid"/>
            <a:tailEnd type="triangle"/>
          </a:ln>
        </p:spPr>
      </p:sp>
      <p:sp>
        <p:nvSpPr>
          <p:cNvPr id="32" name="Shape 27"/>
          <p:cNvSpPr/>
          <p:nvPr/>
        </p:nvSpPr>
        <p:spPr>
          <a:xfrm>
            <a:off x="8869680" y="1325880"/>
            <a:ext cx="2743200" cy="4206240"/>
          </a:xfrm>
          <a:prstGeom prst="roundRect">
            <a:avLst>
              <a:gd name="adj" fmla="val 4000"/>
            </a:avLst>
          </a:prstGeom>
          <a:solidFill>
            <a:srgbClr val="E5F5EE"/>
          </a:solidFill>
          <a:ln/>
        </p:spPr>
      </p:sp>
      <p:sp>
        <p:nvSpPr>
          <p:cNvPr id="33" name="Shape 28"/>
          <p:cNvSpPr/>
          <p:nvPr/>
        </p:nvSpPr>
        <p:spPr>
          <a:xfrm>
            <a:off x="9784080" y="1600200"/>
            <a:ext cx="914400" cy="914400"/>
          </a:xfrm>
          <a:prstGeom prst="ellipse">
            <a:avLst/>
          </a:prstGeom>
          <a:solidFill>
            <a:srgbClr val="13976B"/>
          </a:solidFill>
          <a:ln/>
        </p:spPr>
      </p:sp>
      <p:pic>
        <p:nvPicPr>
          <p:cNvPr id="34" name="Image 3" descr="preencoded.png">    </p:cNvPr>
          <p:cNvPicPr>
            <a:picLocks noChangeAspect="1"/>
          </p:cNvPicPr>
          <p:nvPr/>
        </p:nvPicPr>
        <p:blipFill>
          <a:blip r:embed="rId4"/>
          <a:stretch>
            <a:fillRect/>
          </a:stretch>
        </p:blipFill>
        <p:spPr>
          <a:xfrm>
            <a:off x="10030968" y="1847088"/>
            <a:ext cx="420624" cy="420624"/>
          </a:xfrm>
          <a:prstGeom prst="rect">
            <a:avLst/>
          </a:prstGeom>
        </p:spPr>
      </p:pic>
      <p:sp>
        <p:nvSpPr>
          <p:cNvPr id="35" name="Text 29"/>
          <p:cNvSpPr txBox="1"/>
          <p:nvPr/>
        </p:nvSpPr>
        <p:spPr>
          <a:xfrm>
            <a:off x="9006840" y="2697480"/>
            <a:ext cx="2468880" cy="548640"/>
          </a:xfrm>
          <a:prstGeom prst="rect">
            <a:avLst/>
          </a:prstGeom>
          <a:noFill/>
          <a:ln/>
        </p:spPr>
        <p:txBody>
          <a:bodyPr wrap="square" lIns="0" tIns="0" rIns="0" bIns="0" rtlCol="0" anchor="t"/>
          <a:lstStyle/>
          <a:p>
            <a:pPr algn="ctr" indent="0" marL="0">
              <a:buNone/>
            </a:pPr>
            <a:r>
              <a:rPr lang="en-US" sz="2400" b="1" dirty="0">
                <a:solidFill>
                  <a:schemeClr val="accent3"/>
                </a:solidFill>
              </a:rPr>
              <a:t>80% applies</a:t>
            </a:r>
            <a:endParaRPr lang="en-US" sz="2400" dirty="0"/>
          </a:p>
        </p:txBody>
      </p:sp>
      <p:sp>
        <p:nvSpPr>
          <p:cNvPr id="36" name="Text 30"/>
          <p:cNvSpPr txBox="1"/>
          <p:nvPr/>
        </p:nvSpPr>
        <p:spPr>
          <a:xfrm>
            <a:off x="9098280" y="3383280"/>
            <a:ext cx="2331720" cy="2011680"/>
          </a:xfrm>
          <a:prstGeom prst="rect">
            <a:avLst/>
          </a:prstGeom>
          <a:noFill/>
          <a:ln/>
        </p:spPr>
        <p:txBody>
          <a:bodyPr wrap="square" lIns="0" tIns="0" rIns="0" bIns="0" rtlCol="0" anchor="t"/>
          <a:lstStyle/>
          <a:p>
            <a:pPr algn="l" indent="0" marL="0">
              <a:spcAft>
                <a:spcPts val="1000"/>
              </a:spcAft>
              <a:buNone/>
            </a:pPr>
            <a:r>
              <a:rPr lang="en-US" sz="1400" dirty="0">
                <a:solidFill>
                  <a:schemeClr val="tx1"/>
                </a:solidFill>
              </a:rPr>
              <a:t>The circular officially replaced the old rule</a:t>
            </a:r>
            <a:endParaRPr lang="en-US" sz="1400" dirty="0"/>
          </a:p>
          <a:p>
            <a:pPr algn="l" indent="0" marL="0">
              <a:spcAft>
                <a:spcPts val="1000"/>
              </a:spcAft>
              <a:buNone/>
            </a:pPr>
            <a:r>
              <a:rPr lang="en-US" sz="1400" dirty="0">
                <a:solidFill>
                  <a:schemeClr val="tx1"/>
                </a:solidFill>
              </a:rPr>
              <a:t>An FAQ can't override a circular</a:t>
            </a:r>
            <a:endParaRPr lang="en-US" sz="1400" dirty="0"/>
          </a:p>
        </p:txBody>
      </p:sp>
      <p:sp>
        <p:nvSpPr>
          <p:cNvPr id="37" name="Text 31"/>
          <p:cNvSpPr txBox="1"/>
          <p:nvPr/>
        </p:nvSpPr>
        <p:spPr>
          <a:xfrm>
            <a:off x="548640" y="5806440"/>
            <a:ext cx="11064240" cy="411480"/>
          </a:xfrm>
          <a:prstGeom prst="rect">
            <a:avLst/>
          </a:prstGeom>
          <a:noFill/>
          <a:ln/>
        </p:spPr>
        <p:txBody>
          <a:bodyPr wrap="square" lIns="0" tIns="0" rIns="0" bIns="0" rtlCol="0" anchor="t"/>
          <a:lstStyle/>
          <a:p>
            <a:pPr algn="l" indent="0" marL="0">
              <a:buNone/>
            </a:pPr>
            <a:r>
              <a:rPr lang="en-US" sz="1800" b="1" dirty="0">
                <a:solidFill>
                  <a:schemeClr val="accent1"/>
                </a:solidFill>
              </a:rPr>
              <a:t>Important decisions are handled by fixed rules in code, not by AI guessing.</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Technology Stack</a:t>
            </a:r>
            <a:endParaRPr lang="en-US" sz="3400" dirty="0"/>
          </a:p>
        </p:txBody>
      </p:sp>
      <p:sp>
        <p:nvSpPr>
          <p:cNvPr id="3" name="Shape 1"/>
          <p:cNvSpPr/>
          <p:nvPr/>
        </p:nvSpPr>
        <p:spPr>
          <a:xfrm>
            <a:off x="548640" y="1828800"/>
            <a:ext cx="2286000" cy="2194560"/>
          </a:xfrm>
          <a:prstGeom prst="roundRect">
            <a:avLst>
              <a:gd name="adj" fmla="val 5000"/>
            </a:avLst>
          </a:prstGeom>
          <a:solidFill>
            <a:schemeClr val="bg2"/>
          </a:solidFill>
          <a:ln/>
        </p:spPr>
      </p:sp>
      <p:sp>
        <p:nvSpPr>
          <p:cNvPr id="4" name="Shape 2"/>
          <p:cNvSpPr/>
          <p:nvPr/>
        </p:nvSpPr>
        <p:spPr>
          <a:xfrm>
            <a:off x="1325880" y="2057400"/>
            <a:ext cx="731520" cy="731520"/>
          </a:xfrm>
          <a:prstGeom prst="ellipse">
            <a:avLst/>
          </a:prstGeom>
          <a:solidFill>
            <a:srgbClr val="2E7BDB"/>
          </a:solidFill>
          <a:ln/>
        </p:spPr>
      </p:sp>
      <p:pic>
        <p:nvPicPr>
          <p:cNvPr id="5" name="Image 0" descr="preencoded.png">    </p:cNvPr>
          <p:cNvPicPr>
            <a:picLocks noChangeAspect="1"/>
          </p:cNvPicPr>
          <p:nvPr/>
        </p:nvPicPr>
        <p:blipFill>
          <a:blip r:embed="rId1"/>
          <a:stretch>
            <a:fillRect/>
          </a:stretch>
        </p:blipFill>
        <p:spPr>
          <a:xfrm>
            <a:off x="1523390" y="2254910"/>
            <a:ext cx="336499" cy="336499"/>
          </a:xfrm>
          <a:prstGeom prst="rect">
            <a:avLst/>
          </a:prstGeom>
        </p:spPr>
      </p:pic>
      <p:sp>
        <p:nvSpPr>
          <p:cNvPr id="6" name="Text 3"/>
          <p:cNvSpPr txBox="1"/>
          <p:nvPr/>
        </p:nvSpPr>
        <p:spPr>
          <a:xfrm>
            <a:off x="548640" y="2926080"/>
            <a:ext cx="2286000" cy="365760"/>
          </a:xfrm>
          <a:prstGeom prst="rect">
            <a:avLst/>
          </a:prstGeom>
          <a:noFill/>
          <a:ln/>
        </p:spPr>
        <p:txBody>
          <a:bodyPr wrap="square" lIns="0" tIns="0" rIns="0" bIns="0" rtlCol="0" anchor="t"/>
          <a:lstStyle/>
          <a:p>
            <a:pPr algn="ctr" indent="0" marL="0">
              <a:buNone/>
            </a:pPr>
            <a:r>
              <a:rPr lang="en-US" sz="1400" dirty="0">
                <a:solidFill>
                  <a:schemeClr val="accent6"/>
                </a:solidFill>
              </a:rPr>
              <a:t>Student page</a:t>
            </a:r>
            <a:endParaRPr lang="en-US" sz="1400" dirty="0"/>
          </a:p>
        </p:txBody>
      </p:sp>
      <p:sp>
        <p:nvSpPr>
          <p:cNvPr id="7" name="Text 4"/>
          <p:cNvSpPr txBox="1"/>
          <p:nvPr/>
        </p:nvSpPr>
        <p:spPr>
          <a:xfrm>
            <a:off x="548640" y="3291840"/>
            <a:ext cx="2286000" cy="457200"/>
          </a:xfrm>
          <a:prstGeom prst="rect">
            <a:avLst/>
          </a:prstGeom>
          <a:noFill/>
          <a:ln/>
        </p:spPr>
        <p:txBody>
          <a:bodyPr wrap="square" lIns="0" tIns="0" rIns="0" bIns="0" rtlCol="0" anchor="t"/>
          <a:lstStyle/>
          <a:p>
            <a:pPr algn="ctr" indent="0" marL="0">
              <a:buNone/>
            </a:pPr>
            <a:r>
              <a:rPr lang="en-US" sz="1800" b="1" dirty="0">
                <a:solidFill>
                  <a:schemeClr val="tx2"/>
                </a:solidFill>
              </a:rPr>
              <a:t>Streamlit</a:t>
            </a:r>
            <a:endParaRPr lang="en-US" sz="1800" dirty="0"/>
          </a:p>
        </p:txBody>
      </p:sp>
      <p:sp>
        <p:nvSpPr>
          <p:cNvPr id="8" name="Shape 5"/>
          <p:cNvSpPr/>
          <p:nvPr/>
        </p:nvSpPr>
        <p:spPr>
          <a:xfrm>
            <a:off x="2880360" y="2926080"/>
            <a:ext cx="365760" cy="0"/>
          </a:xfrm>
          <a:prstGeom prst="line">
            <a:avLst/>
          </a:prstGeom>
          <a:noFill/>
          <a:ln w="25400">
            <a:solidFill>
              <a:schemeClr val="accent6"/>
            </a:solidFill>
            <a:prstDash val="solid"/>
            <a:tailEnd type="triangle"/>
          </a:ln>
        </p:spPr>
      </p:sp>
      <p:sp>
        <p:nvSpPr>
          <p:cNvPr id="9" name="Shape 6"/>
          <p:cNvSpPr/>
          <p:nvPr/>
        </p:nvSpPr>
        <p:spPr>
          <a:xfrm>
            <a:off x="3291840" y="1828800"/>
            <a:ext cx="2286000" cy="2194560"/>
          </a:xfrm>
          <a:prstGeom prst="roundRect">
            <a:avLst>
              <a:gd name="adj" fmla="val 5000"/>
            </a:avLst>
          </a:prstGeom>
          <a:solidFill>
            <a:schemeClr val="bg2"/>
          </a:solidFill>
          <a:ln/>
        </p:spPr>
      </p:sp>
      <p:sp>
        <p:nvSpPr>
          <p:cNvPr id="10" name="Shape 7"/>
          <p:cNvSpPr/>
          <p:nvPr/>
        </p:nvSpPr>
        <p:spPr>
          <a:xfrm>
            <a:off x="4069080" y="2057400"/>
            <a:ext cx="731520" cy="731520"/>
          </a:xfrm>
          <a:prstGeom prst="ellipse">
            <a:avLst/>
          </a:prstGeom>
          <a:solidFill>
            <a:srgbClr val="1C2457"/>
          </a:solidFill>
          <a:ln/>
        </p:spPr>
      </p:sp>
      <p:pic>
        <p:nvPicPr>
          <p:cNvPr id="11" name="Image 1" descr="preencoded.png">    </p:cNvPr>
          <p:cNvPicPr>
            <a:picLocks noChangeAspect="1"/>
          </p:cNvPicPr>
          <p:nvPr/>
        </p:nvPicPr>
        <p:blipFill>
          <a:blip r:embed="rId2"/>
          <a:stretch>
            <a:fillRect/>
          </a:stretch>
        </p:blipFill>
        <p:spPr>
          <a:xfrm>
            <a:off x="4266590" y="2254910"/>
            <a:ext cx="336499" cy="336499"/>
          </a:xfrm>
          <a:prstGeom prst="rect">
            <a:avLst/>
          </a:prstGeom>
        </p:spPr>
      </p:pic>
      <p:sp>
        <p:nvSpPr>
          <p:cNvPr id="12" name="Text 8"/>
          <p:cNvSpPr txBox="1"/>
          <p:nvPr/>
        </p:nvSpPr>
        <p:spPr>
          <a:xfrm>
            <a:off x="3291840" y="2926080"/>
            <a:ext cx="2286000" cy="365760"/>
          </a:xfrm>
          <a:prstGeom prst="rect">
            <a:avLst/>
          </a:prstGeom>
          <a:noFill/>
          <a:ln/>
        </p:spPr>
        <p:txBody>
          <a:bodyPr wrap="square" lIns="0" tIns="0" rIns="0" bIns="0" rtlCol="0" anchor="t"/>
          <a:lstStyle/>
          <a:p>
            <a:pPr algn="ctr" indent="0" marL="0">
              <a:buNone/>
            </a:pPr>
            <a:r>
              <a:rPr lang="en-US" sz="1400" dirty="0">
                <a:solidFill>
                  <a:schemeClr val="accent6"/>
                </a:solidFill>
              </a:rPr>
              <a:t>Backend</a:t>
            </a:r>
            <a:endParaRPr lang="en-US" sz="1400" dirty="0"/>
          </a:p>
        </p:txBody>
      </p:sp>
      <p:sp>
        <p:nvSpPr>
          <p:cNvPr id="13" name="Text 9"/>
          <p:cNvSpPr txBox="1"/>
          <p:nvPr/>
        </p:nvSpPr>
        <p:spPr>
          <a:xfrm>
            <a:off x="3291840" y="3291840"/>
            <a:ext cx="2286000" cy="457200"/>
          </a:xfrm>
          <a:prstGeom prst="rect">
            <a:avLst/>
          </a:prstGeom>
          <a:noFill/>
          <a:ln/>
        </p:spPr>
        <p:txBody>
          <a:bodyPr wrap="square" lIns="0" tIns="0" rIns="0" bIns="0" rtlCol="0" anchor="t"/>
          <a:lstStyle/>
          <a:p>
            <a:pPr algn="ctr" indent="0" marL="0">
              <a:buNone/>
            </a:pPr>
            <a:r>
              <a:rPr lang="en-US" sz="1800" b="1" dirty="0">
                <a:solidFill>
                  <a:schemeClr val="tx2"/>
                </a:solidFill>
              </a:rPr>
              <a:t>FastAPI · Python</a:t>
            </a:r>
            <a:endParaRPr lang="en-US" sz="1800" dirty="0"/>
          </a:p>
        </p:txBody>
      </p:sp>
      <p:sp>
        <p:nvSpPr>
          <p:cNvPr id="14" name="Shape 10"/>
          <p:cNvSpPr/>
          <p:nvPr/>
        </p:nvSpPr>
        <p:spPr>
          <a:xfrm>
            <a:off x="5623560" y="2926080"/>
            <a:ext cx="365760" cy="0"/>
          </a:xfrm>
          <a:prstGeom prst="line">
            <a:avLst/>
          </a:prstGeom>
          <a:noFill/>
          <a:ln w="25400">
            <a:solidFill>
              <a:schemeClr val="accent6"/>
            </a:solidFill>
            <a:prstDash val="solid"/>
            <a:tailEnd type="triangle"/>
          </a:ln>
        </p:spPr>
      </p:sp>
      <p:sp>
        <p:nvSpPr>
          <p:cNvPr id="15" name="Shape 11"/>
          <p:cNvSpPr/>
          <p:nvPr/>
        </p:nvSpPr>
        <p:spPr>
          <a:xfrm>
            <a:off x="6035040" y="1828800"/>
            <a:ext cx="2286000" cy="2194560"/>
          </a:xfrm>
          <a:prstGeom prst="roundRect">
            <a:avLst>
              <a:gd name="adj" fmla="val 5000"/>
            </a:avLst>
          </a:prstGeom>
          <a:solidFill>
            <a:schemeClr val="bg2"/>
          </a:solidFill>
          <a:ln/>
        </p:spPr>
      </p:sp>
      <p:sp>
        <p:nvSpPr>
          <p:cNvPr id="16" name="Shape 12"/>
          <p:cNvSpPr/>
          <p:nvPr/>
        </p:nvSpPr>
        <p:spPr>
          <a:xfrm>
            <a:off x="6812280" y="2057400"/>
            <a:ext cx="731520" cy="731520"/>
          </a:xfrm>
          <a:prstGeom prst="ellipse">
            <a:avLst/>
          </a:prstGeom>
          <a:solidFill>
            <a:srgbClr val="5B4FE0"/>
          </a:solidFill>
          <a:ln/>
        </p:spPr>
      </p:sp>
      <p:pic>
        <p:nvPicPr>
          <p:cNvPr id="17" name="Image 2" descr="preencoded.png">    </p:cNvPr>
          <p:cNvPicPr>
            <a:picLocks noChangeAspect="1"/>
          </p:cNvPicPr>
          <p:nvPr/>
        </p:nvPicPr>
        <p:blipFill>
          <a:blip r:embed="rId3"/>
          <a:stretch>
            <a:fillRect/>
          </a:stretch>
        </p:blipFill>
        <p:spPr>
          <a:xfrm>
            <a:off x="7009790" y="2254910"/>
            <a:ext cx="336499" cy="336499"/>
          </a:xfrm>
          <a:prstGeom prst="rect">
            <a:avLst/>
          </a:prstGeom>
        </p:spPr>
      </p:pic>
      <p:sp>
        <p:nvSpPr>
          <p:cNvPr id="18" name="Text 13"/>
          <p:cNvSpPr txBox="1"/>
          <p:nvPr/>
        </p:nvSpPr>
        <p:spPr>
          <a:xfrm>
            <a:off x="6035040" y="2926080"/>
            <a:ext cx="2286000" cy="365760"/>
          </a:xfrm>
          <a:prstGeom prst="rect">
            <a:avLst/>
          </a:prstGeom>
          <a:noFill/>
          <a:ln/>
        </p:spPr>
        <p:txBody>
          <a:bodyPr wrap="square" lIns="0" tIns="0" rIns="0" bIns="0" rtlCol="0" anchor="t"/>
          <a:lstStyle/>
          <a:p>
            <a:pPr algn="ctr" indent="0" marL="0">
              <a:buNone/>
            </a:pPr>
            <a:r>
              <a:rPr lang="en-US" sz="1400" dirty="0">
                <a:solidFill>
                  <a:schemeClr val="accent6"/>
                </a:solidFill>
              </a:rPr>
              <a:t>Workflow</a:t>
            </a:r>
            <a:endParaRPr lang="en-US" sz="1400" dirty="0"/>
          </a:p>
        </p:txBody>
      </p:sp>
      <p:sp>
        <p:nvSpPr>
          <p:cNvPr id="19" name="Text 14"/>
          <p:cNvSpPr txBox="1"/>
          <p:nvPr/>
        </p:nvSpPr>
        <p:spPr>
          <a:xfrm>
            <a:off x="6035040" y="3291840"/>
            <a:ext cx="2286000" cy="457200"/>
          </a:xfrm>
          <a:prstGeom prst="rect">
            <a:avLst/>
          </a:prstGeom>
          <a:noFill/>
          <a:ln/>
        </p:spPr>
        <p:txBody>
          <a:bodyPr wrap="square" lIns="0" tIns="0" rIns="0" bIns="0" rtlCol="0" anchor="t"/>
          <a:lstStyle/>
          <a:p>
            <a:pPr algn="ctr" indent="0" marL="0">
              <a:buNone/>
            </a:pPr>
            <a:r>
              <a:rPr lang="en-US" sz="1800" b="1" dirty="0">
                <a:solidFill>
                  <a:schemeClr val="tx2"/>
                </a:solidFill>
              </a:rPr>
              <a:t>LangGraph</a:t>
            </a:r>
            <a:endParaRPr lang="en-US" sz="1800" dirty="0"/>
          </a:p>
        </p:txBody>
      </p:sp>
      <p:sp>
        <p:nvSpPr>
          <p:cNvPr id="20" name="Shape 15"/>
          <p:cNvSpPr/>
          <p:nvPr/>
        </p:nvSpPr>
        <p:spPr>
          <a:xfrm>
            <a:off x="3291840" y="4343400"/>
            <a:ext cx="2286000" cy="1371600"/>
          </a:xfrm>
          <a:prstGeom prst="roundRect">
            <a:avLst>
              <a:gd name="adj" fmla="val 8000"/>
            </a:avLst>
          </a:prstGeom>
          <a:solidFill>
            <a:srgbClr val="FDF1E4"/>
          </a:solidFill>
          <a:ln/>
        </p:spPr>
      </p:sp>
      <p:pic>
        <p:nvPicPr>
          <p:cNvPr id="21" name="Image 3" descr="preencoded.png">    </p:cNvPr>
          <p:cNvPicPr>
            <a:picLocks noChangeAspect="1"/>
          </p:cNvPicPr>
          <p:nvPr/>
        </p:nvPicPr>
        <p:blipFill>
          <a:blip r:embed="rId4"/>
          <a:stretch>
            <a:fillRect/>
          </a:stretch>
        </p:blipFill>
        <p:spPr>
          <a:xfrm>
            <a:off x="3474720" y="4526280"/>
            <a:ext cx="411480" cy="411480"/>
          </a:xfrm>
          <a:prstGeom prst="rect">
            <a:avLst/>
          </a:prstGeom>
        </p:spPr>
      </p:pic>
      <p:sp>
        <p:nvSpPr>
          <p:cNvPr id="22" name="Text 16"/>
          <p:cNvSpPr txBox="1"/>
          <p:nvPr/>
        </p:nvSpPr>
        <p:spPr>
          <a:xfrm>
            <a:off x="3977640" y="4526280"/>
            <a:ext cx="1463040" cy="411480"/>
          </a:xfrm>
          <a:prstGeom prst="rect">
            <a:avLst/>
          </a:prstGeom>
          <a:noFill/>
          <a:ln/>
        </p:spPr>
        <p:txBody>
          <a:bodyPr wrap="square" lIns="0" tIns="0" rIns="0" bIns="0" rtlCol="0" anchor="ctr"/>
          <a:lstStyle/>
          <a:p>
            <a:pPr algn="l" indent="0" marL="0">
              <a:buNone/>
            </a:pPr>
            <a:r>
              <a:rPr lang="en-US" sz="1600" b="1" dirty="0">
                <a:solidFill>
                  <a:srgbClr val="8A4B0F"/>
                </a:solidFill>
              </a:rPr>
              <a:t>Security</a:t>
            </a:r>
            <a:endParaRPr lang="en-US" sz="1600" dirty="0"/>
          </a:p>
        </p:txBody>
      </p:sp>
      <p:sp>
        <p:nvSpPr>
          <p:cNvPr id="23" name="Text 17"/>
          <p:cNvSpPr txBox="1"/>
          <p:nvPr/>
        </p:nvSpPr>
        <p:spPr>
          <a:xfrm>
            <a:off x="3474720" y="5029200"/>
            <a:ext cx="1965960" cy="594360"/>
          </a:xfrm>
          <a:prstGeom prst="rect">
            <a:avLst/>
          </a:prstGeom>
          <a:noFill/>
          <a:ln/>
        </p:spPr>
        <p:txBody>
          <a:bodyPr wrap="square" lIns="0" tIns="0" rIns="0" bIns="0" rtlCol="0" anchor="t"/>
          <a:lstStyle/>
          <a:p>
            <a:pPr algn="l" indent="0" marL="0">
              <a:buNone/>
            </a:pPr>
            <a:r>
              <a:rPr lang="en-US" sz="1300" dirty="0">
                <a:solidFill>
                  <a:schemeClr val="tx1"/>
                </a:solidFill>
              </a:rPr>
              <a:t>Password hashing · JWT login token</a:t>
            </a:r>
            <a:endParaRPr lang="en-US" sz="1300" dirty="0"/>
          </a:p>
        </p:txBody>
      </p:sp>
      <p:sp>
        <p:nvSpPr>
          <p:cNvPr id="24" name="Shape 18"/>
          <p:cNvSpPr/>
          <p:nvPr/>
        </p:nvSpPr>
        <p:spPr>
          <a:xfrm flipV="1">
            <a:off x="4434840" y="4069080"/>
            <a:ext cx="0" cy="228600"/>
          </a:xfrm>
          <a:prstGeom prst="line">
            <a:avLst/>
          </a:prstGeom>
          <a:noFill/>
          <a:ln w="25400">
            <a:solidFill>
              <a:srgbClr val="D9822B"/>
            </a:solidFill>
            <a:prstDash val="solid"/>
            <a:tailEnd type="triangle"/>
          </a:ln>
        </p:spPr>
      </p:sp>
      <p:sp>
        <p:nvSpPr>
          <p:cNvPr id="25" name="Shape 19"/>
          <p:cNvSpPr/>
          <p:nvPr/>
        </p:nvSpPr>
        <p:spPr>
          <a:xfrm>
            <a:off x="8595360" y="1280160"/>
            <a:ext cx="3017520" cy="868680"/>
          </a:xfrm>
          <a:prstGeom prst="roundRect">
            <a:avLst>
              <a:gd name="adj" fmla="val 12632"/>
            </a:avLst>
          </a:prstGeom>
          <a:solidFill>
            <a:schemeClr val="bg2"/>
          </a:solidFill>
          <a:ln/>
        </p:spPr>
      </p:sp>
      <p:sp>
        <p:nvSpPr>
          <p:cNvPr id="26" name="Shape 20"/>
          <p:cNvSpPr/>
          <p:nvPr/>
        </p:nvSpPr>
        <p:spPr>
          <a:xfrm>
            <a:off x="8778240" y="1435608"/>
            <a:ext cx="548640" cy="548640"/>
          </a:xfrm>
          <a:prstGeom prst="ellipse">
            <a:avLst/>
          </a:prstGeom>
          <a:solidFill>
            <a:srgbClr val="5B4FE0"/>
          </a:solidFill>
          <a:ln/>
        </p:spPr>
      </p:sp>
      <p:pic>
        <p:nvPicPr>
          <p:cNvPr id="27" name="Image 4" descr="preencoded.png">    </p:cNvPr>
          <p:cNvPicPr>
            <a:picLocks noChangeAspect="1"/>
          </p:cNvPicPr>
          <p:nvPr/>
        </p:nvPicPr>
        <p:blipFill>
          <a:blip r:embed="rId5"/>
          <a:stretch>
            <a:fillRect/>
          </a:stretch>
        </p:blipFill>
        <p:spPr>
          <a:xfrm>
            <a:off x="8926373" y="1583741"/>
            <a:ext cx="252374" cy="252374"/>
          </a:xfrm>
          <a:prstGeom prst="rect">
            <a:avLst/>
          </a:prstGeom>
        </p:spPr>
      </p:pic>
      <p:sp>
        <p:nvSpPr>
          <p:cNvPr id="28" name="Text 21"/>
          <p:cNvSpPr txBox="1"/>
          <p:nvPr/>
        </p:nvSpPr>
        <p:spPr>
          <a:xfrm>
            <a:off x="9509760" y="1371600"/>
            <a:ext cx="2057400" cy="384048"/>
          </a:xfrm>
          <a:prstGeom prst="rect">
            <a:avLst/>
          </a:prstGeom>
          <a:noFill/>
          <a:ln/>
        </p:spPr>
        <p:txBody>
          <a:bodyPr wrap="square" lIns="0" tIns="0" rIns="0" bIns="0" rtlCol="0" anchor="t"/>
          <a:lstStyle/>
          <a:p>
            <a:pPr algn="l" indent="0" marL="0">
              <a:buNone/>
            </a:pPr>
            <a:r>
              <a:rPr lang="en-US" sz="1600" b="1" dirty="0">
                <a:solidFill>
                  <a:schemeClr val="tx2"/>
                </a:solidFill>
              </a:rPr>
              <a:t>Ollama</a:t>
            </a:r>
            <a:endParaRPr lang="en-US" sz="1600" dirty="0"/>
          </a:p>
        </p:txBody>
      </p:sp>
      <p:sp>
        <p:nvSpPr>
          <p:cNvPr id="29" name="Text 22"/>
          <p:cNvSpPr txBox="1"/>
          <p:nvPr/>
        </p:nvSpPr>
        <p:spPr>
          <a:xfrm>
            <a:off x="9509760" y="1737360"/>
            <a:ext cx="2057400" cy="347472"/>
          </a:xfrm>
          <a:prstGeom prst="rect">
            <a:avLst/>
          </a:prstGeom>
          <a:noFill/>
          <a:ln/>
        </p:spPr>
        <p:txBody>
          <a:bodyPr wrap="square" lIns="0" tIns="0" rIns="0" bIns="0" rtlCol="0" anchor="t"/>
          <a:lstStyle/>
          <a:p>
            <a:pPr algn="l" indent="0" marL="0">
              <a:buNone/>
            </a:pPr>
            <a:r>
              <a:rPr lang="en-US" sz="1300" dirty="0">
                <a:solidFill>
                  <a:schemeClr val="accent6"/>
                </a:solidFill>
              </a:rPr>
              <a:t>Local AI model</a:t>
            </a:r>
            <a:endParaRPr lang="en-US" sz="1300" dirty="0"/>
          </a:p>
        </p:txBody>
      </p:sp>
      <p:sp>
        <p:nvSpPr>
          <p:cNvPr id="30" name="Shape 23"/>
          <p:cNvSpPr/>
          <p:nvPr/>
        </p:nvSpPr>
        <p:spPr>
          <a:xfrm>
            <a:off x="8595360" y="2377440"/>
            <a:ext cx="3017520" cy="868680"/>
          </a:xfrm>
          <a:prstGeom prst="roundRect">
            <a:avLst>
              <a:gd name="adj" fmla="val 12632"/>
            </a:avLst>
          </a:prstGeom>
          <a:solidFill>
            <a:schemeClr val="bg2"/>
          </a:solidFill>
          <a:ln/>
        </p:spPr>
      </p:sp>
      <p:sp>
        <p:nvSpPr>
          <p:cNvPr id="31" name="Shape 24"/>
          <p:cNvSpPr/>
          <p:nvPr/>
        </p:nvSpPr>
        <p:spPr>
          <a:xfrm>
            <a:off x="8778240" y="2532888"/>
            <a:ext cx="548640" cy="548640"/>
          </a:xfrm>
          <a:prstGeom prst="ellipse">
            <a:avLst/>
          </a:prstGeom>
          <a:solidFill>
            <a:srgbClr val="2E7BDB"/>
          </a:solidFill>
          <a:ln/>
        </p:spPr>
      </p:sp>
      <p:pic>
        <p:nvPicPr>
          <p:cNvPr id="32" name="Image 5" descr="preencoded.png">    </p:cNvPr>
          <p:cNvPicPr>
            <a:picLocks noChangeAspect="1"/>
          </p:cNvPicPr>
          <p:nvPr/>
        </p:nvPicPr>
        <p:blipFill>
          <a:blip r:embed="rId6"/>
          <a:stretch>
            <a:fillRect/>
          </a:stretch>
        </p:blipFill>
        <p:spPr>
          <a:xfrm>
            <a:off x="8926373" y="2681021"/>
            <a:ext cx="252374" cy="252374"/>
          </a:xfrm>
          <a:prstGeom prst="rect">
            <a:avLst/>
          </a:prstGeom>
        </p:spPr>
      </p:pic>
      <p:sp>
        <p:nvSpPr>
          <p:cNvPr id="33" name="Text 25"/>
          <p:cNvSpPr txBox="1"/>
          <p:nvPr/>
        </p:nvSpPr>
        <p:spPr>
          <a:xfrm>
            <a:off x="9509760" y="2468880"/>
            <a:ext cx="2057400" cy="384048"/>
          </a:xfrm>
          <a:prstGeom prst="rect">
            <a:avLst/>
          </a:prstGeom>
          <a:noFill/>
          <a:ln/>
        </p:spPr>
        <p:txBody>
          <a:bodyPr wrap="square" lIns="0" tIns="0" rIns="0" bIns="0" rtlCol="0" anchor="t"/>
          <a:lstStyle/>
          <a:p>
            <a:pPr algn="l" indent="0" marL="0">
              <a:buNone/>
            </a:pPr>
            <a:r>
              <a:rPr lang="en-US" sz="1600" b="1" dirty="0">
                <a:solidFill>
                  <a:schemeClr val="tx2"/>
                </a:solidFill>
              </a:rPr>
              <a:t>ChromaDB</a:t>
            </a:r>
            <a:endParaRPr lang="en-US" sz="1600" dirty="0"/>
          </a:p>
        </p:txBody>
      </p:sp>
      <p:sp>
        <p:nvSpPr>
          <p:cNvPr id="34" name="Text 26"/>
          <p:cNvSpPr txBox="1"/>
          <p:nvPr/>
        </p:nvSpPr>
        <p:spPr>
          <a:xfrm>
            <a:off x="9509760" y="2834640"/>
            <a:ext cx="2057400" cy="347472"/>
          </a:xfrm>
          <a:prstGeom prst="rect">
            <a:avLst/>
          </a:prstGeom>
          <a:noFill/>
          <a:ln/>
        </p:spPr>
        <p:txBody>
          <a:bodyPr wrap="square" lIns="0" tIns="0" rIns="0" bIns="0" rtlCol="0" anchor="t"/>
          <a:lstStyle/>
          <a:p>
            <a:pPr algn="l" indent="0" marL="0">
              <a:buNone/>
            </a:pPr>
            <a:r>
              <a:rPr lang="en-US" sz="1300" dirty="0">
                <a:solidFill>
                  <a:schemeClr val="accent6"/>
                </a:solidFill>
              </a:rPr>
              <a:t>Searches documents</a:t>
            </a:r>
            <a:endParaRPr lang="en-US" sz="1300" dirty="0"/>
          </a:p>
        </p:txBody>
      </p:sp>
      <p:sp>
        <p:nvSpPr>
          <p:cNvPr id="35" name="Shape 27"/>
          <p:cNvSpPr/>
          <p:nvPr/>
        </p:nvSpPr>
        <p:spPr>
          <a:xfrm>
            <a:off x="8595360" y="3474720"/>
            <a:ext cx="3017520" cy="868680"/>
          </a:xfrm>
          <a:prstGeom prst="roundRect">
            <a:avLst>
              <a:gd name="adj" fmla="val 12632"/>
            </a:avLst>
          </a:prstGeom>
          <a:solidFill>
            <a:schemeClr val="bg2"/>
          </a:solidFill>
          <a:ln/>
        </p:spPr>
      </p:sp>
      <p:sp>
        <p:nvSpPr>
          <p:cNvPr id="36" name="Shape 28"/>
          <p:cNvSpPr/>
          <p:nvPr/>
        </p:nvSpPr>
        <p:spPr>
          <a:xfrm>
            <a:off x="8778240" y="3630168"/>
            <a:ext cx="548640" cy="548640"/>
          </a:xfrm>
          <a:prstGeom prst="ellipse">
            <a:avLst/>
          </a:prstGeom>
          <a:solidFill>
            <a:srgbClr val="6B7385"/>
          </a:solidFill>
          <a:ln/>
        </p:spPr>
      </p:sp>
      <p:pic>
        <p:nvPicPr>
          <p:cNvPr id="37" name="Image 6" descr="preencoded.png">    </p:cNvPr>
          <p:cNvPicPr>
            <a:picLocks noChangeAspect="1"/>
          </p:cNvPicPr>
          <p:nvPr/>
        </p:nvPicPr>
        <p:blipFill>
          <a:blip r:embed="rId7"/>
          <a:stretch>
            <a:fillRect/>
          </a:stretch>
        </p:blipFill>
        <p:spPr>
          <a:xfrm>
            <a:off x="8926373" y="3778301"/>
            <a:ext cx="252374" cy="252374"/>
          </a:xfrm>
          <a:prstGeom prst="rect">
            <a:avLst/>
          </a:prstGeom>
        </p:spPr>
      </p:pic>
      <p:sp>
        <p:nvSpPr>
          <p:cNvPr id="38" name="Text 29"/>
          <p:cNvSpPr txBox="1"/>
          <p:nvPr/>
        </p:nvSpPr>
        <p:spPr>
          <a:xfrm>
            <a:off x="9509760" y="3566160"/>
            <a:ext cx="2057400" cy="384048"/>
          </a:xfrm>
          <a:prstGeom prst="rect">
            <a:avLst/>
          </a:prstGeom>
          <a:noFill/>
          <a:ln/>
        </p:spPr>
        <p:txBody>
          <a:bodyPr wrap="square" lIns="0" tIns="0" rIns="0" bIns="0" rtlCol="0" anchor="t"/>
          <a:lstStyle/>
          <a:p>
            <a:pPr algn="l" indent="0" marL="0">
              <a:buNone/>
            </a:pPr>
            <a:r>
              <a:rPr lang="en-US" sz="1600" b="1" dirty="0">
                <a:solidFill>
                  <a:schemeClr val="tx2"/>
                </a:solidFill>
              </a:rPr>
              <a:t>PDF processing</a:t>
            </a:r>
            <a:endParaRPr lang="en-US" sz="1600" dirty="0"/>
          </a:p>
        </p:txBody>
      </p:sp>
      <p:sp>
        <p:nvSpPr>
          <p:cNvPr id="39" name="Text 30"/>
          <p:cNvSpPr txBox="1"/>
          <p:nvPr/>
        </p:nvSpPr>
        <p:spPr>
          <a:xfrm>
            <a:off x="9509760" y="3931920"/>
            <a:ext cx="2057400" cy="347472"/>
          </a:xfrm>
          <a:prstGeom prst="rect">
            <a:avLst/>
          </a:prstGeom>
          <a:noFill/>
          <a:ln/>
        </p:spPr>
        <p:txBody>
          <a:bodyPr wrap="square" lIns="0" tIns="0" rIns="0" bIns="0" rtlCol="0" anchor="t"/>
          <a:lstStyle/>
          <a:p>
            <a:pPr algn="l" indent="0" marL="0">
              <a:buNone/>
            </a:pPr>
            <a:r>
              <a:rPr lang="en-US" sz="1300" dirty="0">
                <a:solidFill>
                  <a:schemeClr val="accent6"/>
                </a:solidFill>
              </a:rPr>
              <a:t>Reads documents by page</a:t>
            </a:r>
            <a:endParaRPr lang="en-US" sz="1300" dirty="0"/>
          </a:p>
        </p:txBody>
      </p:sp>
      <p:sp>
        <p:nvSpPr>
          <p:cNvPr id="40" name="Shape 31"/>
          <p:cNvSpPr/>
          <p:nvPr/>
        </p:nvSpPr>
        <p:spPr>
          <a:xfrm>
            <a:off x="8595360" y="4572000"/>
            <a:ext cx="3017520" cy="868680"/>
          </a:xfrm>
          <a:prstGeom prst="roundRect">
            <a:avLst>
              <a:gd name="adj" fmla="val 12632"/>
            </a:avLst>
          </a:prstGeom>
          <a:solidFill>
            <a:schemeClr val="bg2"/>
          </a:solidFill>
          <a:ln/>
        </p:spPr>
      </p:sp>
      <p:sp>
        <p:nvSpPr>
          <p:cNvPr id="41" name="Shape 32"/>
          <p:cNvSpPr/>
          <p:nvPr/>
        </p:nvSpPr>
        <p:spPr>
          <a:xfrm>
            <a:off x="8778240" y="4727448"/>
            <a:ext cx="548640" cy="548640"/>
          </a:xfrm>
          <a:prstGeom prst="ellipse">
            <a:avLst/>
          </a:prstGeom>
          <a:solidFill>
            <a:srgbClr val="1C2457"/>
          </a:solidFill>
          <a:ln/>
        </p:spPr>
      </p:sp>
      <p:pic>
        <p:nvPicPr>
          <p:cNvPr id="42" name="Image 7" descr="preencoded.png">    </p:cNvPr>
          <p:cNvPicPr>
            <a:picLocks noChangeAspect="1"/>
          </p:cNvPicPr>
          <p:nvPr/>
        </p:nvPicPr>
        <p:blipFill>
          <a:blip r:embed="rId8"/>
          <a:stretch>
            <a:fillRect/>
          </a:stretch>
        </p:blipFill>
        <p:spPr>
          <a:xfrm>
            <a:off x="8926373" y="4875581"/>
            <a:ext cx="252374" cy="252374"/>
          </a:xfrm>
          <a:prstGeom prst="rect">
            <a:avLst/>
          </a:prstGeom>
        </p:spPr>
      </p:pic>
      <p:sp>
        <p:nvSpPr>
          <p:cNvPr id="43" name="Text 33"/>
          <p:cNvSpPr txBox="1"/>
          <p:nvPr/>
        </p:nvSpPr>
        <p:spPr>
          <a:xfrm>
            <a:off x="9509760" y="4663440"/>
            <a:ext cx="2057400" cy="384048"/>
          </a:xfrm>
          <a:prstGeom prst="rect">
            <a:avLst/>
          </a:prstGeom>
          <a:noFill/>
          <a:ln/>
        </p:spPr>
        <p:txBody>
          <a:bodyPr wrap="square" lIns="0" tIns="0" rIns="0" bIns="0" rtlCol="0" anchor="t"/>
          <a:lstStyle/>
          <a:p>
            <a:pPr algn="l" indent="0" marL="0">
              <a:buNone/>
            </a:pPr>
            <a:r>
              <a:rPr lang="en-US" sz="1600" b="1" dirty="0">
                <a:solidFill>
                  <a:schemeClr val="tx2"/>
                </a:solidFill>
              </a:rPr>
              <a:t>SQLite</a:t>
            </a:r>
            <a:endParaRPr lang="en-US" sz="1600" dirty="0"/>
          </a:p>
        </p:txBody>
      </p:sp>
      <p:sp>
        <p:nvSpPr>
          <p:cNvPr id="44" name="Text 34"/>
          <p:cNvSpPr txBox="1"/>
          <p:nvPr/>
        </p:nvSpPr>
        <p:spPr>
          <a:xfrm>
            <a:off x="9509760" y="5029200"/>
            <a:ext cx="2057400" cy="347472"/>
          </a:xfrm>
          <a:prstGeom prst="rect">
            <a:avLst/>
          </a:prstGeom>
          <a:noFill/>
          <a:ln/>
        </p:spPr>
        <p:txBody>
          <a:bodyPr wrap="square" lIns="0" tIns="0" rIns="0" bIns="0" rtlCol="0" anchor="t"/>
          <a:lstStyle/>
          <a:p>
            <a:pPr algn="l" indent="0" marL="0">
              <a:buNone/>
            </a:pPr>
            <a:r>
              <a:rPr lang="en-US" sz="1300" dirty="0">
                <a:solidFill>
                  <a:schemeClr val="accent6"/>
                </a:solidFill>
              </a:rPr>
              <a:t>Student records + rules</a:t>
            </a:r>
            <a:endParaRPr lang="en-US" sz="1300" dirty="0"/>
          </a:p>
        </p:txBody>
      </p:sp>
      <p:sp>
        <p:nvSpPr>
          <p:cNvPr id="45" name="Shape 35"/>
          <p:cNvSpPr/>
          <p:nvPr/>
        </p:nvSpPr>
        <p:spPr>
          <a:xfrm flipV="1">
            <a:off x="10104120" y="3273552"/>
            <a:ext cx="0" cy="182880"/>
          </a:xfrm>
          <a:prstGeom prst="line">
            <a:avLst/>
          </a:prstGeom>
          <a:noFill/>
          <a:ln w="25400">
            <a:solidFill>
              <a:srgbClr val="6B7385"/>
            </a:solidFill>
            <a:prstDash val="solid"/>
            <a:tailEnd type="triangle"/>
          </a:ln>
        </p:spPr>
      </p:sp>
      <p:sp>
        <p:nvSpPr>
          <p:cNvPr id="46" name="Shape 36"/>
          <p:cNvSpPr/>
          <p:nvPr/>
        </p:nvSpPr>
        <p:spPr>
          <a:xfrm flipV="1">
            <a:off x="7909560" y="1709928"/>
            <a:ext cx="594360" cy="1216152"/>
          </a:xfrm>
          <a:prstGeom prst="line">
            <a:avLst/>
          </a:prstGeom>
          <a:noFill/>
          <a:ln w="25400">
            <a:solidFill>
              <a:schemeClr val="accent6"/>
            </a:solidFill>
            <a:prstDash val="solid"/>
            <a:tailEnd type="triangle"/>
          </a:ln>
        </p:spPr>
      </p:sp>
      <p:sp>
        <p:nvSpPr>
          <p:cNvPr id="47" name="Shape 37"/>
          <p:cNvSpPr/>
          <p:nvPr/>
        </p:nvSpPr>
        <p:spPr>
          <a:xfrm flipV="1">
            <a:off x="7909560" y="2807208"/>
            <a:ext cx="594360" cy="118872"/>
          </a:xfrm>
          <a:prstGeom prst="line">
            <a:avLst/>
          </a:prstGeom>
          <a:noFill/>
          <a:ln w="25400">
            <a:solidFill>
              <a:schemeClr val="accent6"/>
            </a:solidFill>
            <a:prstDash val="solid"/>
            <a:tailEnd type="triangle"/>
          </a:ln>
        </p:spPr>
      </p:sp>
      <p:sp>
        <p:nvSpPr>
          <p:cNvPr id="48" name="Shape 38"/>
          <p:cNvSpPr/>
          <p:nvPr/>
        </p:nvSpPr>
        <p:spPr>
          <a:xfrm>
            <a:off x="7909560" y="2926080"/>
            <a:ext cx="594360" cy="2075688"/>
          </a:xfrm>
          <a:prstGeom prst="line">
            <a:avLst/>
          </a:prstGeom>
          <a:noFill/>
          <a:ln w="25400">
            <a:solidFill>
              <a:schemeClr val="accent6"/>
            </a:solidFill>
            <a:prstDash val="solid"/>
            <a:tailEnd type="triangle"/>
          </a:ln>
        </p:spPr>
      </p:sp>
      <p:sp>
        <p:nvSpPr>
          <p:cNvPr id="49" name="Text 39"/>
          <p:cNvSpPr txBox="1"/>
          <p:nvPr/>
        </p:nvSpPr>
        <p:spPr>
          <a:xfrm>
            <a:off x="548640" y="5897880"/>
            <a:ext cx="11064240" cy="365760"/>
          </a:xfrm>
          <a:prstGeom prst="rect">
            <a:avLst/>
          </a:prstGeom>
          <a:noFill/>
          <a:ln/>
        </p:spPr>
        <p:txBody>
          <a:bodyPr wrap="square" lIns="0" tIns="0" rIns="0" bIns="0" rtlCol="0" anchor="t"/>
          <a:lstStyle/>
          <a:p>
            <a:pPr algn="l" indent="0" marL="0">
              <a:buNone/>
            </a:pPr>
            <a:r>
              <a:rPr lang="en-US" sz="1500" i="1" dirty="0">
                <a:solidFill>
                  <a:schemeClr val="accent6"/>
                </a:solidFill>
              </a:rPr>
              <a:t>One backend, no extra services. The AI runs on our own laptop: no data leaves the machine.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Built for Reliable Answers</a:t>
            </a:r>
            <a:endParaRPr lang="en-US" sz="3400" dirty="0"/>
          </a:p>
        </p:txBody>
      </p:sp>
      <p:sp>
        <p:nvSpPr>
          <p:cNvPr id="3" name="Shape 1"/>
          <p:cNvSpPr/>
          <p:nvPr/>
        </p:nvSpPr>
        <p:spPr>
          <a:xfrm>
            <a:off x="548640" y="1325880"/>
            <a:ext cx="2560320" cy="3017520"/>
          </a:xfrm>
          <a:prstGeom prst="roundRect">
            <a:avLst>
              <a:gd name="adj" fmla="val 4286"/>
            </a:avLst>
          </a:prstGeom>
          <a:solidFill>
            <a:schemeClr val="bg2"/>
          </a:solidFill>
          <a:ln/>
        </p:spPr>
      </p:sp>
      <p:sp>
        <p:nvSpPr>
          <p:cNvPr id="4" name="Shape 2"/>
          <p:cNvSpPr/>
          <p:nvPr/>
        </p:nvSpPr>
        <p:spPr>
          <a:xfrm>
            <a:off x="1417320" y="1600200"/>
            <a:ext cx="822960" cy="822960"/>
          </a:xfrm>
          <a:prstGeom prst="ellipse">
            <a:avLst/>
          </a:prstGeom>
          <a:solidFill>
            <a:srgbClr val="1C2457"/>
          </a:solidFill>
          <a:ln/>
        </p:spPr>
      </p:sp>
      <p:pic>
        <p:nvPicPr>
          <p:cNvPr id="5" name="Image 0" descr="preencoded.png">    </p:cNvPr>
          <p:cNvPicPr>
            <a:picLocks noChangeAspect="1"/>
          </p:cNvPicPr>
          <p:nvPr/>
        </p:nvPicPr>
        <p:blipFill>
          <a:blip r:embed="rId1"/>
          <a:stretch>
            <a:fillRect/>
          </a:stretch>
        </p:blipFill>
        <p:spPr>
          <a:xfrm>
            <a:off x="1639519" y="1822399"/>
            <a:ext cx="378562" cy="378562"/>
          </a:xfrm>
          <a:prstGeom prst="rect">
            <a:avLst/>
          </a:prstGeom>
        </p:spPr>
      </p:pic>
      <p:sp>
        <p:nvSpPr>
          <p:cNvPr id="6" name="Text 3"/>
          <p:cNvSpPr txBox="1"/>
          <p:nvPr/>
        </p:nvSpPr>
        <p:spPr>
          <a:xfrm>
            <a:off x="685800" y="2606040"/>
            <a:ext cx="2286000" cy="457200"/>
          </a:xfrm>
          <a:prstGeom prst="rect">
            <a:avLst/>
          </a:prstGeom>
          <a:noFill/>
          <a:ln/>
        </p:spPr>
        <p:txBody>
          <a:bodyPr wrap="square" lIns="0" tIns="0" rIns="0" bIns="0" rtlCol="0" anchor="t"/>
          <a:lstStyle/>
          <a:p>
            <a:pPr algn="ctr" indent="0" marL="0">
              <a:buNone/>
            </a:pPr>
            <a:r>
              <a:rPr lang="en-US" sz="1800" b="1" dirty="0">
                <a:solidFill>
                  <a:schemeClr val="tx2"/>
                </a:solidFill>
              </a:rPr>
              <a:t>Secure identity</a:t>
            </a:r>
            <a:endParaRPr lang="en-US" sz="1800" dirty="0"/>
          </a:p>
        </p:txBody>
      </p:sp>
      <p:sp>
        <p:nvSpPr>
          <p:cNvPr id="7" name="Text 4"/>
          <p:cNvSpPr txBox="1"/>
          <p:nvPr/>
        </p:nvSpPr>
        <p:spPr>
          <a:xfrm>
            <a:off x="731520" y="3108960"/>
            <a:ext cx="2194560" cy="1097280"/>
          </a:xfrm>
          <a:prstGeom prst="rect">
            <a:avLst/>
          </a:prstGeom>
          <a:noFill/>
          <a:ln/>
        </p:spPr>
        <p:txBody>
          <a:bodyPr wrap="square" lIns="0" tIns="0" rIns="0" bIns="0" rtlCol="0" anchor="t"/>
          <a:lstStyle/>
          <a:p>
            <a:pPr algn="ctr" indent="0" marL="0">
              <a:buNone/>
            </a:pPr>
            <a:r>
              <a:rPr lang="en-US" sz="1400" dirty="0">
                <a:solidFill>
                  <a:schemeClr val="tx1"/>
                </a:solidFill>
              </a:rPr>
              <a:t>Only logged-in students can see their own data</a:t>
            </a:r>
            <a:endParaRPr lang="en-US" sz="1400" dirty="0"/>
          </a:p>
        </p:txBody>
      </p:sp>
      <p:sp>
        <p:nvSpPr>
          <p:cNvPr id="8" name="Shape 5"/>
          <p:cNvSpPr/>
          <p:nvPr/>
        </p:nvSpPr>
        <p:spPr>
          <a:xfrm>
            <a:off x="3383280" y="1325880"/>
            <a:ext cx="2560320" cy="3017520"/>
          </a:xfrm>
          <a:prstGeom prst="roundRect">
            <a:avLst>
              <a:gd name="adj" fmla="val 4286"/>
            </a:avLst>
          </a:prstGeom>
          <a:solidFill>
            <a:schemeClr val="bg2"/>
          </a:solidFill>
          <a:ln/>
        </p:spPr>
      </p:sp>
      <p:sp>
        <p:nvSpPr>
          <p:cNvPr id="9" name="Shape 6"/>
          <p:cNvSpPr/>
          <p:nvPr/>
        </p:nvSpPr>
        <p:spPr>
          <a:xfrm>
            <a:off x="4251960" y="1600200"/>
            <a:ext cx="822960" cy="822960"/>
          </a:xfrm>
          <a:prstGeom prst="ellipse">
            <a:avLst/>
          </a:prstGeom>
          <a:solidFill>
            <a:srgbClr val="2E7BDB"/>
          </a:solidFill>
          <a:ln/>
        </p:spPr>
      </p:sp>
      <p:pic>
        <p:nvPicPr>
          <p:cNvPr id="10" name="Image 1" descr="preencoded.png">    </p:cNvPr>
          <p:cNvPicPr>
            <a:picLocks noChangeAspect="1"/>
          </p:cNvPicPr>
          <p:nvPr/>
        </p:nvPicPr>
        <p:blipFill>
          <a:blip r:embed="rId2"/>
          <a:stretch>
            <a:fillRect/>
          </a:stretch>
        </p:blipFill>
        <p:spPr>
          <a:xfrm>
            <a:off x="4474159" y="1822399"/>
            <a:ext cx="378562" cy="378562"/>
          </a:xfrm>
          <a:prstGeom prst="rect">
            <a:avLst/>
          </a:prstGeom>
        </p:spPr>
      </p:pic>
      <p:sp>
        <p:nvSpPr>
          <p:cNvPr id="11" name="Text 7"/>
          <p:cNvSpPr txBox="1"/>
          <p:nvPr/>
        </p:nvSpPr>
        <p:spPr>
          <a:xfrm>
            <a:off x="3520440" y="2606040"/>
            <a:ext cx="2286000" cy="457200"/>
          </a:xfrm>
          <a:prstGeom prst="rect">
            <a:avLst/>
          </a:prstGeom>
          <a:noFill/>
          <a:ln/>
        </p:spPr>
        <p:txBody>
          <a:bodyPr wrap="square" lIns="0" tIns="0" rIns="0" bIns="0" rtlCol="0" anchor="t"/>
          <a:lstStyle/>
          <a:p>
            <a:pPr algn="ctr" indent="0" marL="0">
              <a:buNone/>
            </a:pPr>
            <a:r>
              <a:rPr lang="en-US" sz="1800" b="1" dirty="0">
                <a:solidFill>
                  <a:schemeClr val="tx2"/>
                </a:solidFill>
              </a:rPr>
              <a:t>Grounded answers</a:t>
            </a:r>
            <a:endParaRPr lang="en-US" sz="1800" dirty="0"/>
          </a:p>
        </p:txBody>
      </p:sp>
      <p:sp>
        <p:nvSpPr>
          <p:cNvPr id="12" name="Text 8"/>
          <p:cNvSpPr txBox="1"/>
          <p:nvPr/>
        </p:nvSpPr>
        <p:spPr>
          <a:xfrm>
            <a:off x="3566160" y="3108960"/>
            <a:ext cx="2194560" cy="1097280"/>
          </a:xfrm>
          <a:prstGeom prst="rect">
            <a:avLst/>
          </a:prstGeom>
          <a:noFill/>
          <a:ln/>
        </p:spPr>
        <p:txBody>
          <a:bodyPr wrap="square" lIns="0" tIns="0" rIns="0" bIns="0" rtlCol="0" anchor="t"/>
          <a:lstStyle/>
          <a:p>
            <a:pPr algn="ctr" indent="0" marL="0">
              <a:buNone/>
            </a:pPr>
            <a:r>
              <a:rPr lang="en-US" sz="1400" dirty="0">
                <a:solidFill>
                  <a:schemeClr val="tx1"/>
                </a:solidFill>
              </a:rPr>
              <a:t>Based on university documents and student records</a:t>
            </a:r>
            <a:endParaRPr lang="en-US" sz="1400" dirty="0"/>
          </a:p>
        </p:txBody>
      </p:sp>
      <p:sp>
        <p:nvSpPr>
          <p:cNvPr id="13" name="Shape 9"/>
          <p:cNvSpPr/>
          <p:nvPr/>
        </p:nvSpPr>
        <p:spPr>
          <a:xfrm>
            <a:off x="6217920" y="1325880"/>
            <a:ext cx="2560320" cy="3017520"/>
          </a:xfrm>
          <a:prstGeom prst="roundRect">
            <a:avLst>
              <a:gd name="adj" fmla="val 4286"/>
            </a:avLst>
          </a:prstGeom>
          <a:solidFill>
            <a:schemeClr val="bg2"/>
          </a:solidFill>
          <a:ln/>
        </p:spPr>
      </p:sp>
      <p:sp>
        <p:nvSpPr>
          <p:cNvPr id="14" name="Shape 10"/>
          <p:cNvSpPr/>
          <p:nvPr/>
        </p:nvSpPr>
        <p:spPr>
          <a:xfrm>
            <a:off x="7086600" y="1600200"/>
            <a:ext cx="822960" cy="822960"/>
          </a:xfrm>
          <a:prstGeom prst="ellipse">
            <a:avLst/>
          </a:prstGeom>
          <a:solidFill>
            <a:srgbClr val="5B4FE0"/>
          </a:solidFill>
          <a:ln/>
        </p:spPr>
      </p:sp>
      <p:pic>
        <p:nvPicPr>
          <p:cNvPr id="15" name="Image 2" descr="preencoded.png">    </p:cNvPr>
          <p:cNvPicPr>
            <a:picLocks noChangeAspect="1"/>
          </p:cNvPicPr>
          <p:nvPr/>
        </p:nvPicPr>
        <p:blipFill>
          <a:blip r:embed="rId3"/>
          <a:stretch>
            <a:fillRect/>
          </a:stretch>
        </p:blipFill>
        <p:spPr>
          <a:xfrm>
            <a:off x="7308799" y="1822399"/>
            <a:ext cx="378562" cy="378562"/>
          </a:xfrm>
          <a:prstGeom prst="rect">
            <a:avLst/>
          </a:prstGeom>
        </p:spPr>
      </p:pic>
      <p:sp>
        <p:nvSpPr>
          <p:cNvPr id="16" name="Text 11"/>
          <p:cNvSpPr txBox="1"/>
          <p:nvPr/>
        </p:nvSpPr>
        <p:spPr>
          <a:xfrm>
            <a:off x="6355080" y="2606040"/>
            <a:ext cx="2286000" cy="457200"/>
          </a:xfrm>
          <a:prstGeom prst="rect">
            <a:avLst/>
          </a:prstGeom>
          <a:noFill/>
          <a:ln/>
        </p:spPr>
        <p:txBody>
          <a:bodyPr wrap="square" lIns="0" tIns="0" rIns="0" bIns="0" rtlCol="0" anchor="t"/>
          <a:lstStyle/>
          <a:p>
            <a:pPr algn="ctr" indent="0" marL="0">
              <a:buNone/>
            </a:pPr>
            <a:r>
              <a:rPr lang="en-US" sz="1800" b="1" dirty="0">
                <a:solidFill>
                  <a:schemeClr val="tx2"/>
                </a:solidFill>
              </a:rPr>
              <a:t>Exact decisions</a:t>
            </a:r>
            <a:endParaRPr lang="en-US" sz="1800" dirty="0"/>
          </a:p>
        </p:txBody>
      </p:sp>
      <p:sp>
        <p:nvSpPr>
          <p:cNvPr id="17" name="Text 12"/>
          <p:cNvSpPr txBox="1"/>
          <p:nvPr/>
        </p:nvSpPr>
        <p:spPr>
          <a:xfrm>
            <a:off x="6400800" y="3108960"/>
            <a:ext cx="2194560" cy="1097280"/>
          </a:xfrm>
          <a:prstGeom prst="rect">
            <a:avLst/>
          </a:prstGeom>
          <a:noFill/>
          <a:ln/>
        </p:spPr>
        <p:txBody>
          <a:bodyPr wrap="square" lIns="0" tIns="0" rIns="0" bIns="0" rtlCol="0" anchor="t"/>
          <a:lstStyle/>
          <a:p>
            <a:pPr algn="ctr" indent="0" marL="0">
              <a:buNone/>
            </a:pPr>
            <a:r>
              <a:rPr lang="en-US" sz="1400" dirty="0">
                <a:solidFill>
                  <a:schemeClr val="tx1"/>
                </a:solidFill>
              </a:rPr>
              <a:t>Eligibility and rule choices are made by code</a:t>
            </a:r>
            <a:endParaRPr lang="en-US" sz="1400" dirty="0"/>
          </a:p>
        </p:txBody>
      </p:sp>
      <p:sp>
        <p:nvSpPr>
          <p:cNvPr id="18" name="Shape 13"/>
          <p:cNvSpPr/>
          <p:nvPr/>
        </p:nvSpPr>
        <p:spPr>
          <a:xfrm>
            <a:off x="9052560" y="1325880"/>
            <a:ext cx="2560320" cy="3017520"/>
          </a:xfrm>
          <a:prstGeom prst="roundRect">
            <a:avLst>
              <a:gd name="adj" fmla="val 4286"/>
            </a:avLst>
          </a:prstGeom>
          <a:solidFill>
            <a:schemeClr val="bg2"/>
          </a:solidFill>
          <a:ln/>
        </p:spPr>
      </p:sp>
      <p:sp>
        <p:nvSpPr>
          <p:cNvPr id="19" name="Shape 14"/>
          <p:cNvSpPr/>
          <p:nvPr/>
        </p:nvSpPr>
        <p:spPr>
          <a:xfrm>
            <a:off x="9921240" y="1600200"/>
            <a:ext cx="822960" cy="822960"/>
          </a:xfrm>
          <a:prstGeom prst="ellipse">
            <a:avLst/>
          </a:prstGeom>
          <a:solidFill>
            <a:srgbClr val="13976B"/>
          </a:solidFill>
          <a:ln/>
        </p:spPr>
      </p:sp>
      <p:pic>
        <p:nvPicPr>
          <p:cNvPr id="20" name="Image 3" descr="preencoded.png">    </p:cNvPr>
          <p:cNvPicPr>
            <a:picLocks noChangeAspect="1"/>
          </p:cNvPicPr>
          <p:nvPr/>
        </p:nvPicPr>
        <p:blipFill>
          <a:blip r:embed="rId4"/>
          <a:stretch>
            <a:fillRect/>
          </a:stretch>
        </p:blipFill>
        <p:spPr>
          <a:xfrm>
            <a:off x="10143439" y="1822399"/>
            <a:ext cx="378562" cy="378562"/>
          </a:xfrm>
          <a:prstGeom prst="rect">
            <a:avLst/>
          </a:prstGeom>
        </p:spPr>
      </p:pic>
      <p:sp>
        <p:nvSpPr>
          <p:cNvPr id="21" name="Text 15"/>
          <p:cNvSpPr txBox="1"/>
          <p:nvPr/>
        </p:nvSpPr>
        <p:spPr>
          <a:xfrm>
            <a:off x="9189720" y="2606040"/>
            <a:ext cx="2286000" cy="457200"/>
          </a:xfrm>
          <a:prstGeom prst="rect">
            <a:avLst/>
          </a:prstGeom>
          <a:noFill/>
          <a:ln/>
        </p:spPr>
        <p:txBody>
          <a:bodyPr wrap="square" lIns="0" tIns="0" rIns="0" bIns="0" rtlCol="0" anchor="t"/>
          <a:lstStyle/>
          <a:p>
            <a:pPr algn="ctr" indent="0" marL="0">
              <a:buNone/>
            </a:pPr>
            <a:r>
              <a:rPr lang="en-US" sz="1800" b="1" dirty="0">
                <a:solidFill>
                  <a:schemeClr val="tx2"/>
                </a:solidFill>
              </a:rPr>
              <a:t>Citations</a:t>
            </a:r>
            <a:endParaRPr lang="en-US" sz="1800" dirty="0"/>
          </a:p>
        </p:txBody>
      </p:sp>
      <p:sp>
        <p:nvSpPr>
          <p:cNvPr id="22" name="Text 16"/>
          <p:cNvSpPr txBox="1"/>
          <p:nvPr/>
        </p:nvSpPr>
        <p:spPr>
          <a:xfrm>
            <a:off x="9235440" y="3108960"/>
            <a:ext cx="2194560" cy="1097280"/>
          </a:xfrm>
          <a:prstGeom prst="rect">
            <a:avLst/>
          </a:prstGeom>
          <a:noFill/>
          <a:ln/>
        </p:spPr>
        <p:txBody>
          <a:bodyPr wrap="square" lIns="0" tIns="0" rIns="0" bIns="0" rtlCol="0" anchor="t"/>
          <a:lstStyle/>
          <a:p>
            <a:pPr algn="ctr" indent="0" marL="0">
              <a:buNone/>
            </a:pPr>
            <a:r>
              <a:rPr lang="en-US" sz="1400" dirty="0">
                <a:solidFill>
                  <a:schemeClr val="tx1"/>
                </a:solidFill>
              </a:rPr>
              <a:t>Every policy answer shows its source</a:t>
            </a:r>
            <a:endParaRPr lang="en-US" sz="1400" dirty="0"/>
          </a:p>
        </p:txBody>
      </p:sp>
      <p:sp>
        <p:nvSpPr>
          <p:cNvPr id="23" name="Text 17"/>
          <p:cNvSpPr txBox="1"/>
          <p:nvPr/>
        </p:nvSpPr>
        <p:spPr>
          <a:xfrm>
            <a:off x="548640" y="4617720"/>
            <a:ext cx="3474720" cy="731520"/>
          </a:xfrm>
          <a:prstGeom prst="rect">
            <a:avLst/>
          </a:prstGeom>
          <a:noFill/>
          <a:ln/>
        </p:spPr>
        <p:txBody>
          <a:bodyPr wrap="square" lIns="0" tIns="0" rIns="0" bIns="0" rtlCol="0" anchor="t"/>
          <a:lstStyle/>
          <a:p>
            <a:pPr algn="l" indent="0" marL="0">
              <a:buNone/>
            </a:pPr>
            <a:r>
              <a:rPr lang="en-US" sz="4000" b="1" dirty="0">
                <a:solidFill>
                  <a:schemeClr val="accent1"/>
                </a:solidFill>
              </a:rPr>
              <a:t>73</a:t>
            </a:r>
            <a:endParaRPr lang="en-US" sz="4000" dirty="0"/>
          </a:p>
        </p:txBody>
      </p:sp>
      <p:sp>
        <p:nvSpPr>
          <p:cNvPr id="24" name="Text 18"/>
          <p:cNvSpPr txBox="1"/>
          <p:nvPr/>
        </p:nvSpPr>
        <p:spPr>
          <a:xfrm>
            <a:off x="548640" y="5349240"/>
            <a:ext cx="3474720" cy="365760"/>
          </a:xfrm>
          <a:prstGeom prst="rect">
            <a:avLst/>
          </a:prstGeom>
          <a:noFill/>
          <a:ln/>
        </p:spPr>
        <p:txBody>
          <a:bodyPr wrap="square" lIns="0" tIns="0" rIns="0" bIns="0" rtlCol="0" anchor="t"/>
          <a:lstStyle/>
          <a:p>
            <a:pPr algn="l" indent="0" marL="0">
              <a:buNone/>
            </a:pPr>
            <a:r>
              <a:rPr lang="en-US" sz="1400" dirty="0">
                <a:solidFill>
                  <a:schemeClr val="accent6"/>
                </a:solidFill>
              </a:rPr>
              <a:t>automated tests passing</a:t>
            </a:r>
            <a:endParaRPr lang="en-US" sz="1400" dirty="0"/>
          </a:p>
        </p:txBody>
      </p:sp>
      <p:sp>
        <p:nvSpPr>
          <p:cNvPr id="25" name="Text 19"/>
          <p:cNvSpPr txBox="1"/>
          <p:nvPr/>
        </p:nvSpPr>
        <p:spPr>
          <a:xfrm>
            <a:off x="4297680" y="4617720"/>
            <a:ext cx="3474720" cy="731520"/>
          </a:xfrm>
          <a:prstGeom prst="rect">
            <a:avLst/>
          </a:prstGeom>
          <a:noFill/>
          <a:ln/>
        </p:spPr>
        <p:txBody>
          <a:bodyPr wrap="square" lIns="0" tIns="0" rIns="0" bIns="0" rtlCol="0" anchor="t"/>
          <a:lstStyle/>
          <a:p>
            <a:pPr algn="l" indent="0" marL="0">
              <a:buNone/>
            </a:pPr>
            <a:r>
              <a:rPr lang="en-US" sz="4000" b="1" dirty="0">
                <a:solidFill>
                  <a:schemeClr val="accent1"/>
                </a:solidFill>
              </a:rPr>
              <a:t>30 / 30</a:t>
            </a:r>
            <a:endParaRPr lang="en-US" sz="4000" dirty="0"/>
          </a:p>
        </p:txBody>
      </p:sp>
      <p:sp>
        <p:nvSpPr>
          <p:cNvPr id="26" name="Text 20"/>
          <p:cNvSpPr txBox="1"/>
          <p:nvPr/>
        </p:nvSpPr>
        <p:spPr>
          <a:xfrm>
            <a:off x="4297680" y="5349240"/>
            <a:ext cx="3474720" cy="365760"/>
          </a:xfrm>
          <a:prstGeom prst="rect">
            <a:avLst/>
          </a:prstGeom>
          <a:noFill/>
          <a:ln/>
        </p:spPr>
        <p:txBody>
          <a:bodyPr wrap="square" lIns="0" tIns="0" rIns="0" bIns="0" rtlCol="0" anchor="t"/>
          <a:lstStyle/>
          <a:p>
            <a:pPr algn="l" indent="0" marL="0">
              <a:buNone/>
            </a:pPr>
            <a:r>
              <a:rPr lang="en-US" sz="1400" dirty="0">
                <a:solidFill>
                  <a:schemeClr val="accent6"/>
                </a:solidFill>
              </a:rPr>
              <a:t>evaluation questions correct</a:t>
            </a:r>
            <a:endParaRPr lang="en-US" sz="1400" dirty="0"/>
          </a:p>
        </p:txBody>
      </p:sp>
      <p:sp>
        <p:nvSpPr>
          <p:cNvPr id="27" name="Text 21"/>
          <p:cNvSpPr txBox="1"/>
          <p:nvPr/>
        </p:nvSpPr>
        <p:spPr>
          <a:xfrm>
            <a:off x="8046720" y="4617720"/>
            <a:ext cx="3474720" cy="731520"/>
          </a:xfrm>
          <a:prstGeom prst="rect">
            <a:avLst/>
          </a:prstGeom>
          <a:noFill/>
          <a:ln/>
        </p:spPr>
        <p:txBody>
          <a:bodyPr wrap="square" lIns="0" tIns="0" rIns="0" bIns="0" rtlCol="0" anchor="t"/>
          <a:lstStyle/>
          <a:p>
            <a:pPr algn="l" indent="0" marL="0">
              <a:buNone/>
            </a:pPr>
            <a:r>
              <a:rPr lang="en-US" sz="4000" b="1" dirty="0">
                <a:solidFill>
                  <a:schemeClr val="accent1"/>
                </a:solidFill>
              </a:rPr>
              <a:t>4 / 4</a:t>
            </a:r>
            <a:endParaRPr lang="en-US" sz="4000" dirty="0"/>
          </a:p>
        </p:txBody>
      </p:sp>
      <p:sp>
        <p:nvSpPr>
          <p:cNvPr id="28" name="Text 22"/>
          <p:cNvSpPr txBox="1"/>
          <p:nvPr/>
        </p:nvSpPr>
        <p:spPr>
          <a:xfrm>
            <a:off x="8046720" y="5349240"/>
            <a:ext cx="3474720" cy="365760"/>
          </a:xfrm>
          <a:prstGeom prst="rect">
            <a:avLst/>
          </a:prstGeom>
          <a:noFill/>
          <a:ln/>
        </p:spPr>
        <p:txBody>
          <a:bodyPr wrap="square" lIns="0" tIns="0" rIns="0" bIns="0" rtlCol="0" anchor="t"/>
          <a:lstStyle/>
          <a:p>
            <a:pPr algn="l" indent="0" marL="0">
              <a:buNone/>
            </a:pPr>
            <a:r>
              <a:rPr lang="en-US" sz="1400" dirty="0">
                <a:solidFill>
                  <a:schemeClr val="accent6"/>
                </a:solidFill>
              </a:rPr>
              <a:t>unauthorized attempts refused</a:t>
            </a:r>
            <a:endParaRPr lang="en-US" sz="1400" dirty="0"/>
          </a:p>
        </p:txBody>
      </p:sp>
      <p:sp>
        <p:nvSpPr>
          <p:cNvPr id="29" name="Text 23"/>
          <p:cNvSpPr txBox="1"/>
          <p:nvPr/>
        </p:nvSpPr>
        <p:spPr>
          <a:xfrm>
            <a:off x="548640" y="5852160"/>
            <a:ext cx="11064240" cy="365760"/>
          </a:xfrm>
          <a:prstGeom prst="rect">
            <a:avLst/>
          </a:prstGeom>
          <a:noFill/>
          <a:ln/>
        </p:spPr>
        <p:txBody>
          <a:bodyPr wrap="square" lIns="0" tIns="0" rIns="0" bIns="0" rtlCol="0" anchor="t"/>
          <a:lstStyle/>
          <a:p>
            <a:pPr algn="l" indent="0" marL="0">
              <a:buNone/>
            </a:pPr>
            <a:r>
              <a:rPr lang="en-US" sz="1500" i="1" dirty="0">
                <a:solidFill>
                  <a:schemeClr val="tx1"/>
                </a:solidFill>
              </a:rPr>
              <a:t>Prompt injection and unauthorized student-data access are tested.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What Can a Student Ask?</a:t>
            </a:r>
            <a:endParaRPr lang="en-US" sz="3400" dirty="0"/>
          </a:p>
        </p:txBody>
      </p:sp>
      <p:sp>
        <p:nvSpPr>
          <p:cNvPr id="3" name="Shape 1"/>
          <p:cNvSpPr/>
          <p:nvPr/>
        </p:nvSpPr>
        <p:spPr>
          <a:xfrm>
            <a:off x="548640" y="1371600"/>
            <a:ext cx="3566160" cy="868680"/>
          </a:xfrm>
          <a:prstGeom prst="roundRect">
            <a:avLst>
              <a:gd name="adj" fmla="val 26316"/>
            </a:avLst>
          </a:prstGeom>
          <a:solidFill>
            <a:schemeClr val="bg2"/>
          </a:solidFill>
          <a:ln/>
        </p:spPr>
      </p:sp>
      <p:pic>
        <p:nvPicPr>
          <p:cNvPr id="4" name="Image 0" descr="preencoded.png">    </p:cNvPr>
          <p:cNvPicPr>
            <a:picLocks noChangeAspect="1"/>
          </p:cNvPicPr>
          <p:nvPr/>
        </p:nvPicPr>
        <p:blipFill>
          <a:blip r:embed="rId1"/>
          <a:stretch>
            <a:fillRect/>
          </a:stretch>
        </p:blipFill>
        <p:spPr>
          <a:xfrm>
            <a:off x="749808" y="1618488"/>
            <a:ext cx="365760" cy="365760"/>
          </a:xfrm>
          <a:prstGeom prst="rect">
            <a:avLst/>
          </a:prstGeom>
        </p:spPr>
      </p:pic>
      <p:sp>
        <p:nvSpPr>
          <p:cNvPr id="5" name="Text 2"/>
          <p:cNvSpPr txBox="1"/>
          <p:nvPr/>
        </p:nvSpPr>
        <p:spPr>
          <a:xfrm>
            <a:off x="1234440" y="1371600"/>
            <a:ext cx="2743200" cy="868680"/>
          </a:xfrm>
          <a:prstGeom prst="rect">
            <a:avLst/>
          </a:prstGeom>
          <a:noFill/>
          <a:ln/>
        </p:spPr>
        <p:txBody>
          <a:bodyPr wrap="square" lIns="0" tIns="0" rIns="0" bIns="0" rtlCol="0" anchor="ctr"/>
          <a:lstStyle/>
          <a:p>
            <a:pPr algn="l" indent="0" marL="0">
              <a:buNone/>
            </a:pPr>
            <a:r>
              <a:rPr lang="en-US" sz="1500" b="1" dirty="0">
                <a:solidFill>
                  <a:schemeClr val="tx2"/>
                </a:solidFill>
              </a:rPr>
              <a:t>Am I eligible for the CS201 exam?</a:t>
            </a:r>
            <a:endParaRPr lang="en-US" sz="1500" dirty="0"/>
          </a:p>
        </p:txBody>
      </p:sp>
      <p:sp>
        <p:nvSpPr>
          <p:cNvPr id="6" name="Shape 3"/>
          <p:cNvSpPr/>
          <p:nvPr/>
        </p:nvSpPr>
        <p:spPr>
          <a:xfrm>
            <a:off x="4434840" y="1371600"/>
            <a:ext cx="3566160" cy="868680"/>
          </a:xfrm>
          <a:prstGeom prst="roundRect">
            <a:avLst>
              <a:gd name="adj" fmla="val 26316"/>
            </a:avLst>
          </a:prstGeom>
          <a:solidFill>
            <a:srgbClr val="ECEAFD"/>
          </a:solidFill>
          <a:ln/>
        </p:spPr>
      </p:sp>
      <p:pic>
        <p:nvPicPr>
          <p:cNvPr id="7" name="Image 1" descr="preencoded.png">    </p:cNvPr>
          <p:cNvPicPr>
            <a:picLocks noChangeAspect="1"/>
          </p:cNvPicPr>
          <p:nvPr/>
        </p:nvPicPr>
        <p:blipFill>
          <a:blip r:embed="rId2"/>
          <a:stretch>
            <a:fillRect/>
          </a:stretch>
        </p:blipFill>
        <p:spPr>
          <a:xfrm>
            <a:off x="4636008" y="1618488"/>
            <a:ext cx="365760" cy="365760"/>
          </a:xfrm>
          <a:prstGeom prst="rect">
            <a:avLst/>
          </a:prstGeom>
        </p:spPr>
      </p:pic>
      <p:sp>
        <p:nvSpPr>
          <p:cNvPr id="8" name="Text 4"/>
          <p:cNvSpPr txBox="1"/>
          <p:nvPr/>
        </p:nvSpPr>
        <p:spPr>
          <a:xfrm>
            <a:off x="5120640" y="1371600"/>
            <a:ext cx="2743200" cy="868680"/>
          </a:xfrm>
          <a:prstGeom prst="rect">
            <a:avLst/>
          </a:prstGeom>
          <a:noFill/>
          <a:ln/>
        </p:spPr>
        <p:txBody>
          <a:bodyPr wrap="square" lIns="0" tIns="0" rIns="0" bIns="0" rtlCol="0" anchor="ctr"/>
          <a:lstStyle/>
          <a:p>
            <a:pPr algn="l" indent="0" marL="0">
              <a:buNone/>
            </a:pPr>
            <a:r>
              <a:rPr lang="en-US" sz="1500" b="1" dirty="0">
                <a:solidFill>
                  <a:schemeClr val="tx2"/>
                </a:solidFill>
              </a:rPr>
              <a:t>What is my attendance in CS201?</a:t>
            </a:r>
            <a:endParaRPr lang="en-US" sz="1500" dirty="0"/>
          </a:p>
        </p:txBody>
      </p:sp>
      <p:sp>
        <p:nvSpPr>
          <p:cNvPr id="9" name="Shape 5"/>
          <p:cNvSpPr/>
          <p:nvPr/>
        </p:nvSpPr>
        <p:spPr>
          <a:xfrm>
            <a:off x="868680" y="2606040"/>
            <a:ext cx="3566160" cy="868680"/>
          </a:xfrm>
          <a:prstGeom prst="roundRect">
            <a:avLst>
              <a:gd name="adj" fmla="val 26316"/>
            </a:avLst>
          </a:prstGeom>
          <a:solidFill>
            <a:schemeClr val="bg2"/>
          </a:solidFill>
          <a:ln/>
        </p:spPr>
      </p:sp>
      <p:pic>
        <p:nvPicPr>
          <p:cNvPr id="10" name="Image 2" descr="preencoded.png">    </p:cNvPr>
          <p:cNvPicPr>
            <a:picLocks noChangeAspect="1"/>
          </p:cNvPicPr>
          <p:nvPr/>
        </p:nvPicPr>
        <p:blipFill>
          <a:blip r:embed="rId3"/>
          <a:stretch>
            <a:fillRect/>
          </a:stretch>
        </p:blipFill>
        <p:spPr>
          <a:xfrm>
            <a:off x="1069848" y="2852928"/>
            <a:ext cx="365760" cy="365760"/>
          </a:xfrm>
          <a:prstGeom prst="rect">
            <a:avLst/>
          </a:prstGeom>
        </p:spPr>
      </p:pic>
      <p:sp>
        <p:nvSpPr>
          <p:cNvPr id="11" name="Text 6"/>
          <p:cNvSpPr txBox="1"/>
          <p:nvPr/>
        </p:nvSpPr>
        <p:spPr>
          <a:xfrm>
            <a:off x="1554480" y="2606040"/>
            <a:ext cx="2743200" cy="868680"/>
          </a:xfrm>
          <a:prstGeom prst="rect">
            <a:avLst/>
          </a:prstGeom>
          <a:noFill/>
          <a:ln/>
        </p:spPr>
        <p:txBody>
          <a:bodyPr wrap="square" lIns="0" tIns="0" rIns="0" bIns="0" rtlCol="0" anchor="ctr"/>
          <a:lstStyle/>
          <a:p>
            <a:pPr algn="l" indent="0" marL="0">
              <a:buNone/>
            </a:pPr>
            <a:r>
              <a:rPr lang="en-US" sz="1500" b="1" dirty="0">
                <a:solidFill>
                  <a:schemeClr val="tx2"/>
                </a:solidFill>
              </a:rPr>
              <a:t>What is the minimum attendance required?</a:t>
            </a:r>
            <a:endParaRPr lang="en-US" sz="1500" dirty="0"/>
          </a:p>
        </p:txBody>
      </p:sp>
      <p:sp>
        <p:nvSpPr>
          <p:cNvPr id="12" name="Shape 7"/>
          <p:cNvSpPr/>
          <p:nvPr/>
        </p:nvSpPr>
        <p:spPr>
          <a:xfrm>
            <a:off x="4754880" y="2606040"/>
            <a:ext cx="3566160" cy="868680"/>
          </a:xfrm>
          <a:prstGeom prst="roundRect">
            <a:avLst>
              <a:gd name="adj" fmla="val 26316"/>
            </a:avLst>
          </a:prstGeom>
          <a:solidFill>
            <a:srgbClr val="ECEAFD"/>
          </a:solidFill>
          <a:ln/>
        </p:spPr>
      </p:sp>
      <p:pic>
        <p:nvPicPr>
          <p:cNvPr id="13" name="Image 3" descr="preencoded.png">    </p:cNvPr>
          <p:cNvPicPr>
            <a:picLocks noChangeAspect="1"/>
          </p:cNvPicPr>
          <p:nvPr/>
        </p:nvPicPr>
        <p:blipFill>
          <a:blip r:embed="rId4"/>
          <a:stretch>
            <a:fillRect/>
          </a:stretch>
        </p:blipFill>
        <p:spPr>
          <a:xfrm>
            <a:off x="4956048" y="2852928"/>
            <a:ext cx="365760" cy="365760"/>
          </a:xfrm>
          <a:prstGeom prst="rect">
            <a:avLst/>
          </a:prstGeom>
        </p:spPr>
      </p:pic>
      <p:sp>
        <p:nvSpPr>
          <p:cNvPr id="14" name="Text 8"/>
          <p:cNvSpPr txBox="1"/>
          <p:nvPr/>
        </p:nvSpPr>
        <p:spPr>
          <a:xfrm>
            <a:off x="5440680" y="2606040"/>
            <a:ext cx="2743200" cy="868680"/>
          </a:xfrm>
          <a:prstGeom prst="rect">
            <a:avLst/>
          </a:prstGeom>
          <a:noFill/>
          <a:ln/>
        </p:spPr>
        <p:txBody>
          <a:bodyPr wrap="square" lIns="0" tIns="0" rIns="0" bIns="0" rtlCol="0" anchor="ctr"/>
          <a:lstStyle/>
          <a:p>
            <a:pPr algn="l" indent="0" marL="0">
              <a:buNone/>
            </a:pPr>
            <a:r>
              <a:rPr lang="en-US" sz="1500" b="1" dirty="0">
                <a:solidFill>
                  <a:schemeClr val="tx2"/>
                </a:solidFill>
              </a:rPr>
              <a:t>How do I apply for the supplementary exam?</a:t>
            </a:r>
            <a:endParaRPr lang="en-US" sz="1500" dirty="0"/>
          </a:p>
        </p:txBody>
      </p:sp>
      <p:sp>
        <p:nvSpPr>
          <p:cNvPr id="15" name="Shape 9"/>
          <p:cNvSpPr/>
          <p:nvPr/>
        </p:nvSpPr>
        <p:spPr>
          <a:xfrm>
            <a:off x="548640" y="3840480"/>
            <a:ext cx="3566160" cy="868680"/>
          </a:xfrm>
          <a:prstGeom prst="roundRect">
            <a:avLst>
              <a:gd name="adj" fmla="val 26316"/>
            </a:avLst>
          </a:prstGeom>
          <a:solidFill>
            <a:schemeClr val="bg2"/>
          </a:solidFill>
          <a:ln/>
        </p:spPr>
      </p:sp>
      <p:pic>
        <p:nvPicPr>
          <p:cNvPr id="16" name="Image 4" descr="preencoded.png">    </p:cNvPr>
          <p:cNvPicPr>
            <a:picLocks noChangeAspect="1"/>
          </p:cNvPicPr>
          <p:nvPr/>
        </p:nvPicPr>
        <p:blipFill>
          <a:blip r:embed="rId5"/>
          <a:stretch>
            <a:fillRect/>
          </a:stretch>
        </p:blipFill>
        <p:spPr>
          <a:xfrm>
            <a:off x="749808" y="4087368"/>
            <a:ext cx="365760" cy="365760"/>
          </a:xfrm>
          <a:prstGeom prst="rect">
            <a:avLst/>
          </a:prstGeom>
        </p:spPr>
      </p:pic>
      <p:sp>
        <p:nvSpPr>
          <p:cNvPr id="17" name="Text 10"/>
          <p:cNvSpPr txBox="1"/>
          <p:nvPr/>
        </p:nvSpPr>
        <p:spPr>
          <a:xfrm>
            <a:off x="1234440" y="3840480"/>
            <a:ext cx="2743200" cy="868680"/>
          </a:xfrm>
          <a:prstGeom prst="rect">
            <a:avLst/>
          </a:prstGeom>
          <a:noFill/>
          <a:ln/>
        </p:spPr>
        <p:txBody>
          <a:bodyPr wrap="square" lIns="0" tIns="0" rIns="0" bIns="0" rtlCol="0" anchor="ctr"/>
          <a:lstStyle/>
          <a:p>
            <a:pPr algn="l" indent="0" marL="0">
              <a:buNone/>
            </a:pPr>
            <a:r>
              <a:rPr lang="en-US" sz="1500" b="1" dirty="0">
                <a:solidFill>
                  <a:schemeClr val="tx2"/>
                </a:solidFill>
              </a:rPr>
              <a:t>Am I eligible for campus placement?</a:t>
            </a:r>
            <a:endParaRPr lang="en-US" sz="1500" dirty="0"/>
          </a:p>
        </p:txBody>
      </p:sp>
      <p:sp>
        <p:nvSpPr>
          <p:cNvPr id="18" name="Shape 11"/>
          <p:cNvSpPr/>
          <p:nvPr/>
        </p:nvSpPr>
        <p:spPr>
          <a:xfrm>
            <a:off x="4434840" y="3840480"/>
            <a:ext cx="3566160" cy="868680"/>
          </a:xfrm>
          <a:prstGeom prst="roundRect">
            <a:avLst>
              <a:gd name="adj" fmla="val 26316"/>
            </a:avLst>
          </a:prstGeom>
          <a:solidFill>
            <a:srgbClr val="ECEAFD"/>
          </a:solidFill>
          <a:ln/>
        </p:spPr>
      </p:sp>
      <p:pic>
        <p:nvPicPr>
          <p:cNvPr id="19" name="Image 5" descr="preencoded.png">    </p:cNvPr>
          <p:cNvPicPr>
            <a:picLocks noChangeAspect="1"/>
          </p:cNvPicPr>
          <p:nvPr/>
        </p:nvPicPr>
        <p:blipFill>
          <a:blip r:embed="rId6"/>
          <a:stretch>
            <a:fillRect/>
          </a:stretch>
        </p:blipFill>
        <p:spPr>
          <a:xfrm>
            <a:off x="4636008" y="4087368"/>
            <a:ext cx="365760" cy="365760"/>
          </a:xfrm>
          <a:prstGeom prst="rect">
            <a:avLst/>
          </a:prstGeom>
        </p:spPr>
      </p:pic>
      <p:sp>
        <p:nvSpPr>
          <p:cNvPr id="20" name="Text 12"/>
          <p:cNvSpPr txBox="1"/>
          <p:nvPr/>
        </p:nvSpPr>
        <p:spPr>
          <a:xfrm>
            <a:off x="5120640" y="3840480"/>
            <a:ext cx="2743200" cy="868680"/>
          </a:xfrm>
          <a:prstGeom prst="rect">
            <a:avLst/>
          </a:prstGeom>
          <a:noFill/>
          <a:ln/>
        </p:spPr>
        <p:txBody>
          <a:bodyPr wrap="square" lIns="0" tIns="0" rIns="0" bIns="0" rtlCol="0" anchor="ctr"/>
          <a:lstStyle/>
          <a:p>
            <a:pPr algn="l" indent="0" marL="0">
              <a:buNone/>
            </a:pPr>
            <a:r>
              <a:rPr lang="en-US" sz="1500" b="1" dirty="0">
                <a:solidFill>
                  <a:schemeClr val="tx2"/>
                </a:solidFill>
              </a:rPr>
              <a:t>What is the fee for the supplementary exam?</a:t>
            </a:r>
            <a:endParaRPr lang="en-US" sz="1500" dirty="0"/>
          </a:p>
        </p:txBody>
      </p:sp>
      <p:sp>
        <p:nvSpPr>
          <p:cNvPr id="21" name="Shape 13"/>
          <p:cNvSpPr/>
          <p:nvPr/>
        </p:nvSpPr>
        <p:spPr>
          <a:xfrm>
            <a:off x="8778240" y="1371600"/>
            <a:ext cx="2834640" cy="1051560"/>
          </a:xfrm>
          <a:prstGeom prst="roundRect">
            <a:avLst>
              <a:gd name="adj" fmla="val 10435"/>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sp>
        <p:nvSpPr>
          <p:cNvPr id="22" name="Shape 14"/>
          <p:cNvSpPr/>
          <p:nvPr/>
        </p:nvSpPr>
        <p:spPr>
          <a:xfrm>
            <a:off x="8961120" y="1572768"/>
            <a:ext cx="640080" cy="640080"/>
          </a:xfrm>
          <a:prstGeom prst="ellipse">
            <a:avLst/>
          </a:prstGeom>
          <a:solidFill>
            <a:srgbClr val="2E7BDB"/>
          </a:solidFill>
          <a:ln/>
        </p:spPr>
      </p:sp>
      <p:pic>
        <p:nvPicPr>
          <p:cNvPr id="23" name="Image 6" descr="preencoded.png">    </p:cNvPr>
          <p:cNvPicPr>
            <a:picLocks noChangeAspect="1"/>
          </p:cNvPicPr>
          <p:nvPr/>
        </p:nvPicPr>
        <p:blipFill>
          <a:blip r:embed="rId7"/>
          <a:stretch>
            <a:fillRect/>
          </a:stretch>
        </p:blipFill>
        <p:spPr>
          <a:xfrm>
            <a:off x="9133942" y="1745590"/>
            <a:ext cx="294437" cy="294437"/>
          </a:xfrm>
          <a:prstGeom prst="rect">
            <a:avLst/>
          </a:prstGeom>
        </p:spPr>
      </p:pic>
      <p:sp>
        <p:nvSpPr>
          <p:cNvPr id="24" name="Text 15"/>
          <p:cNvSpPr txBox="1"/>
          <p:nvPr/>
        </p:nvSpPr>
        <p:spPr>
          <a:xfrm>
            <a:off x="9738360" y="1371600"/>
            <a:ext cx="1783080" cy="1051560"/>
          </a:xfrm>
          <a:prstGeom prst="rect">
            <a:avLst/>
          </a:prstGeom>
          <a:noFill/>
          <a:ln/>
        </p:spPr>
        <p:txBody>
          <a:bodyPr wrap="square" lIns="0" tIns="0" rIns="0" bIns="0" rtlCol="0" anchor="ctr"/>
          <a:lstStyle/>
          <a:p>
            <a:pPr algn="l" indent="0" marL="0">
              <a:buNone/>
            </a:pPr>
            <a:r>
              <a:rPr lang="en-US" sz="1600" b="1" dirty="0">
                <a:solidFill>
                  <a:schemeClr val="tx2"/>
                </a:solidFill>
              </a:rPr>
              <a:t>Student</a:t>
            </a:r>
            <a:endParaRPr lang="en-US" sz="1600" dirty="0"/>
          </a:p>
        </p:txBody>
      </p:sp>
      <p:sp>
        <p:nvSpPr>
          <p:cNvPr id="25" name="Shape 16"/>
          <p:cNvSpPr/>
          <p:nvPr/>
        </p:nvSpPr>
        <p:spPr>
          <a:xfrm>
            <a:off x="10195560" y="2468880"/>
            <a:ext cx="0" cy="320040"/>
          </a:xfrm>
          <a:prstGeom prst="line">
            <a:avLst/>
          </a:prstGeom>
          <a:noFill/>
          <a:ln w="25400">
            <a:solidFill>
              <a:schemeClr val="accent6"/>
            </a:solidFill>
            <a:prstDash val="solid"/>
            <a:tailEnd type="triangle"/>
          </a:ln>
        </p:spPr>
      </p:sp>
      <p:sp>
        <p:nvSpPr>
          <p:cNvPr id="26" name="Shape 17"/>
          <p:cNvSpPr/>
          <p:nvPr/>
        </p:nvSpPr>
        <p:spPr>
          <a:xfrm>
            <a:off x="8778240" y="2834640"/>
            <a:ext cx="2834640" cy="1051560"/>
          </a:xfrm>
          <a:prstGeom prst="roundRect">
            <a:avLst>
              <a:gd name="adj" fmla="val 10435"/>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sp>
        <p:nvSpPr>
          <p:cNvPr id="27" name="Shape 18"/>
          <p:cNvSpPr/>
          <p:nvPr/>
        </p:nvSpPr>
        <p:spPr>
          <a:xfrm>
            <a:off x="8961120" y="3035808"/>
            <a:ext cx="640080" cy="640080"/>
          </a:xfrm>
          <a:prstGeom prst="ellipse">
            <a:avLst/>
          </a:prstGeom>
          <a:solidFill>
            <a:srgbClr val="5B4FE0"/>
          </a:solidFill>
          <a:ln/>
        </p:spPr>
      </p:sp>
      <p:pic>
        <p:nvPicPr>
          <p:cNvPr id="28" name="Image 7" descr="preencoded.png">    </p:cNvPr>
          <p:cNvPicPr>
            <a:picLocks noChangeAspect="1"/>
          </p:cNvPicPr>
          <p:nvPr/>
        </p:nvPicPr>
        <p:blipFill>
          <a:blip r:embed="rId8"/>
          <a:stretch>
            <a:fillRect/>
          </a:stretch>
        </p:blipFill>
        <p:spPr>
          <a:xfrm>
            <a:off x="9133942" y="3208630"/>
            <a:ext cx="294437" cy="294437"/>
          </a:xfrm>
          <a:prstGeom prst="rect">
            <a:avLst/>
          </a:prstGeom>
        </p:spPr>
      </p:pic>
      <p:sp>
        <p:nvSpPr>
          <p:cNvPr id="29" name="Text 19"/>
          <p:cNvSpPr txBox="1"/>
          <p:nvPr/>
        </p:nvSpPr>
        <p:spPr>
          <a:xfrm>
            <a:off x="9738360" y="2834640"/>
            <a:ext cx="1783080" cy="1051560"/>
          </a:xfrm>
          <a:prstGeom prst="rect">
            <a:avLst/>
          </a:prstGeom>
          <a:noFill/>
          <a:ln/>
        </p:spPr>
        <p:txBody>
          <a:bodyPr wrap="square" lIns="0" tIns="0" rIns="0" bIns="0" rtlCol="0" anchor="ctr"/>
          <a:lstStyle/>
          <a:p>
            <a:pPr algn="l" indent="0" marL="0">
              <a:buNone/>
            </a:pPr>
            <a:r>
              <a:rPr lang="en-US" sz="1600" b="1" dirty="0">
                <a:solidFill>
                  <a:schemeClr val="tx2"/>
                </a:solidFill>
              </a:rPr>
              <a:t>Assistant</a:t>
            </a:r>
            <a:endParaRPr lang="en-US" sz="1600" dirty="0"/>
          </a:p>
        </p:txBody>
      </p:sp>
      <p:sp>
        <p:nvSpPr>
          <p:cNvPr id="30" name="Shape 20"/>
          <p:cNvSpPr/>
          <p:nvPr/>
        </p:nvSpPr>
        <p:spPr>
          <a:xfrm>
            <a:off x="10195560" y="3931920"/>
            <a:ext cx="0" cy="320040"/>
          </a:xfrm>
          <a:prstGeom prst="line">
            <a:avLst/>
          </a:prstGeom>
          <a:noFill/>
          <a:ln w="25400">
            <a:solidFill>
              <a:schemeClr val="accent6"/>
            </a:solidFill>
            <a:prstDash val="solid"/>
            <a:tailEnd type="triangle"/>
          </a:ln>
        </p:spPr>
      </p:sp>
      <p:sp>
        <p:nvSpPr>
          <p:cNvPr id="31" name="Shape 21"/>
          <p:cNvSpPr/>
          <p:nvPr/>
        </p:nvSpPr>
        <p:spPr>
          <a:xfrm>
            <a:off x="8778240" y="4297680"/>
            <a:ext cx="2834640" cy="1051560"/>
          </a:xfrm>
          <a:prstGeom prst="roundRect">
            <a:avLst>
              <a:gd name="adj" fmla="val 10435"/>
            </a:avLst>
          </a:prstGeom>
          <a:solidFill>
            <a:schemeClr val="bg1"/>
          </a:solidFill>
          <a:ln w="15875">
            <a:solidFill>
              <a:srgbClr val="D5D9EA"/>
            </a:solidFill>
            <a:prstDash val="solid"/>
          </a:ln>
          <a:effectLst>
            <a:outerShdw sx="100000" sy="100000" kx="0" ky="0" algn="bl" rotWithShape="0" blurRad="101600" dist="25400" dir="5400000">
              <a:srgbClr val="1C2457">
                <a:alpha val="12000"/>
              </a:srgbClr>
            </a:outerShdw>
          </a:effectLst>
        </p:spPr>
      </p:sp>
      <p:sp>
        <p:nvSpPr>
          <p:cNvPr id="32" name="Shape 22"/>
          <p:cNvSpPr/>
          <p:nvPr/>
        </p:nvSpPr>
        <p:spPr>
          <a:xfrm>
            <a:off x="8961120" y="4498848"/>
            <a:ext cx="640080" cy="640080"/>
          </a:xfrm>
          <a:prstGeom prst="ellipse">
            <a:avLst/>
          </a:prstGeom>
          <a:solidFill>
            <a:srgbClr val="13976B"/>
          </a:solidFill>
          <a:ln/>
        </p:spPr>
      </p:sp>
      <p:pic>
        <p:nvPicPr>
          <p:cNvPr id="33" name="Image 8" descr="preencoded.png">    </p:cNvPr>
          <p:cNvPicPr>
            <a:picLocks noChangeAspect="1"/>
          </p:cNvPicPr>
          <p:nvPr/>
        </p:nvPicPr>
        <p:blipFill>
          <a:blip r:embed="rId9"/>
          <a:stretch>
            <a:fillRect/>
          </a:stretch>
        </p:blipFill>
        <p:spPr>
          <a:xfrm>
            <a:off x="9133942" y="4671670"/>
            <a:ext cx="294437" cy="294437"/>
          </a:xfrm>
          <a:prstGeom prst="rect">
            <a:avLst/>
          </a:prstGeom>
        </p:spPr>
      </p:pic>
      <p:sp>
        <p:nvSpPr>
          <p:cNvPr id="34" name="Text 23"/>
          <p:cNvSpPr txBox="1"/>
          <p:nvPr/>
        </p:nvSpPr>
        <p:spPr>
          <a:xfrm>
            <a:off x="9738360" y="4297680"/>
            <a:ext cx="1783080" cy="1051560"/>
          </a:xfrm>
          <a:prstGeom prst="rect">
            <a:avLst/>
          </a:prstGeom>
          <a:noFill/>
          <a:ln/>
        </p:spPr>
        <p:txBody>
          <a:bodyPr wrap="square" lIns="0" tIns="0" rIns="0" bIns="0" rtlCol="0" anchor="ctr"/>
          <a:lstStyle/>
          <a:p>
            <a:pPr algn="l" indent="0" marL="0">
              <a:buNone/>
            </a:pPr>
            <a:r>
              <a:rPr lang="en-US" sz="1600" b="1" dirty="0">
                <a:solidFill>
                  <a:schemeClr val="tx2"/>
                </a:solidFill>
              </a:rPr>
              <a:t>Clear answer + source</a:t>
            </a:r>
            <a:endParaRPr lang="en-US" sz="1600" dirty="0"/>
          </a:p>
        </p:txBody>
      </p:sp>
      <p:sp>
        <p:nvSpPr>
          <p:cNvPr id="35" name="Text 24"/>
          <p:cNvSpPr txBox="1"/>
          <p:nvPr/>
        </p:nvSpPr>
        <p:spPr>
          <a:xfrm>
            <a:off x="548640" y="5852160"/>
            <a:ext cx="11064240" cy="365760"/>
          </a:xfrm>
          <a:prstGeom prst="rect">
            <a:avLst/>
          </a:prstGeom>
          <a:noFill/>
          <a:ln/>
        </p:spPr>
        <p:txBody>
          <a:bodyPr wrap="square" lIns="0" tIns="0" rIns="0" bIns="0" rtlCol="0" anchor="t"/>
          <a:lstStyle/>
          <a:p>
            <a:pPr algn="l" indent="0" marL="0">
              <a:buNone/>
            </a:pPr>
            <a:r>
              <a:rPr lang="en-US" sz="1500" i="1" dirty="0">
                <a:solidFill>
                  <a:schemeClr val="accent6"/>
                </a:solidFill>
              </a:rPr>
              <a:t>Every question above works in our live demo today.</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Impact &amp; Future Scope</a:t>
            </a:r>
            <a:endParaRPr lang="en-US" sz="3400" dirty="0"/>
          </a:p>
        </p:txBody>
      </p:sp>
      <p:sp>
        <p:nvSpPr>
          <p:cNvPr id="3" name="Shape 1"/>
          <p:cNvSpPr/>
          <p:nvPr/>
        </p:nvSpPr>
        <p:spPr>
          <a:xfrm>
            <a:off x="548640" y="1280160"/>
            <a:ext cx="5394960" cy="4572000"/>
          </a:xfrm>
          <a:prstGeom prst="roundRect">
            <a:avLst>
              <a:gd name="adj" fmla="val 2400"/>
            </a:avLst>
          </a:prstGeom>
          <a:solidFill>
            <a:schemeClr val="bg2"/>
          </a:solidFill>
          <a:ln/>
        </p:spPr>
      </p:sp>
      <p:sp>
        <p:nvSpPr>
          <p:cNvPr id="4" name="Text 2"/>
          <p:cNvSpPr txBox="1"/>
          <p:nvPr/>
        </p:nvSpPr>
        <p:spPr>
          <a:xfrm>
            <a:off x="822960" y="1463040"/>
            <a:ext cx="4572000" cy="457200"/>
          </a:xfrm>
          <a:prstGeom prst="rect">
            <a:avLst/>
          </a:prstGeom>
          <a:noFill/>
          <a:ln/>
        </p:spPr>
        <p:txBody>
          <a:bodyPr wrap="square" lIns="0" tIns="0" rIns="0" bIns="0" rtlCol="0" anchor="t"/>
          <a:lstStyle/>
          <a:p>
            <a:pPr algn="l" indent="0" marL="0">
              <a:buNone/>
            </a:pPr>
            <a:r>
              <a:rPr lang="en-US" sz="2200" b="1" dirty="0">
                <a:solidFill>
                  <a:schemeClr val="tx2"/>
                </a:solidFill>
              </a:rPr>
              <a:t>Today</a:t>
            </a:r>
            <a:endParaRPr lang="en-US" sz="2200" dirty="0"/>
          </a:p>
        </p:txBody>
      </p:sp>
      <p:pic>
        <p:nvPicPr>
          <p:cNvPr id="5" name="Image 0" descr="preencoded.png">    </p:cNvPr>
          <p:cNvPicPr>
            <a:picLocks noChangeAspect="1"/>
          </p:cNvPicPr>
          <p:nvPr/>
        </p:nvPicPr>
        <p:blipFill>
          <a:blip r:embed="rId1"/>
          <a:stretch>
            <a:fillRect/>
          </a:stretch>
        </p:blipFill>
        <p:spPr>
          <a:xfrm>
            <a:off x="822960" y="2167128"/>
            <a:ext cx="329184" cy="329184"/>
          </a:xfrm>
          <a:prstGeom prst="rect">
            <a:avLst/>
          </a:prstGeom>
        </p:spPr>
      </p:pic>
      <p:sp>
        <p:nvSpPr>
          <p:cNvPr id="6" name="Text 3"/>
          <p:cNvSpPr txBox="1"/>
          <p:nvPr/>
        </p:nvSpPr>
        <p:spPr>
          <a:xfrm>
            <a:off x="1325880" y="2103120"/>
            <a:ext cx="4480560" cy="457200"/>
          </a:xfrm>
          <a:prstGeom prst="rect">
            <a:avLst/>
          </a:prstGeom>
          <a:noFill/>
          <a:ln/>
        </p:spPr>
        <p:txBody>
          <a:bodyPr wrap="square" lIns="0" tIns="0" rIns="0" bIns="0" rtlCol="0" anchor="ctr"/>
          <a:lstStyle/>
          <a:p>
            <a:pPr algn="l" indent="0" marL="0">
              <a:buNone/>
            </a:pPr>
            <a:r>
              <a:rPr lang="en-US" sz="1600" dirty="0">
                <a:solidFill>
                  <a:schemeClr val="tx1"/>
                </a:solidFill>
              </a:rPr>
              <a:t>Faster access to university information</a:t>
            </a:r>
            <a:endParaRPr lang="en-US" sz="1600" dirty="0"/>
          </a:p>
        </p:txBody>
      </p:sp>
      <p:pic>
        <p:nvPicPr>
          <p:cNvPr id="7" name="Image 1" descr="preencoded.png">    </p:cNvPr>
          <p:cNvPicPr>
            <a:picLocks noChangeAspect="1"/>
          </p:cNvPicPr>
          <p:nvPr/>
        </p:nvPicPr>
        <p:blipFill>
          <a:blip r:embed="rId2"/>
          <a:stretch>
            <a:fillRect/>
          </a:stretch>
        </p:blipFill>
        <p:spPr>
          <a:xfrm>
            <a:off x="822960" y="2852928"/>
            <a:ext cx="329184" cy="329184"/>
          </a:xfrm>
          <a:prstGeom prst="rect">
            <a:avLst/>
          </a:prstGeom>
        </p:spPr>
      </p:pic>
      <p:sp>
        <p:nvSpPr>
          <p:cNvPr id="8" name="Text 4"/>
          <p:cNvSpPr txBox="1"/>
          <p:nvPr/>
        </p:nvSpPr>
        <p:spPr>
          <a:xfrm>
            <a:off x="1325880" y="2788920"/>
            <a:ext cx="4480560" cy="457200"/>
          </a:xfrm>
          <a:prstGeom prst="rect">
            <a:avLst/>
          </a:prstGeom>
          <a:noFill/>
          <a:ln/>
        </p:spPr>
        <p:txBody>
          <a:bodyPr wrap="square" lIns="0" tIns="0" rIns="0" bIns="0" rtlCol="0" anchor="ctr"/>
          <a:lstStyle/>
          <a:p>
            <a:pPr algn="l" indent="0" marL="0">
              <a:buNone/>
            </a:pPr>
            <a:r>
              <a:rPr lang="en-US" sz="1600" dirty="0">
                <a:solidFill>
                  <a:schemeClr val="tx1"/>
                </a:solidFill>
              </a:rPr>
              <a:t>Personal answers from the student's own records</a:t>
            </a:r>
            <a:endParaRPr lang="en-US" sz="1600" dirty="0"/>
          </a:p>
        </p:txBody>
      </p:sp>
      <p:pic>
        <p:nvPicPr>
          <p:cNvPr id="9" name="Image 2" descr="preencoded.png">    </p:cNvPr>
          <p:cNvPicPr>
            <a:picLocks noChangeAspect="1"/>
          </p:cNvPicPr>
          <p:nvPr/>
        </p:nvPicPr>
        <p:blipFill>
          <a:blip r:embed="rId3"/>
          <a:stretch>
            <a:fillRect/>
          </a:stretch>
        </p:blipFill>
        <p:spPr>
          <a:xfrm>
            <a:off x="822960" y="3538728"/>
            <a:ext cx="329184" cy="329184"/>
          </a:xfrm>
          <a:prstGeom prst="rect">
            <a:avLst/>
          </a:prstGeom>
        </p:spPr>
      </p:pic>
      <p:sp>
        <p:nvSpPr>
          <p:cNvPr id="10" name="Text 5"/>
          <p:cNvSpPr txBox="1"/>
          <p:nvPr/>
        </p:nvSpPr>
        <p:spPr>
          <a:xfrm>
            <a:off x="1325880" y="3474720"/>
            <a:ext cx="4480560" cy="457200"/>
          </a:xfrm>
          <a:prstGeom prst="rect">
            <a:avLst/>
          </a:prstGeom>
          <a:noFill/>
          <a:ln/>
        </p:spPr>
        <p:txBody>
          <a:bodyPr wrap="square" lIns="0" tIns="0" rIns="0" bIns="0" rtlCol="0" anchor="ctr"/>
          <a:lstStyle/>
          <a:p>
            <a:pPr algn="l" indent="0" marL="0">
              <a:buNone/>
            </a:pPr>
            <a:r>
              <a:rPr lang="en-US" sz="1600" dirty="0">
                <a:solidFill>
                  <a:schemeClr val="tx1"/>
                </a:solidFill>
              </a:rPr>
              <a:t>Answers backed by sources</a:t>
            </a:r>
            <a:endParaRPr lang="en-US" sz="1600" dirty="0"/>
          </a:p>
        </p:txBody>
      </p:sp>
      <p:pic>
        <p:nvPicPr>
          <p:cNvPr id="11" name="Image 3" descr="preencoded.png">    </p:cNvPr>
          <p:cNvPicPr>
            <a:picLocks noChangeAspect="1"/>
          </p:cNvPicPr>
          <p:nvPr/>
        </p:nvPicPr>
        <p:blipFill>
          <a:blip r:embed="rId4"/>
          <a:stretch>
            <a:fillRect/>
          </a:stretch>
        </p:blipFill>
        <p:spPr>
          <a:xfrm>
            <a:off x="822960" y="4224528"/>
            <a:ext cx="329184" cy="329184"/>
          </a:xfrm>
          <a:prstGeom prst="rect">
            <a:avLst/>
          </a:prstGeom>
        </p:spPr>
      </p:pic>
      <p:sp>
        <p:nvSpPr>
          <p:cNvPr id="12" name="Text 6"/>
          <p:cNvSpPr txBox="1"/>
          <p:nvPr/>
        </p:nvSpPr>
        <p:spPr>
          <a:xfrm>
            <a:off x="1325880" y="4160520"/>
            <a:ext cx="4480560" cy="457200"/>
          </a:xfrm>
          <a:prstGeom prst="rect">
            <a:avLst/>
          </a:prstGeom>
          <a:noFill/>
          <a:ln/>
        </p:spPr>
        <p:txBody>
          <a:bodyPr wrap="square" lIns="0" tIns="0" rIns="0" bIns="0" rtlCol="0" anchor="ctr"/>
          <a:lstStyle/>
          <a:p>
            <a:pPr algn="l" indent="0" marL="0">
              <a:buNone/>
            </a:pPr>
            <a:r>
              <a:rPr lang="en-US" sz="1600" dirty="0">
                <a:solidFill>
                  <a:schemeClr val="tx1"/>
                </a:solidFill>
              </a:rPr>
              <a:t>Each student sees only their own data</a:t>
            </a:r>
            <a:endParaRPr lang="en-US" sz="1600" dirty="0"/>
          </a:p>
        </p:txBody>
      </p:sp>
      <p:pic>
        <p:nvPicPr>
          <p:cNvPr id="13" name="Image 4" descr="preencoded.png">    </p:cNvPr>
          <p:cNvPicPr>
            <a:picLocks noChangeAspect="1"/>
          </p:cNvPicPr>
          <p:nvPr/>
        </p:nvPicPr>
        <p:blipFill>
          <a:blip r:embed="rId5"/>
          <a:stretch>
            <a:fillRect/>
          </a:stretch>
        </p:blipFill>
        <p:spPr>
          <a:xfrm>
            <a:off x="822960" y="4910328"/>
            <a:ext cx="329184" cy="329184"/>
          </a:xfrm>
          <a:prstGeom prst="rect">
            <a:avLst/>
          </a:prstGeom>
        </p:spPr>
      </p:pic>
      <p:sp>
        <p:nvSpPr>
          <p:cNvPr id="14" name="Text 7"/>
          <p:cNvSpPr txBox="1"/>
          <p:nvPr/>
        </p:nvSpPr>
        <p:spPr>
          <a:xfrm>
            <a:off x="1325880" y="4846320"/>
            <a:ext cx="4480560" cy="457200"/>
          </a:xfrm>
          <a:prstGeom prst="rect">
            <a:avLst/>
          </a:prstGeom>
          <a:noFill/>
          <a:ln/>
        </p:spPr>
        <p:txBody>
          <a:bodyPr wrap="square" lIns="0" tIns="0" rIns="0" bIns="0" rtlCol="0" anchor="ctr"/>
          <a:lstStyle/>
          <a:p>
            <a:pPr algn="l" indent="0" marL="0">
              <a:buNone/>
            </a:pPr>
            <a:r>
              <a:rPr lang="en-US" sz="1600" dirty="0">
                <a:solidFill>
                  <a:schemeClr val="tx1"/>
                </a:solidFill>
              </a:rPr>
              <a:t>Less manual searching through PDFs</a:t>
            </a:r>
            <a:endParaRPr lang="en-US" sz="1600" dirty="0"/>
          </a:p>
        </p:txBody>
      </p:sp>
      <p:sp>
        <p:nvSpPr>
          <p:cNvPr id="15" name="Shape 8"/>
          <p:cNvSpPr/>
          <p:nvPr/>
        </p:nvSpPr>
        <p:spPr>
          <a:xfrm>
            <a:off x="6263640" y="1280160"/>
            <a:ext cx="5349240" cy="4572000"/>
          </a:xfrm>
          <a:prstGeom prst="roundRect">
            <a:avLst>
              <a:gd name="adj" fmla="val 2400"/>
            </a:avLst>
          </a:prstGeom>
          <a:solidFill>
            <a:srgbClr val="ECEAFD"/>
          </a:solidFill>
          <a:ln/>
        </p:spPr>
      </p:sp>
      <p:sp>
        <p:nvSpPr>
          <p:cNvPr id="16" name="Text 9"/>
          <p:cNvSpPr txBox="1"/>
          <p:nvPr/>
        </p:nvSpPr>
        <p:spPr>
          <a:xfrm>
            <a:off x="6537960" y="1463040"/>
            <a:ext cx="4572000" cy="457200"/>
          </a:xfrm>
          <a:prstGeom prst="rect">
            <a:avLst/>
          </a:prstGeom>
          <a:noFill/>
          <a:ln/>
        </p:spPr>
        <p:txBody>
          <a:bodyPr wrap="square" lIns="0" tIns="0" rIns="0" bIns="0" rtlCol="0" anchor="t"/>
          <a:lstStyle/>
          <a:p>
            <a:pPr algn="l" indent="0" marL="0">
              <a:buNone/>
            </a:pPr>
            <a:r>
              <a:rPr lang="en-US" sz="2200" b="1" dirty="0">
                <a:solidFill>
                  <a:schemeClr val="accent1"/>
                </a:solidFill>
              </a:rPr>
              <a:t>Next</a:t>
            </a:r>
            <a:endParaRPr lang="en-US" sz="2200" dirty="0"/>
          </a:p>
        </p:txBody>
      </p:sp>
      <p:pic>
        <p:nvPicPr>
          <p:cNvPr id="17" name="Image 5" descr="preencoded.png">    </p:cNvPr>
          <p:cNvPicPr>
            <a:picLocks noChangeAspect="1"/>
          </p:cNvPicPr>
          <p:nvPr/>
        </p:nvPicPr>
        <p:blipFill>
          <a:blip r:embed="rId6"/>
          <a:stretch>
            <a:fillRect/>
          </a:stretch>
        </p:blipFill>
        <p:spPr>
          <a:xfrm>
            <a:off x="6537960" y="2167128"/>
            <a:ext cx="329184" cy="329184"/>
          </a:xfrm>
          <a:prstGeom prst="rect">
            <a:avLst/>
          </a:prstGeom>
        </p:spPr>
      </p:pic>
      <p:sp>
        <p:nvSpPr>
          <p:cNvPr id="18" name="Text 10"/>
          <p:cNvSpPr txBox="1"/>
          <p:nvPr/>
        </p:nvSpPr>
        <p:spPr>
          <a:xfrm>
            <a:off x="7040880" y="2103120"/>
            <a:ext cx="4389120" cy="457200"/>
          </a:xfrm>
          <a:prstGeom prst="rect">
            <a:avLst/>
          </a:prstGeom>
          <a:noFill/>
          <a:ln/>
        </p:spPr>
        <p:txBody>
          <a:bodyPr wrap="square" lIns="0" tIns="0" rIns="0" bIns="0" rtlCol="0" anchor="ctr"/>
          <a:lstStyle/>
          <a:p>
            <a:pPr algn="l" indent="0" marL="0">
              <a:buNone/>
            </a:pPr>
            <a:r>
              <a:rPr lang="en-US" sz="1600" dirty="0">
                <a:solidFill>
                  <a:schemeClr val="tx1"/>
                </a:solidFill>
              </a:rPr>
              <a:t>University single sign-on (SSO)</a:t>
            </a:r>
            <a:endParaRPr lang="en-US" sz="1600" dirty="0"/>
          </a:p>
        </p:txBody>
      </p:sp>
      <p:pic>
        <p:nvPicPr>
          <p:cNvPr id="19" name="Image 6" descr="preencoded.png">    </p:cNvPr>
          <p:cNvPicPr>
            <a:picLocks noChangeAspect="1"/>
          </p:cNvPicPr>
          <p:nvPr/>
        </p:nvPicPr>
        <p:blipFill>
          <a:blip r:embed="rId7"/>
          <a:stretch>
            <a:fillRect/>
          </a:stretch>
        </p:blipFill>
        <p:spPr>
          <a:xfrm>
            <a:off x="6537960" y="2852928"/>
            <a:ext cx="329184" cy="329184"/>
          </a:xfrm>
          <a:prstGeom prst="rect">
            <a:avLst/>
          </a:prstGeom>
        </p:spPr>
      </p:pic>
      <p:sp>
        <p:nvSpPr>
          <p:cNvPr id="20" name="Text 11"/>
          <p:cNvSpPr txBox="1"/>
          <p:nvPr/>
        </p:nvSpPr>
        <p:spPr>
          <a:xfrm>
            <a:off x="7040880" y="2788920"/>
            <a:ext cx="4389120" cy="457200"/>
          </a:xfrm>
          <a:prstGeom prst="rect">
            <a:avLst/>
          </a:prstGeom>
          <a:noFill/>
          <a:ln/>
        </p:spPr>
        <p:txBody>
          <a:bodyPr wrap="square" lIns="0" tIns="0" rIns="0" bIns="0" rtlCol="0" anchor="ctr"/>
          <a:lstStyle/>
          <a:p>
            <a:pPr algn="l" indent="0" marL="0">
              <a:buNone/>
            </a:pPr>
            <a:r>
              <a:rPr lang="en-US" sz="1600" dirty="0">
                <a:solidFill>
                  <a:schemeClr val="tx1"/>
                </a:solidFill>
              </a:rPr>
              <a:t>Voice questions</a:t>
            </a:r>
            <a:endParaRPr lang="en-US" sz="1600" dirty="0"/>
          </a:p>
        </p:txBody>
      </p:sp>
      <p:pic>
        <p:nvPicPr>
          <p:cNvPr id="21" name="Image 7" descr="preencoded.png">    </p:cNvPr>
          <p:cNvPicPr>
            <a:picLocks noChangeAspect="1"/>
          </p:cNvPicPr>
          <p:nvPr/>
        </p:nvPicPr>
        <p:blipFill>
          <a:blip r:embed="rId8"/>
          <a:stretch>
            <a:fillRect/>
          </a:stretch>
        </p:blipFill>
        <p:spPr>
          <a:xfrm>
            <a:off x="6537960" y="3538728"/>
            <a:ext cx="329184" cy="329184"/>
          </a:xfrm>
          <a:prstGeom prst="rect">
            <a:avLst/>
          </a:prstGeom>
        </p:spPr>
      </p:pic>
      <p:sp>
        <p:nvSpPr>
          <p:cNvPr id="22" name="Text 12"/>
          <p:cNvSpPr txBox="1"/>
          <p:nvPr/>
        </p:nvSpPr>
        <p:spPr>
          <a:xfrm>
            <a:off x="7040880" y="3474720"/>
            <a:ext cx="4389120" cy="457200"/>
          </a:xfrm>
          <a:prstGeom prst="rect">
            <a:avLst/>
          </a:prstGeom>
          <a:noFill/>
          <a:ln/>
        </p:spPr>
        <p:txBody>
          <a:bodyPr wrap="square" lIns="0" tIns="0" rIns="0" bIns="0" rtlCol="0" anchor="ctr"/>
          <a:lstStyle/>
          <a:p>
            <a:pPr algn="l" indent="0" marL="0">
              <a:buNone/>
            </a:pPr>
            <a:r>
              <a:rPr lang="en-US" sz="1600" dirty="0">
                <a:solidFill>
                  <a:schemeClr val="tx1"/>
                </a:solidFill>
              </a:rPr>
              <a:t>Multiple languages</a:t>
            </a:r>
            <a:endParaRPr lang="en-US" sz="1600" dirty="0"/>
          </a:p>
        </p:txBody>
      </p:sp>
      <p:pic>
        <p:nvPicPr>
          <p:cNvPr id="23" name="Image 8" descr="preencoded.png">    </p:cNvPr>
          <p:cNvPicPr>
            <a:picLocks noChangeAspect="1"/>
          </p:cNvPicPr>
          <p:nvPr/>
        </p:nvPicPr>
        <p:blipFill>
          <a:blip r:embed="rId9"/>
          <a:stretch>
            <a:fillRect/>
          </a:stretch>
        </p:blipFill>
        <p:spPr>
          <a:xfrm>
            <a:off x="6537960" y="4224528"/>
            <a:ext cx="329184" cy="329184"/>
          </a:xfrm>
          <a:prstGeom prst="rect">
            <a:avLst/>
          </a:prstGeom>
        </p:spPr>
      </p:pic>
      <p:sp>
        <p:nvSpPr>
          <p:cNvPr id="24" name="Text 13"/>
          <p:cNvSpPr txBox="1"/>
          <p:nvPr/>
        </p:nvSpPr>
        <p:spPr>
          <a:xfrm>
            <a:off x="7040880" y="4160520"/>
            <a:ext cx="4389120" cy="457200"/>
          </a:xfrm>
          <a:prstGeom prst="rect">
            <a:avLst/>
          </a:prstGeom>
          <a:noFill/>
          <a:ln/>
        </p:spPr>
        <p:txBody>
          <a:bodyPr wrap="square" lIns="0" tIns="0" rIns="0" bIns="0" rtlCol="0" anchor="ctr"/>
          <a:lstStyle/>
          <a:p>
            <a:pPr algn="l" indent="0" marL="0">
              <a:buNone/>
            </a:pPr>
            <a:r>
              <a:rPr lang="en-US" sz="1600" dirty="0">
                <a:solidFill>
                  <a:schemeClr val="tx1"/>
                </a:solidFill>
              </a:rPr>
              <a:t>Mobile app + reminders</a:t>
            </a:r>
            <a:endParaRPr lang="en-US" sz="1600" dirty="0"/>
          </a:p>
        </p:txBody>
      </p:sp>
      <p:pic>
        <p:nvPicPr>
          <p:cNvPr id="25" name="Image 9" descr="preencoded.png">    </p:cNvPr>
          <p:cNvPicPr>
            <a:picLocks noChangeAspect="1"/>
          </p:cNvPicPr>
          <p:nvPr/>
        </p:nvPicPr>
        <p:blipFill>
          <a:blip r:embed="rId10"/>
          <a:stretch>
            <a:fillRect/>
          </a:stretch>
        </p:blipFill>
        <p:spPr>
          <a:xfrm>
            <a:off x="6537960" y="4910328"/>
            <a:ext cx="329184" cy="329184"/>
          </a:xfrm>
          <a:prstGeom prst="rect">
            <a:avLst/>
          </a:prstGeom>
        </p:spPr>
      </p:pic>
      <p:sp>
        <p:nvSpPr>
          <p:cNvPr id="26" name="Text 14"/>
          <p:cNvSpPr txBox="1"/>
          <p:nvPr/>
        </p:nvSpPr>
        <p:spPr>
          <a:xfrm>
            <a:off x="7040880" y="4846320"/>
            <a:ext cx="4389120" cy="457200"/>
          </a:xfrm>
          <a:prstGeom prst="rect">
            <a:avLst/>
          </a:prstGeom>
          <a:noFill/>
          <a:ln/>
        </p:spPr>
        <p:txBody>
          <a:bodyPr wrap="square" lIns="0" tIns="0" rIns="0" bIns="0" rtlCol="0" anchor="ctr"/>
          <a:lstStyle/>
          <a:p>
            <a:pPr algn="l" indent="0" marL="0">
              <a:buNone/>
            </a:pPr>
            <a:r>
              <a:rPr lang="en-US" sz="1600" dirty="0">
                <a:solidFill>
                  <a:schemeClr val="tx1"/>
                </a:solidFill>
              </a:rPr>
              <a:t>More university systems, more universities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731520" y="777240"/>
            <a:ext cx="10698480" cy="822960"/>
          </a:xfrm>
          <a:prstGeom prst="rect">
            <a:avLst/>
          </a:prstGeom>
          <a:noFill/>
          <a:ln/>
        </p:spPr>
        <p:txBody>
          <a:bodyPr wrap="square" lIns="0" tIns="0" rIns="0" bIns="0" rtlCol="0" anchor="t"/>
          <a:lstStyle/>
          <a:p>
            <a:pPr algn="l" indent="0" marL="0">
              <a:buNone/>
            </a:pPr>
            <a:r>
              <a:rPr lang="en-US" sz="4000" b="1" dirty="0">
                <a:solidFill>
                  <a:schemeClr val="bg1"/>
                </a:solidFill>
              </a:rPr>
              <a:t>Making University Services Simpler</a:t>
            </a:r>
            <a:endParaRPr lang="en-US" sz="4000" dirty="0"/>
          </a:p>
        </p:txBody>
      </p:sp>
      <p:sp>
        <p:nvSpPr>
          <p:cNvPr id="3" name="Text 1"/>
          <p:cNvSpPr txBox="1"/>
          <p:nvPr/>
        </p:nvSpPr>
        <p:spPr>
          <a:xfrm>
            <a:off x="731520" y="1645920"/>
            <a:ext cx="10698480" cy="548640"/>
          </a:xfrm>
          <a:prstGeom prst="rect">
            <a:avLst/>
          </a:prstGeom>
          <a:noFill/>
          <a:ln/>
        </p:spPr>
        <p:txBody>
          <a:bodyPr wrap="square" lIns="0" tIns="0" rIns="0" bIns="0" rtlCol="0" anchor="t"/>
          <a:lstStyle/>
          <a:p>
            <a:pPr algn="l" indent="0" marL="0">
              <a:buNone/>
            </a:pPr>
            <a:r>
              <a:rPr lang="en-US" sz="2200" i="1" dirty="0">
                <a:solidFill>
                  <a:srgbClr val="CADCFC"/>
                </a:solidFill>
              </a:rPr>
              <a:t>Students should ask questions, not search through dozens of documents.</a:t>
            </a:r>
            <a:endParaRPr lang="en-US" sz="2200" dirty="0"/>
          </a:p>
        </p:txBody>
      </p:sp>
      <p:sp>
        <p:nvSpPr>
          <p:cNvPr id="4" name="Shape 2"/>
          <p:cNvSpPr/>
          <p:nvPr/>
        </p:nvSpPr>
        <p:spPr>
          <a:xfrm>
            <a:off x="731520" y="2743200"/>
            <a:ext cx="3108960" cy="1188720"/>
          </a:xfrm>
          <a:prstGeom prst="roundRect">
            <a:avLst>
              <a:gd name="adj" fmla="val 13846"/>
            </a:avLst>
          </a:prstGeom>
          <a:solidFill>
            <a:srgbClr val="2A3470"/>
          </a:solidFill>
          <a:ln/>
        </p:spPr>
      </p:sp>
      <p:sp>
        <p:nvSpPr>
          <p:cNvPr id="5" name="Shape 3"/>
          <p:cNvSpPr/>
          <p:nvPr/>
        </p:nvSpPr>
        <p:spPr>
          <a:xfrm>
            <a:off x="960120" y="2926080"/>
            <a:ext cx="822960" cy="822960"/>
          </a:xfrm>
          <a:prstGeom prst="ellipse">
            <a:avLst/>
          </a:prstGeom>
          <a:solidFill>
            <a:srgbClr val="3A4790"/>
          </a:solidFill>
          <a:ln/>
        </p:spPr>
      </p:sp>
      <p:pic>
        <p:nvPicPr>
          <p:cNvPr id="6" name="Image 0" descr="preencoded.png">    </p:cNvPr>
          <p:cNvPicPr>
            <a:picLocks noChangeAspect="1"/>
          </p:cNvPicPr>
          <p:nvPr/>
        </p:nvPicPr>
        <p:blipFill>
          <a:blip r:embed="rId1"/>
          <a:stretch>
            <a:fillRect/>
          </a:stretch>
        </p:blipFill>
        <p:spPr>
          <a:xfrm>
            <a:off x="1182319" y="3148279"/>
            <a:ext cx="378562" cy="378562"/>
          </a:xfrm>
          <a:prstGeom prst="rect">
            <a:avLst/>
          </a:prstGeom>
        </p:spPr>
      </p:pic>
      <p:sp>
        <p:nvSpPr>
          <p:cNvPr id="7" name="Text 4"/>
          <p:cNvSpPr txBox="1"/>
          <p:nvPr/>
        </p:nvSpPr>
        <p:spPr>
          <a:xfrm>
            <a:off x="1920240" y="2743200"/>
            <a:ext cx="1783080" cy="1188720"/>
          </a:xfrm>
          <a:prstGeom prst="rect">
            <a:avLst/>
          </a:prstGeom>
          <a:noFill/>
          <a:ln/>
        </p:spPr>
        <p:txBody>
          <a:bodyPr wrap="square" lIns="0" tIns="0" rIns="0" bIns="0" rtlCol="0" anchor="ctr"/>
          <a:lstStyle/>
          <a:p>
            <a:pPr algn="l" indent="0" marL="0">
              <a:buNone/>
            </a:pPr>
            <a:r>
              <a:rPr lang="en-US" sz="1800" b="1" dirty="0">
                <a:solidFill>
                  <a:schemeClr val="bg1"/>
                </a:solidFill>
              </a:rPr>
              <a:t>Student</a:t>
            </a:r>
            <a:endParaRPr lang="en-US" sz="1800" dirty="0"/>
          </a:p>
        </p:txBody>
      </p:sp>
      <p:sp>
        <p:nvSpPr>
          <p:cNvPr id="8" name="Shape 5"/>
          <p:cNvSpPr/>
          <p:nvPr/>
        </p:nvSpPr>
        <p:spPr>
          <a:xfrm>
            <a:off x="3886200" y="3337560"/>
            <a:ext cx="411480" cy="0"/>
          </a:xfrm>
          <a:prstGeom prst="line">
            <a:avLst/>
          </a:prstGeom>
          <a:noFill/>
          <a:ln w="28575">
            <a:solidFill>
              <a:srgbClr val="B8BEE0"/>
            </a:solidFill>
            <a:prstDash val="solid"/>
            <a:tailEnd type="triangle"/>
          </a:ln>
        </p:spPr>
      </p:sp>
      <p:sp>
        <p:nvSpPr>
          <p:cNvPr id="9" name="Shape 6"/>
          <p:cNvSpPr/>
          <p:nvPr/>
        </p:nvSpPr>
        <p:spPr>
          <a:xfrm>
            <a:off x="4343400" y="2743200"/>
            <a:ext cx="3108960" cy="1188720"/>
          </a:xfrm>
          <a:prstGeom prst="roundRect">
            <a:avLst>
              <a:gd name="adj" fmla="val 13846"/>
            </a:avLst>
          </a:prstGeom>
          <a:solidFill>
            <a:srgbClr val="2A3470"/>
          </a:solidFill>
          <a:ln/>
        </p:spPr>
      </p:sp>
      <p:sp>
        <p:nvSpPr>
          <p:cNvPr id="10" name="Shape 7"/>
          <p:cNvSpPr/>
          <p:nvPr/>
        </p:nvSpPr>
        <p:spPr>
          <a:xfrm>
            <a:off x="4572000" y="2926080"/>
            <a:ext cx="822960" cy="822960"/>
          </a:xfrm>
          <a:prstGeom prst="ellipse">
            <a:avLst/>
          </a:prstGeom>
          <a:solidFill>
            <a:srgbClr val="5B4FE0"/>
          </a:solidFill>
          <a:ln/>
        </p:spPr>
      </p:sp>
      <p:pic>
        <p:nvPicPr>
          <p:cNvPr id="11" name="Image 1" descr="preencoded.png">    </p:cNvPr>
          <p:cNvPicPr>
            <a:picLocks noChangeAspect="1"/>
          </p:cNvPicPr>
          <p:nvPr/>
        </p:nvPicPr>
        <p:blipFill>
          <a:blip r:embed="rId2"/>
          <a:stretch>
            <a:fillRect/>
          </a:stretch>
        </p:blipFill>
        <p:spPr>
          <a:xfrm>
            <a:off x="4794199" y="3148279"/>
            <a:ext cx="378562" cy="378562"/>
          </a:xfrm>
          <a:prstGeom prst="rect">
            <a:avLst/>
          </a:prstGeom>
        </p:spPr>
      </p:pic>
      <p:sp>
        <p:nvSpPr>
          <p:cNvPr id="12" name="Text 8"/>
          <p:cNvSpPr txBox="1"/>
          <p:nvPr/>
        </p:nvSpPr>
        <p:spPr>
          <a:xfrm>
            <a:off x="5532120" y="2743200"/>
            <a:ext cx="1783080" cy="1188720"/>
          </a:xfrm>
          <a:prstGeom prst="rect">
            <a:avLst/>
          </a:prstGeom>
          <a:noFill/>
          <a:ln/>
        </p:spPr>
        <p:txBody>
          <a:bodyPr wrap="square" lIns="0" tIns="0" rIns="0" bIns="0" rtlCol="0" anchor="ctr"/>
          <a:lstStyle/>
          <a:p>
            <a:pPr algn="l" indent="0" marL="0">
              <a:buNone/>
            </a:pPr>
            <a:r>
              <a:rPr lang="en-US" sz="1800" b="1" dirty="0">
                <a:solidFill>
                  <a:schemeClr val="bg1"/>
                </a:solidFill>
              </a:rPr>
              <a:t>AI Assistant</a:t>
            </a:r>
            <a:endParaRPr lang="en-US" sz="1800" dirty="0"/>
          </a:p>
        </p:txBody>
      </p:sp>
      <p:sp>
        <p:nvSpPr>
          <p:cNvPr id="13" name="Shape 9"/>
          <p:cNvSpPr/>
          <p:nvPr/>
        </p:nvSpPr>
        <p:spPr>
          <a:xfrm>
            <a:off x="7498080" y="3337560"/>
            <a:ext cx="411480" cy="0"/>
          </a:xfrm>
          <a:prstGeom prst="line">
            <a:avLst/>
          </a:prstGeom>
          <a:noFill/>
          <a:ln w="28575">
            <a:solidFill>
              <a:srgbClr val="B8BEE0"/>
            </a:solidFill>
            <a:prstDash val="solid"/>
            <a:tailEnd type="triangle"/>
          </a:ln>
        </p:spPr>
      </p:sp>
      <p:sp>
        <p:nvSpPr>
          <p:cNvPr id="14" name="Shape 10"/>
          <p:cNvSpPr/>
          <p:nvPr/>
        </p:nvSpPr>
        <p:spPr>
          <a:xfrm>
            <a:off x="7955280" y="2743200"/>
            <a:ext cx="3520440" cy="1188720"/>
          </a:xfrm>
          <a:prstGeom prst="roundRect">
            <a:avLst>
              <a:gd name="adj" fmla="val 13846"/>
            </a:avLst>
          </a:prstGeom>
          <a:solidFill>
            <a:srgbClr val="2A3470"/>
          </a:solidFill>
          <a:ln/>
        </p:spPr>
      </p:sp>
      <p:sp>
        <p:nvSpPr>
          <p:cNvPr id="15" name="Shape 11"/>
          <p:cNvSpPr/>
          <p:nvPr/>
        </p:nvSpPr>
        <p:spPr>
          <a:xfrm>
            <a:off x="8183880" y="2926080"/>
            <a:ext cx="822960" cy="822960"/>
          </a:xfrm>
          <a:prstGeom prst="ellipse">
            <a:avLst/>
          </a:prstGeom>
          <a:solidFill>
            <a:srgbClr val="13976B"/>
          </a:solidFill>
          <a:ln/>
        </p:spPr>
      </p:sp>
      <p:pic>
        <p:nvPicPr>
          <p:cNvPr id="16" name="Image 2" descr="preencoded.png">    </p:cNvPr>
          <p:cNvPicPr>
            <a:picLocks noChangeAspect="1"/>
          </p:cNvPicPr>
          <p:nvPr/>
        </p:nvPicPr>
        <p:blipFill>
          <a:blip r:embed="rId3"/>
          <a:stretch>
            <a:fillRect/>
          </a:stretch>
        </p:blipFill>
        <p:spPr>
          <a:xfrm>
            <a:off x="8406079" y="3148279"/>
            <a:ext cx="378562" cy="378562"/>
          </a:xfrm>
          <a:prstGeom prst="rect">
            <a:avLst/>
          </a:prstGeom>
        </p:spPr>
      </p:pic>
      <p:sp>
        <p:nvSpPr>
          <p:cNvPr id="17" name="Text 12"/>
          <p:cNvSpPr txBox="1"/>
          <p:nvPr/>
        </p:nvSpPr>
        <p:spPr>
          <a:xfrm>
            <a:off x="9144000" y="2743200"/>
            <a:ext cx="2194560" cy="1188720"/>
          </a:xfrm>
          <a:prstGeom prst="rect">
            <a:avLst/>
          </a:prstGeom>
          <a:noFill/>
          <a:ln/>
        </p:spPr>
        <p:txBody>
          <a:bodyPr wrap="square" lIns="0" tIns="0" rIns="0" bIns="0" rtlCol="0" anchor="ctr"/>
          <a:lstStyle/>
          <a:p>
            <a:pPr algn="l" indent="0" marL="0">
              <a:buNone/>
            </a:pPr>
            <a:r>
              <a:rPr lang="en-US" sz="1800" b="1" dirty="0">
                <a:solidFill>
                  <a:schemeClr val="bg1"/>
                </a:solidFill>
              </a:rPr>
              <a:t>Reliable · Personal · Secure answer</a:t>
            </a:r>
            <a:endParaRPr lang="en-US" sz="1800" dirty="0"/>
          </a:p>
        </p:txBody>
      </p:sp>
      <p:sp>
        <p:nvSpPr>
          <p:cNvPr id="18" name="Text 13"/>
          <p:cNvSpPr txBox="1"/>
          <p:nvPr/>
        </p:nvSpPr>
        <p:spPr>
          <a:xfrm>
            <a:off x="731520" y="4480560"/>
            <a:ext cx="5486400" cy="822960"/>
          </a:xfrm>
          <a:prstGeom prst="rect">
            <a:avLst/>
          </a:prstGeom>
          <a:noFill/>
          <a:ln/>
        </p:spPr>
        <p:txBody>
          <a:bodyPr wrap="square" lIns="0" tIns="0" rIns="0" bIns="0" rtlCol="0" anchor="t"/>
          <a:lstStyle/>
          <a:p>
            <a:pPr algn="l" indent="0" marL="0">
              <a:buNone/>
            </a:pPr>
            <a:r>
              <a:rPr lang="en-US" sz="3600" b="1" dirty="0">
                <a:solidFill>
                  <a:schemeClr val="bg1"/>
                </a:solidFill>
              </a:rPr>
              <a:t>Thank You</a:t>
            </a:r>
            <a:endParaRPr lang="en-US" sz="3600" dirty="0"/>
          </a:p>
        </p:txBody>
      </p:sp>
      <p:sp>
        <p:nvSpPr>
          <p:cNvPr id="19" name="Text 14"/>
          <p:cNvSpPr txBox="1"/>
          <p:nvPr/>
        </p:nvSpPr>
        <p:spPr>
          <a:xfrm>
            <a:off x="731520" y="5303520"/>
            <a:ext cx="8229600" cy="822960"/>
          </a:xfrm>
          <a:prstGeom prst="rect">
            <a:avLst/>
          </a:prstGeom>
          <a:noFill/>
          <a:ln/>
        </p:spPr>
        <p:txBody>
          <a:bodyPr wrap="square" lIns="0" tIns="0" rIns="0" bIns="0" rtlCol="0" anchor="t"/>
          <a:lstStyle/>
          <a:p>
            <a:pPr algn="l" indent="0" marL="0">
              <a:spcAft>
                <a:spcPts val="400"/>
              </a:spcAft>
              <a:buNone/>
            </a:pPr>
            <a:r>
              <a:rPr lang="en-US" sz="1600" b="1" dirty="0">
                <a:solidFill>
                  <a:schemeClr val="bg1"/>
                </a:solidFill>
              </a:rPr>
              <a:t>[Team Name]</a:t>
            </a:r>
            <a:endParaRPr lang="en-US" sz="1600" dirty="0"/>
          </a:p>
          <a:p>
            <a:pPr algn="l" indent="0" marL="0">
              <a:spcAft>
                <a:spcPts val="400"/>
              </a:spcAft>
              <a:buNone/>
            </a:pPr>
            <a:r>
              <a:rPr lang="en-US" sz="1600" dirty="0">
                <a:solidFill>
                  <a:srgbClr val="CADCFC"/>
                </a:solidFill>
              </a:rPr>
              <a:t>[Member 1]  ·  [Member 2]  ·  [Member 3]  ·  [Member 4]</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EE0"/>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tudent Services Pitch">
  <a:themeElements>
    <a:clrScheme name="Student Services Pitch">
      <a:dk1>
        <a:srgbClr val="1B1F3B"/>
      </a:dk1>
      <a:lt1>
        <a:srgbClr val="FFFFFF"/>
      </a:lt1>
      <a:dk2>
        <a:srgbClr val="1C2457"/>
      </a:dk2>
      <a:lt2>
        <a:srgbClr val="F3F4FB"/>
      </a:lt2>
      <a:accent1>
        <a:srgbClr val="5B4FE0"/>
      </a:accent1>
      <a:accent2>
        <a:srgbClr val="2E7BDB"/>
      </a:accent2>
      <a:accent3>
        <a:srgbClr val="13976B"/>
      </a:accent3>
      <a:accent4>
        <a:srgbClr val="D9822B"/>
      </a:accent4>
      <a:accent5>
        <a:srgbClr val="D64545"/>
      </a:accent5>
      <a:accent6>
        <a:srgbClr val="6B7385"/>
      </a:accent6>
      <a:hlink>
        <a:srgbClr val="2E7BDB"/>
      </a:hlink>
      <a:folHlink>
        <a:srgbClr val="5B4FE0"/>
      </a:folHlink>
    </a:clrScheme>
    <a:fontScheme name="Student Services Pit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University Student Services Assistant</dc:title>
  <dc:subject>PptxGenJS Presentation</dc:subject>
  <dc:creator>Team</dc:creator>
  <cp:lastModifiedBy>Team</cp:lastModifiedBy>
  <cp:revision>1</cp:revision>
  <dcterms:created xsi:type="dcterms:W3CDTF">2026-10-06T10:01:54Z</dcterms:created>
  <dcterms:modified xsi:type="dcterms:W3CDTF">2026-10-06T10:01:54Z</dcterms:modified>
</cp:coreProperties>
</file>